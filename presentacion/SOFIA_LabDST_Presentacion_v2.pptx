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256"/>
    <p:restoredTop sz="94658"/>
  </p:normalViewPr>
  <p:slideViewPr>
    <p:cSldViewPr snapToGrid="0" snapToObjects="1">
      <p:cViewPr>
        <p:scale>
          <a:sx n="121" d="100"/>
          <a:sy n="121" d="100"/>
        </p:scale>
        <p:origin x="144" y="1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9525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Tiempo: 15 s</a:t>
            </a:r>
          </a:p>
          <a:p>
            <a:r>
              <a:t>Somos el equipo de SOFÍA: una pared de paneles panal que te mira y te responde. Hoy les contamos qué construimos, qué medimos y por qué todavía no está lista para un museo.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Tiempo: 50 s</a:t>
            </a:r>
          </a:p>
          <a:p>
            <a:r>
              <a:t>Las paredes cinéticas de museos y aeropuertos son caras, usan motores industriales cerrados y, si algo las detiene, el motor se sobrecalienta. Queremos una alternativa modular y accesible, impresa en 3D, que te siga en vivo y se proteja sola. Hoy estamos en el Corte 2: ya hay prototipo que responde; el Corte 3 es la pared completa.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Tiempo: 40 s</a:t>
            </a:r>
          </a:p>
          <a:p>
            <a:r>
              <a:t>Hay obras espectaculares como inFORM del MIT, que mueve 900 pines pero vive en un laboratorio, y esculturas de aeropuerto que repiten una coreografía grabada sin verte. SOFÍA te ve en vivo, es modular e imprimible en 3D, y además estudia cuánto calor aguanta su motor. Como el servomotor no tiene sensor interno, medimos su calentamiento en laboratorio con osciloscopio y termómetro láser. Nos apoyamos en robótica modular, interacción humano-robot y visión por computadora.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Tiempo: 55 s</a:t>
            </a:r>
          </a:p>
          <a:p>
            <a:r>
              <a:t>Medimos tres cosas, cada una con su línea roja: la velocidad de la cámara, la respuesta a gestos y el calor del motor. Para medir el calor usamos termómetro láser y osciloscopio en banco de pruebas con un tope físico. Y probamos todo el prototipo completo: cámara, software, Bluetooth, la tarjeta ESP32 y los paneles.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Tiempo: 40 s</a:t>
            </a:r>
          </a:p>
          <a:p>
            <a:r>
              <a:t>El software lee tu cuerpo y tus dos manos en 3D a más de 30 cuadros por segundo y reconoce saludo, corazón y piedra-papel-tijera. Antes de mover motores reales, simulamos en Unity cómo los 16 paneles giran hacia 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Tiempo: 45 s</a:t>
            </a:r>
          </a:p>
          <a:p>
            <a:r>
              <a:t>En el prototipo físico, la persona saluda frente a la cámara y el panel responde con su movimiento. Hicimos decenas de ensayos de gestos y rutinas. Y siendo honestos con los criterios: la fluidez y el calor en uso normal ya cumplen; la respuesta en milisegundos está en validación, y el corte automático está diseñado pero falta programarlo.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Tiempo: 50 s</a:t>
            </a:r>
          </a:p>
          <a:p>
            <a:r>
              <a:t>Este es nuestro hallazgo clave. Con el motor libre no se calienta, pero atorado a propósito llegó a 64.8 grados en menos de cuatro minutos, y a los tres minutos ya pasaba de 60, donde el plástico se afloja. Por eso diseñamos el corte automático a los 15 segundos: según nuestra curva, ahí el motor solo ha subido unos siete grados.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Tiempo: 40 s</a:t>
            </a:r>
          </a:p>
          <a:p>
            <a:r>
              <a:t>En el laboratorio probamos con una persona, a un metro y con luz controlada. En un museo hay multitud, sol y sombras, y gente a tres o cinco metros, donde la mano se ve entre tres y cinco veces más chica. Además hoy dependemos de una laptop con cables; en una instalación el sistema debe ir oculto en el marco.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Tiempo: 45 s</a:t>
            </a:r>
          </a:p>
          <a:p>
            <a:r>
              <a:t>Probamos diez minutos; un museo abre de ocho a doce horas, entre cincuenta y setenta veces más. Y un niño que sujeta un pétalo es exactamente nuestro ensayo de atasco: 60 grados en tres minutos. Además, 32 motores juntos piden hasta 25 o 30 amperes, y si un panel falla hoy lo reinicia un ingeniero; en un museo debe recuperarse solo.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Tiempo: 40 s</a:t>
            </a:r>
          </a:p>
          <a:p>
            <a:r>
              <a:t>De los comentarios del Primer Corte atendimos tres cosas: objetivos claros, mediciones reales con sensores y una comparativa formal. Para el Corte 3 faltan la tarjeta de potencia definitiva, programar el apagado automático y armar la colmena de 16 paneles. SOFÍA ya te mira; falta que aguante todo el día. Gracias, quedamos atentos a sus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de respaldo B1: Arquitectura electrónica interna y lista detallada de componentes para responder dudas técnicas sobre cableado, buses I2C y distribución de corriente.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de respaldo B2: Respuestas sintéticas de una línea listas para proyectar si los jueces profundizan en la justificación de componentes, detección de atasco o costo.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5120640" cy="10058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6800" b="1" i="0">
                <a:solidFill>
                  <a:srgbClr val="FFFFFF"/>
                </a:solidFill>
                <a:latin typeface="Calibri"/>
              </a:rPr>
              <a:t>SOFÍA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3000" b="1" i="0">
                <a:solidFill>
                  <a:srgbClr val="14B8A6"/>
                </a:solidFill>
                <a:latin typeface="Calibri"/>
              </a:rPr>
              <a:t>La pared robótica que te mira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97480"/>
            <a:ext cx="4937760" cy="1371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200" b="0" i="0">
                <a:solidFill>
                  <a:srgbClr val="F8FAFC"/>
                </a:solidFill>
                <a:latin typeface="Calibri"/>
              </a:rPr>
              <a:t>Paneles impresos en 3D que te siguen, reaccionan a tus gestos y no se queman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120640"/>
            <a:ext cx="5120640" cy="11887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LabDST · ITESO · Segundo Corte · Otoño 2026</a:t>
            </a:r>
          </a:p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Equipo: Paola Covarrubias · Lizeth Méndez · Bernardo Orozco · Karen Sánchez · Alan Fuentes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914400"/>
            <a:ext cx="5394960" cy="39319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sofia_sol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955" y="950976"/>
            <a:ext cx="4023129" cy="38587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35040" y="4864608"/>
            <a:ext cx="5394960" cy="23774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0" i="1">
                <a:solidFill>
                  <a:srgbClr val="475569"/>
                </a:solidFill>
                <a:latin typeface="Calibri"/>
              </a:rPr>
              <a:t>Módulo cinético en panal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35440" y="4297680"/>
            <a:ext cx="2194560" cy="17373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modulo_fisi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2016" y="4644947"/>
            <a:ext cx="2121408" cy="104282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35440" y="6053328"/>
            <a:ext cx="2194560" cy="23774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0" i="1">
                <a:solidFill>
                  <a:srgbClr val="475569"/>
                </a:solidFill>
                <a:latin typeface="Calibri"/>
              </a:rPr>
              <a:t>Prototipo físico armado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292608"/>
            <a:ext cx="1554480" cy="292608"/>
          </a:xfrm>
          <a:prstGeom prst="round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55448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1" i="0">
                <a:solidFill>
                  <a:srgbClr val="0D9488"/>
                </a:solidFill>
                <a:latin typeface="Calibri"/>
              </a:rPr>
              <a:t>PLANTEAMIENTO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395728" y="292608"/>
            <a:ext cx="1554480" cy="292608"/>
          </a:xfrm>
          <a:prstGeom prst="roundRect">
            <a:avLst>
              <a:gd name="adj" fmla="val 25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395728" y="320040"/>
            <a:ext cx="155448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0" i="0">
                <a:solidFill>
                  <a:srgbClr val="475569"/>
                </a:solidFill>
                <a:latin typeface="Calibri"/>
              </a:rPr>
              <a:t>DISEÑO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59936" y="292608"/>
            <a:ext cx="1554480" cy="292608"/>
          </a:xfrm>
          <a:prstGeom prst="roundRect">
            <a:avLst>
              <a:gd name="adj" fmla="val 25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059936" y="320040"/>
            <a:ext cx="155448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0" i="0">
                <a:solidFill>
                  <a:srgbClr val="475569"/>
                </a:solidFill>
                <a:latin typeface="Calibri"/>
              </a:rPr>
              <a:t>RESULTADOS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24144" y="292608"/>
            <a:ext cx="1554480" cy="292608"/>
          </a:xfrm>
          <a:prstGeom prst="roundRect">
            <a:avLst>
              <a:gd name="adj" fmla="val 25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724144" y="320040"/>
            <a:ext cx="155448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0" i="0">
                <a:solidFill>
                  <a:srgbClr val="475569"/>
                </a:solidFill>
                <a:latin typeface="Calibri"/>
              </a:rPr>
              <a:t>BRECHA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88352" y="292608"/>
            <a:ext cx="1554480" cy="292608"/>
          </a:xfrm>
          <a:prstGeom prst="roundRect">
            <a:avLst>
              <a:gd name="adj" fmla="val 25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88352" y="320040"/>
            <a:ext cx="155448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0" i="0">
                <a:solidFill>
                  <a:srgbClr val="475569"/>
                </a:solidFill>
                <a:latin typeface="Calibri"/>
              </a:rPr>
              <a:t>SIGUIENTES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Calibri"/>
              </a:rPr>
              <a:t>2/10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85800"/>
            <a:ext cx="11460480" cy="65248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4000" b="1" i="0" dirty="0">
                <a:solidFill>
                  <a:srgbClr val="0F172A"/>
                </a:solidFill>
                <a:latin typeface="Calibri"/>
              </a:rPr>
              <a:t>Las </a:t>
            </a:r>
            <a:r>
              <a:rPr sz="4000" b="1" i="0" dirty="0" err="1">
                <a:solidFill>
                  <a:srgbClr val="0F172A"/>
                </a:solidFill>
                <a:latin typeface="Calibri"/>
              </a:rPr>
              <a:t>paredes</a:t>
            </a:r>
            <a:r>
              <a:rPr sz="4000" b="1" i="0" dirty="0">
                <a:solidFill>
                  <a:srgbClr val="0F172A"/>
                </a:solidFill>
                <a:latin typeface="Calibri"/>
              </a:rPr>
              <a:t> </a:t>
            </a:r>
            <a:r>
              <a:rPr sz="4000" b="1" i="0" dirty="0" err="1">
                <a:solidFill>
                  <a:srgbClr val="0F172A"/>
                </a:solidFill>
                <a:latin typeface="Calibri"/>
              </a:rPr>
              <a:t>interactivas</a:t>
            </a:r>
            <a:r>
              <a:rPr sz="4000" b="1" i="0" dirty="0">
                <a:solidFill>
                  <a:srgbClr val="0F172A"/>
                </a:solidFill>
                <a:latin typeface="Calibri"/>
              </a:rPr>
              <a:t> </a:t>
            </a:r>
            <a:r>
              <a:rPr sz="4000" b="1" i="0" dirty="0" err="1">
                <a:solidFill>
                  <a:srgbClr val="0F172A"/>
                </a:solidFill>
                <a:latin typeface="Calibri"/>
              </a:rPr>
              <a:t>cuestan</a:t>
            </a:r>
            <a:r>
              <a:rPr sz="4000" b="1" i="0" dirty="0">
                <a:solidFill>
                  <a:srgbClr val="0F172A"/>
                </a:solidFill>
                <a:latin typeface="Calibri"/>
              </a:rPr>
              <a:t> </a:t>
            </a:r>
            <a:r>
              <a:rPr sz="4000" b="1" i="0" dirty="0" err="1">
                <a:solidFill>
                  <a:srgbClr val="0F172A"/>
                </a:solidFill>
                <a:latin typeface="Calibri"/>
              </a:rPr>
              <a:t>mucho</a:t>
            </a:r>
            <a:r>
              <a:rPr sz="4000" b="1" i="0" dirty="0">
                <a:solidFill>
                  <a:srgbClr val="0F172A"/>
                </a:solidFill>
                <a:latin typeface="Calibri"/>
              </a:rPr>
              <a:t> y se </a:t>
            </a:r>
            <a:r>
              <a:rPr sz="4000" b="1" i="0" dirty="0" err="1">
                <a:solidFill>
                  <a:srgbClr val="0F172A"/>
                </a:solidFill>
                <a:latin typeface="Calibri"/>
              </a:rPr>
              <a:t>queman</a:t>
            </a:r>
            <a:endParaRPr sz="4000" b="1" i="0" dirty="0">
              <a:solidFill>
                <a:srgbClr val="0F172A"/>
              </a:solidFill>
              <a:latin typeface="Calibr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731520" y="1645920"/>
            <a:ext cx="51206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" y="1783080"/>
            <a:ext cx="475488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200" b="1" i="0">
                <a:solidFill>
                  <a:srgbClr val="0F172A"/>
                </a:solidFill>
                <a:latin typeface="Calibri"/>
              </a:rPr>
              <a:t>💰 Carísimas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148840"/>
            <a:ext cx="475488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800" b="0" i="0">
                <a:solidFill>
                  <a:srgbClr val="475569"/>
                </a:solidFill>
                <a:latin typeface="Calibri"/>
              </a:rPr>
              <a:t>Motores industriales inaccesibles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2743200"/>
            <a:ext cx="475488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200" b="1" i="0">
                <a:solidFill>
                  <a:srgbClr val="0F172A"/>
                </a:solidFill>
                <a:latin typeface="Calibri"/>
              </a:rPr>
              <a:t>🔒 Cerradas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108960"/>
            <a:ext cx="475488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800" b="0" i="0">
                <a:solidFill>
                  <a:srgbClr val="475569"/>
                </a:solidFill>
                <a:latin typeface="Calibri"/>
              </a:rPr>
              <a:t>Difíciles de adaptar y reparar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703320"/>
            <a:ext cx="475488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200" b="1" i="0">
                <a:solidFill>
                  <a:srgbClr val="DC2626"/>
                </a:solidFill>
                <a:latin typeface="Calibri"/>
              </a:rPr>
              <a:t>🔥 Se queman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069080"/>
            <a:ext cx="475488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800" b="0" i="0">
                <a:solidFill>
                  <a:srgbClr val="475569"/>
                </a:solidFill>
                <a:latin typeface="Calibri"/>
              </a:rPr>
              <a:t>Un motor forzado se sobrecalienta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663440"/>
            <a:ext cx="4754880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600" b="0" i="1">
                <a:solidFill>
                  <a:srgbClr val="0F172A"/>
                </a:solidFill>
                <a:latin typeface="Calibri"/>
              </a:rPr>
              <a:t>En museos y aeropuertos trabajan todo el día y la gente las toca.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1645920"/>
            <a:ext cx="5303520" cy="3657600"/>
          </a:xfrm>
          <a:prstGeom prst="roundRect">
            <a:avLst>
              <a:gd name="adj" fmla="val 3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09360" y="1737360"/>
            <a:ext cx="3291840" cy="10058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Calibri"/>
              </a:rPr>
              <a:t>Objetivo general: pared robótica modular, accesible y segura que sigue a las personas y reacciona a sus gestos.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92640" y="1737360"/>
            <a:ext cx="1554480" cy="19202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sofia_expl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4450" y="1773936"/>
            <a:ext cx="1410860" cy="184708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692640" y="3675888"/>
            <a:ext cx="1554480" cy="23774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0" i="1">
                <a:solidFill>
                  <a:srgbClr val="475569"/>
                </a:solidFill>
                <a:latin typeface="Calibri"/>
              </a:rPr>
              <a:t>Piezas 3D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2834640"/>
            <a:ext cx="4937760" cy="25237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 dirty="0">
                <a:solidFill>
                  <a:srgbClr val="0D9488"/>
                </a:solidFill>
                <a:latin typeface="Calibri"/>
              </a:rPr>
              <a:t>1  </a:t>
            </a:r>
            <a:r>
              <a:rPr sz="1400" b="1" i="0" dirty="0" err="1">
                <a:solidFill>
                  <a:srgbClr val="0D9488"/>
                </a:solidFill>
                <a:latin typeface="Calibri"/>
              </a:rPr>
              <a:t>Paneles</a:t>
            </a:r>
            <a:r>
              <a:rPr sz="1400" b="1" i="0" dirty="0">
                <a:solidFill>
                  <a:srgbClr val="0D9488"/>
                </a:solidFill>
                <a:latin typeface="Calibri"/>
              </a:rPr>
              <a:t> </a:t>
            </a:r>
            <a:r>
              <a:rPr sz="1400" b="1" i="0" dirty="0" err="1">
                <a:solidFill>
                  <a:srgbClr val="0D9488"/>
                </a:solidFill>
                <a:latin typeface="Calibri"/>
              </a:rPr>
              <a:t>modulares</a:t>
            </a:r>
            <a:r>
              <a:rPr sz="1400" b="1" i="0" dirty="0">
                <a:solidFill>
                  <a:srgbClr val="0D9488"/>
                </a:solidFill>
                <a:latin typeface="Calibri"/>
              </a:rPr>
              <a:t> </a:t>
            </a:r>
            <a:r>
              <a:rPr sz="1400" b="1" i="0" dirty="0" err="1">
                <a:solidFill>
                  <a:srgbClr val="0D9488"/>
                </a:solidFill>
                <a:latin typeface="Calibri"/>
              </a:rPr>
              <a:t>impresos</a:t>
            </a:r>
            <a:r>
              <a:rPr sz="1400" b="1" i="0" dirty="0">
                <a:solidFill>
                  <a:srgbClr val="0D9488"/>
                </a:solidFill>
                <a:latin typeface="Calibri"/>
              </a:rPr>
              <a:t> </a:t>
            </a:r>
            <a:r>
              <a:rPr sz="1400" b="1" i="0" dirty="0" err="1">
                <a:solidFill>
                  <a:srgbClr val="0D9488"/>
                </a:solidFill>
                <a:latin typeface="Calibri"/>
              </a:rPr>
              <a:t>en</a:t>
            </a:r>
            <a:r>
              <a:rPr sz="1400" b="1" i="0" dirty="0">
                <a:solidFill>
                  <a:srgbClr val="0D9488"/>
                </a:solidFill>
                <a:latin typeface="Calibri"/>
              </a:rPr>
              <a:t> 3D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246120"/>
            <a:ext cx="4937760" cy="25237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 dirty="0">
                <a:solidFill>
                  <a:srgbClr val="0D9488"/>
                </a:solidFill>
                <a:latin typeface="Calibri"/>
              </a:rPr>
              <a:t>2  </a:t>
            </a:r>
            <a:r>
              <a:rPr sz="1400" b="1" i="0" dirty="0" err="1">
                <a:solidFill>
                  <a:srgbClr val="0D9488"/>
                </a:solidFill>
                <a:latin typeface="Calibri"/>
              </a:rPr>
              <a:t>Seguimiento</a:t>
            </a:r>
            <a:r>
              <a:rPr sz="1400" b="1" i="0" dirty="0">
                <a:solidFill>
                  <a:srgbClr val="0D9488"/>
                </a:solidFill>
                <a:latin typeface="Calibri"/>
              </a:rPr>
              <a:t> y </a:t>
            </a:r>
            <a:r>
              <a:rPr sz="1400" b="1" i="0" dirty="0" err="1">
                <a:solidFill>
                  <a:srgbClr val="0D9488"/>
                </a:solidFill>
                <a:latin typeface="Calibri"/>
              </a:rPr>
              <a:t>gestos</a:t>
            </a:r>
            <a:r>
              <a:rPr sz="1400" b="1" i="0" dirty="0">
                <a:solidFill>
                  <a:srgbClr val="0D9488"/>
                </a:solidFill>
                <a:latin typeface="Calibri"/>
              </a:rPr>
              <a:t> </a:t>
            </a:r>
            <a:r>
              <a:rPr sz="1400" b="1" i="0" dirty="0" err="1">
                <a:solidFill>
                  <a:srgbClr val="0D9488"/>
                </a:solidFill>
                <a:latin typeface="Calibri"/>
              </a:rPr>
              <a:t>en</a:t>
            </a:r>
            <a:r>
              <a:rPr sz="1400" b="1" i="0" dirty="0">
                <a:solidFill>
                  <a:srgbClr val="0D9488"/>
                </a:solidFill>
                <a:latin typeface="Calibri"/>
              </a:rPr>
              <a:t> vivo (&gt;30 FPS)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3657600"/>
            <a:ext cx="4937760" cy="25237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0D9488"/>
                </a:solidFill>
                <a:latin typeface="Calibri"/>
              </a:rPr>
              <a:t>3  Medir calor y diseñar protección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5486400"/>
            <a:ext cx="1069848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14400" y="5559552"/>
            <a:ext cx="1033272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800" b="1" i="0">
                <a:solidFill>
                  <a:srgbClr val="0D9488"/>
                </a:solidFill>
                <a:latin typeface="Calibri"/>
              </a:rPr>
              <a:t>Corte 1 · Diseño ✓    ➔    Corte 2 · Prototipo que te sigue ● ESTAMOS AQUÍ    ➔    Corte 3 · Pared completa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897880"/>
            <a:ext cx="1033272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500" b="0" i="0">
                <a:solidFill>
                  <a:srgbClr val="475569"/>
                </a:solidFill>
                <a:latin typeface="Calibri"/>
              </a:rPr>
              <a:t>Materiales: 16 módulos PLA SOFIA003, 32 servos MG90S, 64 tornillos M3, 2 PCA9685, 1 ESP32-C3 y cámara web.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292608"/>
            <a:ext cx="1554480" cy="292608"/>
          </a:xfrm>
          <a:prstGeom prst="round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55448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1" i="0">
                <a:solidFill>
                  <a:srgbClr val="0D9488"/>
                </a:solidFill>
                <a:latin typeface="Calibri"/>
              </a:rPr>
              <a:t>PLANTEAMIENTO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395728" y="292608"/>
            <a:ext cx="1554480" cy="292608"/>
          </a:xfrm>
          <a:prstGeom prst="roundRect">
            <a:avLst>
              <a:gd name="adj" fmla="val 25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395728" y="320040"/>
            <a:ext cx="155448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0" i="0">
                <a:solidFill>
                  <a:srgbClr val="475569"/>
                </a:solidFill>
                <a:latin typeface="Calibri"/>
              </a:rPr>
              <a:t>DISEÑO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59936" y="292608"/>
            <a:ext cx="1554480" cy="292608"/>
          </a:xfrm>
          <a:prstGeom prst="roundRect">
            <a:avLst>
              <a:gd name="adj" fmla="val 25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059936" y="320040"/>
            <a:ext cx="155448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0" i="0">
                <a:solidFill>
                  <a:srgbClr val="475569"/>
                </a:solidFill>
                <a:latin typeface="Calibri"/>
              </a:rPr>
              <a:t>RESULTADOS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24144" y="292608"/>
            <a:ext cx="1554480" cy="292608"/>
          </a:xfrm>
          <a:prstGeom prst="roundRect">
            <a:avLst>
              <a:gd name="adj" fmla="val 25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724144" y="320040"/>
            <a:ext cx="155448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0" i="0">
                <a:solidFill>
                  <a:srgbClr val="475569"/>
                </a:solidFill>
                <a:latin typeface="Calibri"/>
              </a:rPr>
              <a:t>BRECHA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88352" y="292608"/>
            <a:ext cx="1554480" cy="292608"/>
          </a:xfrm>
          <a:prstGeom prst="roundRect">
            <a:avLst>
              <a:gd name="adj" fmla="val 25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88352" y="320040"/>
            <a:ext cx="155448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0" i="0">
                <a:solidFill>
                  <a:srgbClr val="475569"/>
                </a:solidFill>
                <a:latin typeface="Calibri"/>
              </a:rPr>
              <a:t>SIGUIENTES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Calibri"/>
              </a:rPr>
              <a:t>3/10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4000" b="1" i="0" dirty="0" err="1">
                <a:solidFill>
                  <a:srgbClr val="0F172A"/>
                </a:solidFill>
                <a:latin typeface="Calibri"/>
              </a:rPr>
              <a:t>Hermosas</a:t>
            </a:r>
            <a:r>
              <a:rPr sz="4000" b="1" i="0" dirty="0">
                <a:solidFill>
                  <a:srgbClr val="0F172A"/>
                </a:solidFill>
                <a:latin typeface="Calibri"/>
              </a:rPr>
              <a:t>, </a:t>
            </a:r>
            <a:r>
              <a:rPr sz="4000" b="1" i="0" dirty="0" err="1">
                <a:solidFill>
                  <a:srgbClr val="0F172A"/>
                </a:solidFill>
                <a:latin typeface="Calibri"/>
              </a:rPr>
              <a:t>caras</a:t>
            </a:r>
            <a:r>
              <a:rPr sz="4000" b="1" i="0" dirty="0">
                <a:solidFill>
                  <a:srgbClr val="0F172A"/>
                </a:solidFill>
                <a:latin typeface="Calibri"/>
              </a:rPr>
              <a:t> y </a:t>
            </a:r>
            <a:r>
              <a:rPr sz="4000" b="1" i="0" dirty="0" err="1">
                <a:solidFill>
                  <a:srgbClr val="0F172A"/>
                </a:solidFill>
                <a:latin typeface="Calibri"/>
              </a:rPr>
              <a:t>ciegas</a:t>
            </a:r>
            <a:endParaRPr sz="4000" b="1" i="0" dirty="0">
              <a:solidFill>
                <a:srgbClr val="0F172A"/>
              </a:solidFill>
              <a:latin typeface="Calibr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731520" y="1645920"/>
            <a:ext cx="3383280" cy="3383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914400" y="1783080"/>
            <a:ext cx="3017520" cy="1371600"/>
          </a:xfrm>
          <a:prstGeom prst="roundRect">
            <a:avLst>
              <a:gd name="adj" fmla="val 3000"/>
            </a:avLst>
          </a:prstGeom>
          <a:solidFill>
            <a:srgbClr val="EEF2F6"/>
          </a:solidFill>
          <a:ln w="1905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97280" y="2194560"/>
            <a:ext cx="2651760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600" b="0" i="1" dirty="0">
                <a:solidFill>
                  <a:srgbClr val="475569"/>
                </a:solidFill>
                <a:latin typeface="Calibri"/>
              </a:rPr>
              <a:t>IMAGEN: </a:t>
            </a:r>
            <a:r>
              <a:rPr sz="1600" b="0" i="1" dirty="0" err="1">
                <a:solidFill>
                  <a:srgbClr val="475569"/>
                </a:solidFill>
                <a:latin typeface="Calibri"/>
              </a:rPr>
              <a:t>inFORM</a:t>
            </a:r>
            <a:r>
              <a:rPr sz="1600" b="0" i="1" dirty="0">
                <a:solidFill>
                  <a:srgbClr val="475569"/>
                </a:solidFill>
                <a:latin typeface="Calibri"/>
              </a:rPr>
              <a:t> (MIT Media Lab)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291840"/>
            <a:ext cx="301752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200" b="1" i="0">
                <a:solidFill>
                  <a:srgbClr val="0F172A"/>
                </a:solidFill>
                <a:latin typeface="Calibri"/>
              </a:rPr>
              <a:t>MIT inFORM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703320"/>
            <a:ext cx="3017520" cy="11887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800" b="0" i="0">
                <a:solidFill>
                  <a:srgbClr val="475569"/>
                </a:solidFill>
                <a:latin typeface="Calibri"/>
              </a:rPr>
              <a:t>900 pines que forman relieve en vivo. Prototipo de laboratorio.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1645920"/>
            <a:ext cx="3383280" cy="3383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4572000" y="1783080"/>
            <a:ext cx="3017520" cy="1371600"/>
          </a:xfrm>
          <a:prstGeom prst="roundRect">
            <a:avLst>
              <a:gd name="adj" fmla="val 3000"/>
            </a:avLst>
          </a:prstGeom>
          <a:solidFill>
            <a:srgbClr val="EEF2F6"/>
          </a:solidFill>
          <a:ln w="1905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754880" y="2194560"/>
            <a:ext cx="2651760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600" b="0" i="1" dirty="0">
                <a:solidFill>
                  <a:srgbClr val="475569"/>
                </a:solidFill>
                <a:latin typeface="Calibri"/>
              </a:rPr>
              <a:t>IMAGEN: </a:t>
            </a:r>
            <a:r>
              <a:rPr sz="1600" b="0" i="1" dirty="0" err="1">
                <a:solidFill>
                  <a:srgbClr val="475569"/>
                </a:solidFill>
                <a:latin typeface="Calibri"/>
              </a:rPr>
              <a:t>Escultura</a:t>
            </a:r>
            <a:r>
              <a:rPr sz="1600" b="0" i="1" dirty="0">
                <a:solidFill>
                  <a:srgbClr val="475569"/>
                </a:solidFill>
                <a:latin typeface="Calibri"/>
              </a:rPr>
              <a:t> </a:t>
            </a:r>
            <a:r>
              <a:rPr sz="1600" b="0" i="1" dirty="0" err="1">
                <a:solidFill>
                  <a:srgbClr val="475569"/>
                </a:solidFill>
                <a:latin typeface="Calibri"/>
              </a:rPr>
              <a:t>cinética</a:t>
            </a:r>
            <a:r>
              <a:rPr sz="1600" b="0" i="1" dirty="0">
                <a:solidFill>
                  <a:srgbClr val="475569"/>
                </a:solidFill>
                <a:latin typeface="Calibri"/>
              </a:rPr>
              <a:t> de </a:t>
            </a:r>
            <a:r>
              <a:rPr sz="1600" b="0" i="1" dirty="0" err="1">
                <a:solidFill>
                  <a:srgbClr val="475569"/>
                </a:solidFill>
                <a:latin typeface="Calibri"/>
              </a:rPr>
              <a:t>aeropuerto</a:t>
            </a:r>
            <a:endParaRPr sz="1600" b="0" i="1" dirty="0">
              <a:solidFill>
                <a:srgbClr val="475569"/>
              </a:solidFill>
              <a:latin typeface="Calibri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572000" y="3291840"/>
            <a:ext cx="301752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200" b="1" i="0">
                <a:solidFill>
                  <a:srgbClr val="0F172A"/>
                </a:solidFill>
                <a:latin typeface="Calibri"/>
              </a:rPr>
              <a:t>Arte Comercial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703320"/>
            <a:ext cx="3017520" cy="11887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800" b="0" i="0" dirty="0" err="1">
                <a:solidFill>
                  <a:srgbClr val="475569"/>
                </a:solidFill>
                <a:latin typeface="Calibri"/>
              </a:rPr>
              <a:t>Coreografía</a:t>
            </a:r>
            <a:r>
              <a:rPr sz="1800" b="0" i="0" dirty="0">
                <a:solidFill>
                  <a:srgbClr val="475569"/>
                </a:solidFill>
                <a:latin typeface="Calibri"/>
              </a:rPr>
              <a:t> </a:t>
            </a:r>
            <a:r>
              <a:rPr sz="1800" b="0" i="0" dirty="0" err="1">
                <a:solidFill>
                  <a:srgbClr val="475569"/>
                </a:solidFill>
                <a:latin typeface="Calibri"/>
              </a:rPr>
              <a:t>grabada</a:t>
            </a:r>
            <a:r>
              <a:rPr sz="1800" b="0" i="0" dirty="0">
                <a:solidFill>
                  <a:srgbClr val="475569"/>
                </a:solidFill>
                <a:latin typeface="Calibri"/>
              </a:rPr>
              <a:t> </a:t>
            </a:r>
            <a:r>
              <a:rPr sz="1800" b="0" i="0" dirty="0" err="1">
                <a:solidFill>
                  <a:srgbClr val="475569"/>
                </a:solidFill>
                <a:latin typeface="Calibri"/>
              </a:rPr>
              <a:t>en</a:t>
            </a:r>
            <a:r>
              <a:rPr sz="1800" b="0" i="0" dirty="0">
                <a:solidFill>
                  <a:srgbClr val="475569"/>
                </a:solidFill>
                <a:latin typeface="Calibri"/>
              </a:rPr>
              <a:t> </a:t>
            </a:r>
            <a:r>
              <a:rPr sz="1800" b="0" i="0" dirty="0" err="1">
                <a:solidFill>
                  <a:srgbClr val="475569"/>
                </a:solidFill>
                <a:latin typeface="Calibri"/>
              </a:rPr>
              <a:t>ciclo</a:t>
            </a:r>
            <a:r>
              <a:rPr sz="1800" b="0" i="0" dirty="0">
                <a:solidFill>
                  <a:srgbClr val="475569"/>
                </a:solidFill>
                <a:latin typeface="Calibri"/>
              </a:rPr>
              <a:t>. No </a:t>
            </a:r>
            <a:r>
              <a:rPr sz="1800" b="0" i="0" dirty="0" err="1">
                <a:solidFill>
                  <a:srgbClr val="475569"/>
                </a:solidFill>
                <a:latin typeface="Calibri"/>
              </a:rPr>
              <a:t>te</a:t>
            </a:r>
            <a:r>
              <a:rPr sz="1800" b="0" i="0" dirty="0">
                <a:solidFill>
                  <a:srgbClr val="475569"/>
                </a:solidFill>
                <a:latin typeface="Calibri"/>
              </a:rPr>
              <a:t> </a:t>
            </a:r>
            <a:r>
              <a:rPr sz="1800" b="0" i="0" dirty="0" err="1">
                <a:solidFill>
                  <a:srgbClr val="475569"/>
                </a:solidFill>
                <a:latin typeface="Calibri"/>
              </a:rPr>
              <a:t>ven.</a:t>
            </a:r>
            <a:endParaRPr sz="1800" b="0" i="0" dirty="0">
              <a:solidFill>
                <a:srgbClr val="475569"/>
              </a:solidFill>
              <a:latin typeface="Calibri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8046720" y="1645920"/>
            <a:ext cx="3383280" cy="3383280"/>
          </a:xfrm>
          <a:prstGeom prst="roundRect">
            <a:avLst>
              <a:gd name="adj" fmla="val 3000"/>
            </a:avLst>
          </a:prstGeom>
          <a:solidFill>
            <a:srgbClr val="EEF2F6"/>
          </a:solidFill>
          <a:ln w="1905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8229600" y="1783080"/>
            <a:ext cx="3017520" cy="1371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5" descr="modulo_fisi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653" y="1819656"/>
            <a:ext cx="2641414" cy="129844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229600" y="3172968"/>
            <a:ext cx="3017520" cy="23774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0" i="1">
                <a:solidFill>
                  <a:srgbClr val="475569"/>
                </a:solidFill>
                <a:latin typeface="Calibri"/>
              </a:rPr>
              <a:t>Prototipo SOFÍA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3291840"/>
            <a:ext cx="301752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200" b="1" i="0">
                <a:solidFill>
                  <a:srgbClr val="0D9488"/>
                </a:solidFill>
                <a:latin typeface="Calibri"/>
              </a:rPr>
              <a:t>SOFÍA (ITESO)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3703320"/>
            <a:ext cx="3017520" cy="11887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Calibri"/>
              </a:rPr>
              <a:t>Te ve en vivo · Modular en 3D · Sin sensor interno: medido con láser y osciloscopio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5166360"/>
            <a:ext cx="10698480" cy="731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14400" y="5230368"/>
            <a:ext cx="1033272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900" b="1" i="0">
                <a:solidFill>
                  <a:srgbClr val="0F172A"/>
                </a:solidFill>
                <a:latin typeface="Calibri"/>
              </a:rPr>
              <a:t>Diferenciador: el motor no avisa calor; medimos en banco con láser y osciloscopio.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596128"/>
            <a:ext cx="1033272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0D9488"/>
                </a:solidFill>
                <a:latin typeface="Calibri"/>
              </a:rPr>
              <a:t>Robótica modular · Interacción humano-robot · Visión por computadora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Calibri"/>
              </a:rPr>
              <a:t>Apoyado en: Seo et al. 2019 · Fong et al. 2003 · MediaPipe/OpenCV 2026</a:t>
            </a:r>
          </a:p>
        </p:txBody>
      </p:sp>
      <p:pic>
        <p:nvPicPr>
          <p:cNvPr id="34" name="Imagen 33" descr="Amazing Technology Invented By MIT - Tangible Media">
            <a:extLst>
              <a:ext uri="{FF2B5EF4-FFF2-40B4-BE49-F238E27FC236}">
                <a16:creationId xmlns:a16="http://schemas.microsoft.com/office/drawing/2014/main" id="{F1262E94-E84C-9306-DA64-18372D7AB1C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87" t="13040" r="2716" b="7134"/>
          <a:stretch>
            <a:fillRect/>
          </a:stretch>
        </p:blipFill>
        <p:spPr>
          <a:xfrm>
            <a:off x="1115106" y="1819656"/>
            <a:ext cx="2616107" cy="1298448"/>
          </a:xfrm>
          <a:prstGeom prst="rect">
            <a:avLst/>
          </a:prstGeom>
        </p:spPr>
      </p:pic>
      <p:pic>
        <p:nvPicPr>
          <p:cNvPr id="36" name="Imagen 35" descr="Lluvia Kinética&quot; Changi Aeropuesto de Singapur | METALOCUS">
            <a:extLst>
              <a:ext uri="{FF2B5EF4-FFF2-40B4-BE49-F238E27FC236}">
                <a16:creationId xmlns:a16="http://schemas.microsoft.com/office/drawing/2014/main" id="{9F9AE9D0-5099-6D57-6427-E4E5CB3F0AE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0190" b="13655"/>
          <a:stretch>
            <a:fillRect/>
          </a:stretch>
        </p:blipFill>
        <p:spPr>
          <a:xfrm>
            <a:off x="4718304" y="1819657"/>
            <a:ext cx="2724912" cy="129844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292608"/>
            <a:ext cx="1554480" cy="292608"/>
          </a:xfrm>
          <a:prstGeom prst="roundRect">
            <a:avLst>
              <a:gd name="adj" fmla="val 25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55448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0" i="0">
                <a:solidFill>
                  <a:srgbClr val="475569"/>
                </a:solidFill>
                <a:latin typeface="Calibri"/>
              </a:rPr>
              <a:t>PLANTEAMIENTO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395728" y="292608"/>
            <a:ext cx="1554480" cy="292608"/>
          </a:xfrm>
          <a:prstGeom prst="round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395728" y="320040"/>
            <a:ext cx="155448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1" i="0">
                <a:solidFill>
                  <a:srgbClr val="0D9488"/>
                </a:solidFill>
                <a:latin typeface="Calibri"/>
              </a:rPr>
              <a:t>DISEÑO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59936" y="292608"/>
            <a:ext cx="1554480" cy="292608"/>
          </a:xfrm>
          <a:prstGeom prst="roundRect">
            <a:avLst>
              <a:gd name="adj" fmla="val 25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059936" y="320040"/>
            <a:ext cx="155448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0" i="0">
                <a:solidFill>
                  <a:srgbClr val="475569"/>
                </a:solidFill>
                <a:latin typeface="Calibri"/>
              </a:rPr>
              <a:t>RESULTADOS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24144" y="292608"/>
            <a:ext cx="1554480" cy="292608"/>
          </a:xfrm>
          <a:prstGeom prst="roundRect">
            <a:avLst>
              <a:gd name="adj" fmla="val 25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724144" y="320040"/>
            <a:ext cx="155448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0" i="0">
                <a:solidFill>
                  <a:srgbClr val="475569"/>
                </a:solidFill>
                <a:latin typeface="Calibri"/>
              </a:rPr>
              <a:t>BRECHA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88352" y="292608"/>
            <a:ext cx="1554480" cy="292608"/>
          </a:xfrm>
          <a:prstGeom prst="roundRect">
            <a:avLst>
              <a:gd name="adj" fmla="val 25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88352" y="320040"/>
            <a:ext cx="155448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0" i="0">
                <a:solidFill>
                  <a:srgbClr val="475569"/>
                </a:solidFill>
                <a:latin typeface="Calibri"/>
              </a:rPr>
              <a:t>SIGUIENTES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Calibri"/>
              </a:rPr>
              <a:t>4/10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4000" b="1" i="0">
                <a:solidFill>
                  <a:srgbClr val="0F172A"/>
                </a:solidFill>
                <a:latin typeface="Calibri"/>
              </a:rPr>
              <a:t>Tres cosas medidas, tres líneas rojas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600200"/>
            <a:ext cx="2926080" cy="365760"/>
          </a:xfrm>
          <a:prstGeom prst="roundRect">
            <a:avLst>
              <a:gd name="adj" fmla="val 1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1655064"/>
            <a:ext cx="29260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300" b="1" i="0">
                <a:solidFill>
                  <a:srgbClr val="0D9488"/>
                </a:solidFill>
                <a:latin typeface="Calibri"/>
              </a:rPr>
              <a:t>QUÉ MEDIMOS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0" y="1600200"/>
            <a:ext cx="4389120" cy="365760"/>
          </a:xfrm>
          <a:prstGeom prst="roundRect">
            <a:avLst>
              <a:gd name="adj" fmla="val 1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57600" y="1655064"/>
            <a:ext cx="438912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300" b="1" i="0">
                <a:solidFill>
                  <a:srgbClr val="0D9488"/>
                </a:solidFill>
                <a:latin typeface="Calibri"/>
              </a:rPr>
              <a:t>CÓMO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1600200"/>
            <a:ext cx="3383280" cy="365760"/>
          </a:xfrm>
          <a:prstGeom prst="roundRect">
            <a:avLst>
              <a:gd name="adj" fmla="val 1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46720" y="1655064"/>
            <a:ext cx="33832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300" b="1" i="0">
                <a:solidFill>
                  <a:srgbClr val="0D9488"/>
                </a:solidFill>
                <a:latin typeface="Calibri"/>
              </a:rPr>
              <a:t>APROBAMOS SI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2039112"/>
            <a:ext cx="10698480" cy="80467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" y="2203704"/>
            <a:ext cx="27432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"/>
              </a:rPr>
              <a:t>Velocidad de cámara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2203704"/>
            <a:ext cx="4206240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800" b="0" i="0">
                <a:solidFill>
                  <a:srgbClr val="475569"/>
                </a:solidFill>
                <a:latin typeface="Calibri"/>
              </a:rPr>
              <a:t>Ensayos frente a cámara web (FPS y retraso)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2203704"/>
            <a:ext cx="3108960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800" b="1" i="0">
                <a:solidFill>
                  <a:srgbClr val="0D9488"/>
                </a:solidFill>
                <a:latin typeface="Calibri"/>
              </a:rPr>
              <a:t>&gt; 30 FPS y &lt; 100 ms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2907792"/>
            <a:ext cx="10698480" cy="80467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4400" y="3072384"/>
            <a:ext cx="27432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"/>
              </a:rPr>
              <a:t>Respuesta a gestos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39" y="3072384"/>
            <a:ext cx="4206240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800" b="0" i="0">
                <a:solidFill>
                  <a:srgbClr val="475569"/>
                </a:solidFill>
                <a:latin typeface="Calibri"/>
              </a:rPr>
              <a:t>Saludo, corazón y juego frente a la cámara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3072384"/>
            <a:ext cx="3108960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800" b="1" i="0">
                <a:solidFill>
                  <a:srgbClr val="0D9488"/>
                </a:solidFill>
                <a:latin typeface="Calibri"/>
              </a:rPr>
              <a:t>El panel responde al saludo en vivo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3776472"/>
            <a:ext cx="10698480" cy="80467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14400" y="3941064"/>
            <a:ext cx="27432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"/>
              </a:rPr>
              <a:t>Calor del motor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9039" y="3941064"/>
            <a:ext cx="4206240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800" b="0" i="0">
                <a:solidFill>
                  <a:srgbClr val="475569"/>
                </a:solidFill>
                <a:latin typeface="Calibri"/>
              </a:rPr>
              <a:t>Termómetro láser y osciloscopio con tope de atasco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60" y="3941064"/>
            <a:ext cx="3108960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800" b="1" i="0">
                <a:solidFill>
                  <a:srgbClr val="0D9488"/>
                </a:solidFill>
                <a:latin typeface="Calibri"/>
              </a:rPr>
              <a:t>Bajo 55 °C y corte antes de 15 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4480560"/>
            <a:ext cx="10698480" cy="1691640"/>
          </a:xfrm>
          <a:prstGeom prst="roundRect">
            <a:avLst>
              <a:gd name="adj" fmla="val 3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14400" y="4572000"/>
            <a:ext cx="1033272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El prototipo puesto a prueba (cadena completa):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4400" y="4983480"/>
            <a:ext cx="1920240" cy="960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14400" y="5093208"/>
            <a:ext cx="192024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700" b="1" i="0">
                <a:solidFill>
                  <a:srgbClr val="0F172A"/>
                </a:solidFill>
                <a:latin typeface="Calibri"/>
              </a:rPr>
              <a:t>Cámara web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5486400"/>
            <a:ext cx="192024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400" b="0" i="0">
                <a:solidFill>
                  <a:srgbClr val="475569"/>
                </a:solidFill>
                <a:latin typeface="Calibri"/>
              </a:rPr>
              <a:t>60 Hz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2834640" y="5458968"/>
            <a:ext cx="201168" cy="0"/>
          </a:xfrm>
          <a:prstGeom prst="line">
            <a:avLst/>
          </a:prstGeom>
          <a:ln w="25400">
            <a:solidFill>
              <a:srgbClr val="14B8A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3035808" y="4983480"/>
            <a:ext cx="1920240" cy="960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035808" y="5093208"/>
            <a:ext cx="192024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700" b="1" i="0">
                <a:solidFill>
                  <a:srgbClr val="0F172A"/>
                </a:solidFill>
                <a:latin typeface="Calibri"/>
              </a:rPr>
              <a:t>Software PC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35808" y="5486400"/>
            <a:ext cx="192024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400" b="0" i="0">
                <a:solidFill>
                  <a:srgbClr val="475569"/>
                </a:solidFill>
                <a:latin typeface="Calibri"/>
              </a:rPr>
              <a:t>MediaPipe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4956048" y="5458968"/>
            <a:ext cx="201168" cy="0"/>
          </a:xfrm>
          <a:prstGeom prst="line">
            <a:avLst/>
          </a:prstGeom>
          <a:ln w="25400">
            <a:solidFill>
              <a:srgbClr val="14B8A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5157216" y="4983480"/>
            <a:ext cx="1920240" cy="960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157216" y="5093208"/>
            <a:ext cx="192024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700" b="1" i="0">
                <a:solidFill>
                  <a:srgbClr val="0F172A"/>
                </a:solidFill>
                <a:latin typeface="Calibri"/>
              </a:rPr>
              <a:t>Bluetooth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57216" y="5486400"/>
            <a:ext cx="192024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400" b="0" i="0">
                <a:solidFill>
                  <a:srgbClr val="475569"/>
                </a:solidFill>
                <a:latin typeface="Calibri"/>
              </a:rPr>
              <a:t>BLE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077456" y="5458968"/>
            <a:ext cx="201167" cy="0"/>
          </a:xfrm>
          <a:prstGeom prst="line">
            <a:avLst/>
          </a:prstGeom>
          <a:ln w="25400">
            <a:solidFill>
              <a:srgbClr val="14B8A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7278623" y="4983480"/>
            <a:ext cx="1920240" cy="960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278623" y="5093208"/>
            <a:ext cx="192024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700" b="1" i="0">
                <a:solidFill>
                  <a:srgbClr val="0F172A"/>
                </a:solidFill>
                <a:latin typeface="Calibri"/>
              </a:rPr>
              <a:t>ESP32-C3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78623" y="5486400"/>
            <a:ext cx="192024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400" b="0" i="0">
                <a:solidFill>
                  <a:srgbClr val="475569"/>
                </a:solidFill>
                <a:latin typeface="Calibri"/>
              </a:rPr>
              <a:t>2x PCA9685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9198863" y="5458968"/>
            <a:ext cx="201169" cy="0"/>
          </a:xfrm>
          <a:prstGeom prst="line">
            <a:avLst/>
          </a:prstGeom>
          <a:ln w="25400">
            <a:solidFill>
              <a:srgbClr val="14B8A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9400032" y="4983480"/>
            <a:ext cx="1920240" cy="960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400032" y="5093208"/>
            <a:ext cx="192024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700" b="1" i="0">
                <a:solidFill>
                  <a:srgbClr val="0F172A"/>
                </a:solidFill>
                <a:latin typeface="Calibri"/>
              </a:rPr>
              <a:t>16 módulos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00032" y="5486400"/>
            <a:ext cx="192024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400" b="0" i="0">
                <a:solidFill>
                  <a:srgbClr val="475569"/>
                </a:solidFill>
                <a:latin typeface="Calibri"/>
              </a:rPr>
              <a:t>32 servos MG90S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292608"/>
            <a:ext cx="1554480" cy="292608"/>
          </a:xfrm>
          <a:prstGeom prst="roundRect">
            <a:avLst>
              <a:gd name="adj" fmla="val 25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55448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0" i="0">
                <a:solidFill>
                  <a:srgbClr val="475569"/>
                </a:solidFill>
                <a:latin typeface="Calibri"/>
              </a:rPr>
              <a:t>PLANTEAMIENTO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395728" y="292608"/>
            <a:ext cx="1554480" cy="292608"/>
          </a:xfrm>
          <a:prstGeom prst="roundRect">
            <a:avLst>
              <a:gd name="adj" fmla="val 25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395728" y="320040"/>
            <a:ext cx="155448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0" i="0">
                <a:solidFill>
                  <a:srgbClr val="475569"/>
                </a:solidFill>
                <a:latin typeface="Calibri"/>
              </a:rPr>
              <a:t>DISEÑO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59936" y="292608"/>
            <a:ext cx="1554480" cy="292608"/>
          </a:xfrm>
          <a:prstGeom prst="round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059936" y="320040"/>
            <a:ext cx="155448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1" i="0">
                <a:solidFill>
                  <a:srgbClr val="0D9488"/>
                </a:solidFill>
                <a:latin typeface="Calibri"/>
              </a:rPr>
              <a:t>RESULTADOS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24144" y="292608"/>
            <a:ext cx="1554480" cy="292608"/>
          </a:xfrm>
          <a:prstGeom prst="roundRect">
            <a:avLst>
              <a:gd name="adj" fmla="val 25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724144" y="320040"/>
            <a:ext cx="155448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0" i="0">
                <a:solidFill>
                  <a:srgbClr val="475569"/>
                </a:solidFill>
                <a:latin typeface="Calibri"/>
              </a:rPr>
              <a:t>BRECHA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88352" y="292608"/>
            <a:ext cx="1554480" cy="292608"/>
          </a:xfrm>
          <a:prstGeom prst="roundRect">
            <a:avLst>
              <a:gd name="adj" fmla="val 25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88352" y="320040"/>
            <a:ext cx="155448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0" i="0">
                <a:solidFill>
                  <a:srgbClr val="475569"/>
                </a:solidFill>
                <a:latin typeface="Calibri"/>
              </a:rPr>
              <a:t>SIGUIENTES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Calibri"/>
              </a:rPr>
              <a:t>5/10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85800"/>
            <a:ext cx="10972800" cy="65248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4000" b="1" i="0" dirty="0" err="1">
                <a:solidFill>
                  <a:srgbClr val="0F172A"/>
                </a:solidFill>
                <a:latin typeface="Calibri"/>
              </a:rPr>
              <a:t>Te</a:t>
            </a:r>
            <a:r>
              <a:rPr sz="4000" b="1" i="0" dirty="0">
                <a:solidFill>
                  <a:srgbClr val="0F172A"/>
                </a:solidFill>
                <a:latin typeface="Calibri"/>
              </a:rPr>
              <a:t> </a:t>
            </a:r>
            <a:r>
              <a:rPr sz="4000" b="1" i="0" dirty="0" err="1">
                <a:solidFill>
                  <a:srgbClr val="0F172A"/>
                </a:solidFill>
                <a:latin typeface="Calibri"/>
              </a:rPr>
              <a:t>sigue</a:t>
            </a:r>
            <a:r>
              <a:rPr sz="4000" b="1" i="0" dirty="0">
                <a:solidFill>
                  <a:srgbClr val="0F172A"/>
                </a:solidFill>
                <a:latin typeface="Calibri"/>
              </a:rPr>
              <a:t> la mano a </a:t>
            </a:r>
            <a:r>
              <a:rPr sz="4000" b="1" i="0" dirty="0" err="1">
                <a:solidFill>
                  <a:srgbClr val="0F172A"/>
                </a:solidFill>
                <a:latin typeface="Calibri"/>
              </a:rPr>
              <a:t>más</a:t>
            </a:r>
            <a:r>
              <a:rPr sz="4000" b="1" i="0" dirty="0">
                <a:solidFill>
                  <a:srgbClr val="0F172A"/>
                </a:solidFill>
                <a:latin typeface="Calibri"/>
              </a:rPr>
              <a:t> de 30 </a:t>
            </a:r>
            <a:r>
              <a:rPr sz="4000" b="1" i="0" dirty="0" err="1">
                <a:solidFill>
                  <a:srgbClr val="0F172A"/>
                </a:solidFill>
                <a:latin typeface="Calibri"/>
              </a:rPr>
              <a:t>cuadros</a:t>
            </a:r>
            <a:r>
              <a:rPr sz="4000" b="1" i="0" dirty="0">
                <a:solidFill>
                  <a:srgbClr val="0F172A"/>
                </a:solidFill>
                <a:latin typeface="Calibri"/>
              </a:rPr>
              <a:t> </a:t>
            </a:r>
            <a:r>
              <a:rPr sz="4000" b="1" i="0" dirty="0" err="1">
                <a:solidFill>
                  <a:srgbClr val="0F172A"/>
                </a:solidFill>
                <a:latin typeface="Calibri"/>
              </a:rPr>
              <a:t>por</a:t>
            </a:r>
            <a:r>
              <a:rPr sz="4000" b="1" i="0" dirty="0">
                <a:solidFill>
                  <a:srgbClr val="0F172A"/>
                </a:solidFill>
                <a:latin typeface="Calibri"/>
              </a:rPr>
              <a:t> </a:t>
            </a:r>
            <a:r>
              <a:rPr sz="4000" b="1" i="0" dirty="0" err="1">
                <a:solidFill>
                  <a:srgbClr val="0F172A"/>
                </a:solidFill>
                <a:latin typeface="Calibri"/>
              </a:rPr>
              <a:t>segundo</a:t>
            </a:r>
            <a:endParaRPr sz="4000" b="1" i="0" dirty="0">
              <a:solidFill>
                <a:srgbClr val="0F172A"/>
              </a:solidFill>
              <a:latin typeface="Calibr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731520" y="1645920"/>
            <a:ext cx="5943600" cy="43891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sofia_gu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1913016"/>
            <a:ext cx="5870448" cy="385492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31520" y="6053328"/>
            <a:ext cx="5943600" cy="23774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0" i="1">
                <a:solidFill>
                  <a:srgbClr val="475569"/>
                </a:solidFill>
                <a:latin typeface="Calibri"/>
              </a:rPr>
              <a:t>Estación de control en tiempo real (PySide6)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9440" y="1645920"/>
            <a:ext cx="4480560" cy="1280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949440" y="1691640"/>
            <a:ext cx="4480560" cy="6858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6600" b="1" i="0">
                <a:solidFill>
                  <a:srgbClr val="0D9488"/>
                </a:solidFill>
                <a:latin typeface="Calibri"/>
              </a:rPr>
              <a:t>30+ FPS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502194"/>
            <a:ext cx="448056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800" b="0" i="0">
                <a:solidFill>
                  <a:srgbClr val="475569"/>
                </a:solidFill>
                <a:latin typeface="Calibri"/>
              </a:rPr>
              <a:t>Cuerpo y dos manos (21 puntos cada una)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49440" y="3063240"/>
            <a:ext cx="4480560" cy="822960"/>
          </a:xfrm>
          <a:prstGeom prst="roundRect">
            <a:avLst>
              <a:gd name="adj" fmla="val 3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132320" y="3154680"/>
            <a:ext cx="41148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Calibri"/>
              </a:rPr>
              <a:t>Gestos:  👋 Saludo   ·   💖 Corazón   ·   👊 Puño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49440" y="4023360"/>
            <a:ext cx="2148840" cy="9601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fig_sim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5352" y="4059936"/>
            <a:ext cx="1677015" cy="886968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9281160" y="4023360"/>
            <a:ext cx="2148840" cy="9601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fig_sim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14135" y="4059936"/>
            <a:ext cx="1682889" cy="886968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6949440" y="5074920"/>
            <a:ext cx="2148840" cy="9601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fig_sim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82566" y="5111496"/>
            <a:ext cx="1682587" cy="886968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9281160" y="5074920"/>
            <a:ext cx="2148840" cy="9601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fig_sim_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43481" y="5111496"/>
            <a:ext cx="1824197" cy="88696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949440" y="6080760"/>
            <a:ext cx="44805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300" b="0" i="1">
                <a:solidFill>
                  <a:srgbClr val="475569"/>
                </a:solidFill>
                <a:latin typeface="Calibri"/>
              </a:rPr>
              <a:t>Simulación: los 16 paneles giran hacia ti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292608"/>
            <a:ext cx="1554480" cy="292608"/>
          </a:xfrm>
          <a:prstGeom prst="roundRect">
            <a:avLst>
              <a:gd name="adj" fmla="val 25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55448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0" i="0">
                <a:solidFill>
                  <a:srgbClr val="475569"/>
                </a:solidFill>
                <a:latin typeface="Calibri"/>
              </a:rPr>
              <a:t>PLANTEAMIENTO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395728" y="292608"/>
            <a:ext cx="1554480" cy="292608"/>
          </a:xfrm>
          <a:prstGeom prst="roundRect">
            <a:avLst>
              <a:gd name="adj" fmla="val 25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395728" y="320040"/>
            <a:ext cx="155448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0" i="0">
                <a:solidFill>
                  <a:srgbClr val="475569"/>
                </a:solidFill>
                <a:latin typeface="Calibri"/>
              </a:rPr>
              <a:t>DISEÑO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59936" y="292608"/>
            <a:ext cx="1554480" cy="292608"/>
          </a:xfrm>
          <a:prstGeom prst="round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059936" y="320040"/>
            <a:ext cx="155448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1" i="0">
                <a:solidFill>
                  <a:srgbClr val="0D9488"/>
                </a:solidFill>
                <a:latin typeface="Calibri"/>
              </a:rPr>
              <a:t>RESULTADOS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24144" y="292608"/>
            <a:ext cx="1554480" cy="292608"/>
          </a:xfrm>
          <a:prstGeom prst="roundRect">
            <a:avLst>
              <a:gd name="adj" fmla="val 25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724144" y="320040"/>
            <a:ext cx="155448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0" i="0">
                <a:solidFill>
                  <a:srgbClr val="475569"/>
                </a:solidFill>
                <a:latin typeface="Calibri"/>
              </a:rPr>
              <a:t>BRECHA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88352" y="292608"/>
            <a:ext cx="1554480" cy="292608"/>
          </a:xfrm>
          <a:prstGeom prst="roundRect">
            <a:avLst>
              <a:gd name="adj" fmla="val 25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88352" y="320040"/>
            <a:ext cx="155448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0" i="0">
                <a:solidFill>
                  <a:srgbClr val="475569"/>
                </a:solidFill>
                <a:latin typeface="Calibri"/>
              </a:rPr>
              <a:t>SIGUIENTES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Calibri"/>
              </a:rPr>
              <a:t>6/10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4000" b="1" i="0">
                <a:solidFill>
                  <a:srgbClr val="0F172A"/>
                </a:solidFill>
                <a:latin typeface="Calibri"/>
              </a:rPr>
              <a:t>Saludas, y el panel te contesta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645920"/>
            <a:ext cx="2057400" cy="34747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modulo_fisi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2895579"/>
            <a:ext cx="1984247" cy="97540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31520" y="5138928"/>
            <a:ext cx="2057400" cy="23774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0" i="1">
                <a:solidFill>
                  <a:srgbClr val="475569"/>
                </a:solidFill>
                <a:latin typeface="Calibri"/>
              </a:rPr>
              <a:t>1. El módulo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1645920"/>
            <a:ext cx="2057400" cy="34747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sofia_saludo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2656" y="2824652"/>
            <a:ext cx="1984248" cy="111725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926080" y="5138928"/>
            <a:ext cx="2057400" cy="23774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0" i="1">
                <a:solidFill>
                  <a:srgbClr val="475569"/>
                </a:solidFill>
                <a:latin typeface="Calibri"/>
              </a:rPr>
              <a:t>2. Tu saludo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20640" y="1645920"/>
            <a:ext cx="2057400" cy="34747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sofia_saludo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57216" y="2820627"/>
            <a:ext cx="1984248" cy="112530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120640" y="5138928"/>
            <a:ext cx="2057400" cy="23774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0" i="1">
                <a:solidFill>
                  <a:srgbClr val="475569"/>
                </a:solidFill>
                <a:latin typeface="Calibri"/>
              </a:rPr>
              <a:t>3. El panel responde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440680"/>
            <a:ext cx="6446520" cy="640080"/>
          </a:xfrm>
          <a:prstGeom prst="roundRect">
            <a:avLst>
              <a:gd name="adj" fmla="val 3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" y="5596128"/>
            <a:ext cx="608076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800" b="1" i="0">
                <a:solidFill>
                  <a:srgbClr val="0D9488"/>
                </a:solidFill>
                <a:latin typeface="Calibri"/>
              </a:rPr>
              <a:t>Decenas de ensayos de gestos y rutinas grabados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79" y="1645920"/>
            <a:ext cx="3931920" cy="4434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772399" y="1828800"/>
            <a:ext cx="338328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400" b="1" i="0">
                <a:solidFill>
                  <a:srgbClr val="0F172A"/>
                </a:solidFill>
                <a:latin typeface="Calibri"/>
              </a:rPr>
              <a:t>¿Cumplimos los criterios?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399" y="2423160"/>
            <a:ext cx="338328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"/>
              </a:rPr>
              <a:t>Más de 30 FPS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399" y="2770632"/>
            <a:ext cx="338328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800" b="1" i="0">
                <a:solidFill>
                  <a:srgbClr val="0D9488"/>
                </a:solidFill>
                <a:latin typeface="Calibri"/>
              </a:rPr>
              <a:t>✓ Cumplido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399" y="3291839"/>
            <a:ext cx="338328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"/>
              </a:rPr>
              <a:t>Menos de 100 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399" y="3639311"/>
            <a:ext cx="338328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800" b="1" i="0" dirty="0">
                <a:solidFill>
                  <a:srgbClr val="D97706"/>
                </a:solidFill>
                <a:latin typeface="Calibri"/>
              </a:rPr>
              <a:t>◐ En </a:t>
            </a:r>
            <a:r>
              <a:rPr sz="1800" b="1" i="0" dirty="0" err="1">
                <a:solidFill>
                  <a:srgbClr val="D97706"/>
                </a:solidFill>
                <a:latin typeface="Calibri"/>
              </a:rPr>
              <a:t>validación</a:t>
            </a:r>
            <a:endParaRPr sz="1800" b="1" i="0" dirty="0">
              <a:solidFill>
                <a:srgbClr val="D97706"/>
              </a:solidFill>
              <a:latin typeface="Calibri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7772399" y="4160520"/>
            <a:ext cx="338328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"/>
              </a:rPr>
              <a:t>Bajo 55 °C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399" y="4507992"/>
            <a:ext cx="338328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800" b="1" i="0">
                <a:solidFill>
                  <a:srgbClr val="0D9488"/>
                </a:solidFill>
                <a:latin typeface="Calibri"/>
              </a:rPr>
              <a:t>✓ En uso normal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399" y="5029200"/>
            <a:ext cx="338328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"/>
              </a:rPr>
              <a:t>Corte &lt; 15 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399" y="5376672"/>
            <a:ext cx="3383280" cy="3139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r>
              <a:rPr sz="1800" b="1" i="0" dirty="0">
                <a:solidFill>
                  <a:srgbClr val="D97706"/>
                </a:solidFill>
                <a:latin typeface="Calibri"/>
              </a:rPr>
              <a:t>◐ </a:t>
            </a:r>
            <a:r>
              <a:rPr lang="es-MX" b="1" dirty="0">
                <a:solidFill>
                  <a:srgbClr val="D97706"/>
                </a:solidFill>
              </a:rPr>
              <a:t>En validación</a:t>
            </a:r>
            <a:endParaRPr sz="1800" b="1" i="0" dirty="0">
              <a:solidFill>
                <a:srgbClr val="D97706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292608"/>
            <a:ext cx="1554480" cy="292608"/>
          </a:xfrm>
          <a:prstGeom prst="roundRect">
            <a:avLst>
              <a:gd name="adj" fmla="val 25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55448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0" i="0">
                <a:solidFill>
                  <a:srgbClr val="475569"/>
                </a:solidFill>
                <a:latin typeface="Calibri"/>
              </a:rPr>
              <a:t>PLANTEAMIENTO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395728" y="292608"/>
            <a:ext cx="1554480" cy="292608"/>
          </a:xfrm>
          <a:prstGeom prst="roundRect">
            <a:avLst>
              <a:gd name="adj" fmla="val 25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395728" y="320040"/>
            <a:ext cx="155448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0" i="0">
                <a:solidFill>
                  <a:srgbClr val="475569"/>
                </a:solidFill>
                <a:latin typeface="Calibri"/>
              </a:rPr>
              <a:t>DISEÑO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59936" y="292608"/>
            <a:ext cx="1554480" cy="292608"/>
          </a:xfrm>
          <a:prstGeom prst="round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059936" y="320040"/>
            <a:ext cx="155448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1" i="0">
                <a:solidFill>
                  <a:srgbClr val="0D9488"/>
                </a:solidFill>
                <a:latin typeface="Calibri"/>
              </a:rPr>
              <a:t>RESULTADOS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24144" y="292608"/>
            <a:ext cx="1554480" cy="292608"/>
          </a:xfrm>
          <a:prstGeom prst="roundRect">
            <a:avLst>
              <a:gd name="adj" fmla="val 25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724144" y="320040"/>
            <a:ext cx="155448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0" i="0">
                <a:solidFill>
                  <a:srgbClr val="475569"/>
                </a:solidFill>
                <a:latin typeface="Calibri"/>
              </a:rPr>
              <a:t>BRECHA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88352" y="292608"/>
            <a:ext cx="1554480" cy="292608"/>
          </a:xfrm>
          <a:prstGeom prst="roundRect">
            <a:avLst>
              <a:gd name="adj" fmla="val 25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88352" y="320040"/>
            <a:ext cx="155448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0" i="0">
                <a:solidFill>
                  <a:srgbClr val="475569"/>
                </a:solidFill>
                <a:latin typeface="Calibri"/>
              </a:rPr>
              <a:t>SIGUIENTES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Calibri"/>
              </a:rPr>
              <a:t>7/10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4000" b="1" i="0">
                <a:solidFill>
                  <a:srgbClr val="DC2626"/>
                </a:solidFill>
                <a:latin typeface="Calibri"/>
              </a:rPr>
              <a:t>Si un panel se atora, en 3 minutos pasa de 60 °C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645920"/>
            <a:ext cx="6858000" cy="44805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grafica_termica_reconstrui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1812195"/>
            <a:ext cx="6784848" cy="414800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31520" y="6144768"/>
            <a:ext cx="6858000" cy="23774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0" i="1">
                <a:solidFill>
                  <a:srgbClr val="475569"/>
                </a:solidFill>
                <a:latin typeface="Calibri"/>
              </a:rPr>
              <a:t>Medición en banco con osciloscopio y termómetro láser (sin sensor en motor)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63840" y="1645920"/>
            <a:ext cx="3566160" cy="16459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63840" y="1737360"/>
            <a:ext cx="3566160" cy="7315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6800" b="1" i="0">
                <a:solidFill>
                  <a:srgbClr val="DC2626"/>
                </a:solidFill>
                <a:latin typeface="Calibri"/>
              </a:rPr>
              <a:t>64.8 °C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514600"/>
            <a:ext cx="32004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800" b="0" i="0">
                <a:solidFill>
                  <a:srgbClr val="475569"/>
                </a:solidFill>
                <a:latin typeface="Calibri"/>
              </a:rPr>
              <a:t>a los 226 s, hasta que se oyó el engrane forzarse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3474720"/>
            <a:ext cx="3566160" cy="1097280"/>
          </a:xfrm>
          <a:prstGeom prst="roundRect">
            <a:avLst>
              <a:gd name="adj" fmla="val 3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46720" y="3657600"/>
            <a:ext cx="3200400" cy="7315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200" b="1" i="0">
                <a:solidFill>
                  <a:srgbClr val="0F172A"/>
                </a:solidFill>
                <a:latin typeface="Calibri"/>
              </a:rPr>
              <a:t>Sin carga: no se calienta.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0" y="4754880"/>
            <a:ext cx="3566160" cy="1371600"/>
          </a:xfrm>
          <a:prstGeom prst="roundRect">
            <a:avLst>
              <a:gd name="adj" fmla="val 3000"/>
            </a:avLst>
          </a:prstGeom>
          <a:solidFill>
            <a:srgbClr val="CCFBF1"/>
          </a:solidFill>
          <a:ln w="1905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046720" y="4937760"/>
            <a:ext cx="3200400" cy="10058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200" b="1" i="0">
                <a:solidFill>
                  <a:srgbClr val="0D9488"/>
                </a:solidFill>
                <a:latin typeface="Calibri"/>
              </a:rPr>
              <a:t>Con corte a 15 s: sube solo ~7 °C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292608"/>
            <a:ext cx="1554480" cy="292608"/>
          </a:xfrm>
          <a:prstGeom prst="roundRect">
            <a:avLst>
              <a:gd name="adj" fmla="val 25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55448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0" i="0">
                <a:solidFill>
                  <a:srgbClr val="475569"/>
                </a:solidFill>
                <a:latin typeface="Calibri"/>
              </a:rPr>
              <a:t>PLANTEAMIENTO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395728" y="292608"/>
            <a:ext cx="1554480" cy="292608"/>
          </a:xfrm>
          <a:prstGeom prst="roundRect">
            <a:avLst>
              <a:gd name="adj" fmla="val 25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395728" y="320040"/>
            <a:ext cx="155448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0" i="0">
                <a:solidFill>
                  <a:srgbClr val="475569"/>
                </a:solidFill>
                <a:latin typeface="Calibri"/>
              </a:rPr>
              <a:t>DISEÑO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59936" y="292608"/>
            <a:ext cx="1554480" cy="292608"/>
          </a:xfrm>
          <a:prstGeom prst="roundRect">
            <a:avLst>
              <a:gd name="adj" fmla="val 25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059936" y="320040"/>
            <a:ext cx="155448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0" i="0">
                <a:solidFill>
                  <a:srgbClr val="475569"/>
                </a:solidFill>
                <a:latin typeface="Calibri"/>
              </a:rPr>
              <a:t>RESULTADOS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24144" y="292608"/>
            <a:ext cx="1554480" cy="292608"/>
          </a:xfrm>
          <a:prstGeom prst="round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724144" y="320040"/>
            <a:ext cx="155448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1" i="0">
                <a:solidFill>
                  <a:srgbClr val="0D9488"/>
                </a:solidFill>
                <a:latin typeface="Calibri"/>
              </a:rPr>
              <a:t>BRECHA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88352" y="292608"/>
            <a:ext cx="1554480" cy="292608"/>
          </a:xfrm>
          <a:prstGeom prst="roundRect">
            <a:avLst>
              <a:gd name="adj" fmla="val 25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88352" y="320040"/>
            <a:ext cx="155448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0" i="0">
                <a:solidFill>
                  <a:srgbClr val="475569"/>
                </a:solidFill>
                <a:latin typeface="Calibri"/>
              </a:rPr>
              <a:t>SIGUIENTES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Calibri"/>
              </a:rPr>
              <a:t>8/10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4000" b="1" i="0">
                <a:solidFill>
                  <a:srgbClr val="0F172A"/>
                </a:solidFill>
                <a:latin typeface="Calibri"/>
              </a:rPr>
              <a:t>Un laboratorio no es un museo: gente y entorno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645920"/>
            <a:ext cx="3108960" cy="365760"/>
          </a:xfrm>
          <a:prstGeom prst="roundRect">
            <a:avLst>
              <a:gd name="adj" fmla="val 1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1700784"/>
            <a:ext cx="31089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300" b="1" i="0">
                <a:solidFill>
                  <a:srgbClr val="0D9488"/>
                </a:solidFill>
                <a:latin typeface="Calibri"/>
              </a:rPr>
              <a:t>LO QUE PROBAMOS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40480" y="1645920"/>
            <a:ext cx="4023360" cy="365760"/>
          </a:xfrm>
          <a:prstGeom prst="roundRect">
            <a:avLst>
              <a:gd name="adj" fmla="val 1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840480" y="1700784"/>
            <a:ext cx="40233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300" b="1" i="0">
                <a:solidFill>
                  <a:srgbClr val="0D9488"/>
                </a:solidFill>
                <a:latin typeface="Calibri"/>
              </a:rPr>
              <a:t>LO QUE EXIGE UN MUSEO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0" y="1645920"/>
            <a:ext cx="3566160" cy="365760"/>
          </a:xfrm>
          <a:prstGeom prst="roundRect">
            <a:avLst>
              <a:gd name="adj" fmla="val 1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863840" y="1700784"/>
            <a:ext cx="35661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300" b="1" i="0">
                <a:solidFill>
                  <a:srgbClr val="0D9488"/>
                </a:solidFill>
                <a:latin typeface="Calibri"/>
              </a:rPr>
              <a:t>POR QUÉ IMPORTA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2148840"/>
            <a:ext cx="10698480" cy="868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" y="2377440"/>
            <a:ext cx="283464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"/>
              </a:rPr>
              <a:t>👤 1 persona sola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2377440"/>
            <a:ext cx="3749039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000" b="0" i="0">
                <a:solidFill>
                  <a:srgbClr val="0F172A"/>
                </a:solidFill>
                <a:latin typeface="Calibri"/>
              </a:rPr>
              <a:t>👥 Multitud, manos cruzadas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79" y="2377440"/>
            <a:ext cx="329184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800" b="1" i="0">
                <a:solidFill>
                  <a:srgbClr val="D97706"/>
                </a:solidFill>
                <a:latin typeface="Calibri"/>
              </a:rPr>
              <a:t>¿A quién sigue?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3154680"/>
            <a:ext cx="10698480" cy="868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4400" y="3383280"/>
            <a:ext cx="283464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"/>
              </a:rPr>
              <a:t>💡 Luz de laboratorio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31920" y="3383280"/>
            <a:ext cx="3749039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000" b="0" i="0">
                <a:solidFill>
                  <a:srgbClr val="0F172A"/>
                </a:solidFill>
                <a:latin typeface="Calibri"/>
              </a:rPr>
              <a:t>☀️ Sol, reflejos y sombras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79" y="3383280"/>
            <a:ext cx="329184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800" b="1" i="0">
                <a:solidFill>
                  <a:srgbClr val="D97706"/>
                </a:solidFill>
                <a:latin typeface="Calibri"/>
              </a:rPr>
              <a:t>Confunde a la cámara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4160520"/>
            <a:ext cx="10698480" cy="868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14400" y="4389120"/>
            <a:ext cx="283464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"/>
              </a:rPr>
              <a:t>📏 Distancia de 1 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4389120"/>
            <a:ext cx="3749039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000" b="0" i="0">
                <a:solidFill>
                  <a:srgbClr val="0F172A"/>
                </a:solidFill>
                <a:latin typeface="Calibri"/>
              </a:rPr>
              <a:t>📐 Público a 3–5 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55279" y="4389120"/>
            <a:ext cx="329184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800" b="1" i="0">
                <a:solidFill>
                  <a:srgbClr val="D97706"/>
                </a:solidFill>
                <a:latin typeface="Calibri"/>
              </a:rPr>
              <a:t>La mano se ve 3 a 5× más chica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5166360"/>
            <a:ext cx="10698480" cy="868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14400" y="5394960"/>
            <a:ext cx="283464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"/>
              </a:rPr>
              <a:t>💻 Laptop con cables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31920" y="5394960"/>
            <a:ext cx="3749039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000" b="0" i="0">
                <a:solidFill>
                  <a:srgbClr val="0F172A"/>
                </a:solidFill>
                <a:latin typeface="Calibri"/>
              </a:rPr>
              <a:t>📦 Sistema oculto en el marco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55279" y="5394960"/>
            <a:ext cx="329184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800" b="1" i="0">
                <a:solidFill>
                  <a:srgbClr val="D97706"/>
                </a:solidFill>
                <a:latin typeface="Calibri"/>
              </a:rPr>
              <a:t>Sin intervención humana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292608"/>
            <a:ext cx="1554480" cy="292608"/>
          </a:xfrm>
          <a:prstGeom prst="roundRect">
            <a:avLst>
              <a:gd name="adj" fmla="val 25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55448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0" i="0">
                <a:solidFill>
                  <a:srgbClr val="475569"/>
                </a:solidFill>
                <a:latin typeface="Calibri"/>
              </a:rPr>
              <a:t>PLANTEAMIENTO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395728" y="292608"/>
            <a:ext cx="1554480" cy="292608"/>
          </a:xfrm>
          <a:prstGeom prst="roundRect">
            <a:avLst>
              <a:gd name="adj" fmla="val 25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395728" y="320040"/>
            <a:ext cx="155448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0" i="0">
                <a:solidFill>
                  <a:srgbClr val="475569"/>
                </a:solidFill>
                <a:latin typeface="Calibri"/>
              </a:rPr>
              <a:t>DISEÑO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59936" y="292608"/>
            <a:ext cx="1554480" cy="292608"/>
          </a:xfrm>
          <a:prstGeom prst="roundRect">
            <a:avLst>
              <a:gd name="adj" fmla="val 25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059936" y="320040"/>
            <a:ext cx="155448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0" i="0">
                <a:solidFill>
                  <a:srgbClr val="475569"/>
                </a:solidFill>
                <a:latin typeface="Calibri"/>
              </a:rPr>
              <a:t>RESULTADOS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24144" y="292608"/>
            <a:ext cx="1554480" cy="292608"/>
          </a:xfrm>
          <a:prstGeom prst="round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724144" y="320040"/>
            <a:ext cx="155448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1" i="0">
                <a:solidFill>
                  <a:srgbClr val="0D9488"/>
                </a:solidFill>
                <a:latin typeface="Calibri"/>
              </a:rPr>
              <a:t>BRECHA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88352" y="292608"/>
            <a:ext cx="1554480" cy="292608"/>
          </a:xfrm>
          <a:prstGeom prst="roundRect">
            <a:avLst>
              <a:gd name="adj" fmla="val 25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88352" y="320040"/>
            <a:ext cx="155448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0" i="0">
                <a:solidFill>
                  <a:srgbClr val="475569"/>
                </a:solidFill>
                <a:latin typeface="Calibri"/>
              </a:rPr>
              <a:t>SIGUIENTES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Calibri"/>
              </a:rPr>
              <a:t>9/10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4000" b="1" i="0">
                <a:solidFill>
                  <a:srgbClr val="0F172A"/>
                </a:solidFill>
                <a:latin typeface="Calibri"/>
              </a:rPr>
              <a:t>10 minutos vs 12 horas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600200"/>
            <a:ext cx="10698480" cy="868680"/>
          </a:xfrm>
          <a:prstGeom prst="roundRect">
            <a:avLst>
              <a:gd name="adj" fmla="val 3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1645920"/>
            <a:ext cx="2926080" cy="7315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6600" b="1" i="0">
                <a:solidFill>
                  <a:srgbClr val="D97706"/>
                </a:solidFill>
                <a:latin typeface="Calibri"/>
              </a:rPr>
              <a:t>50–70×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1828800"/>
            <a:ext cx="6858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200" b="1" i="0">
                <a:solidFill>
                  <a:srgbClr val="0F172A"/>
                </a:solidFill>
                <a:latin typeface="Calibri"/>
              </a:rPr>
              <a:t>más tiempo de operación diaria en un museo frente a nuestras pruebas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606040"/>
            <a:ext cx="10698480" cy="71323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2770632"/>
            <a:ext cx="27432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Calibri"/>
              </a:rPr>
              <a:t>Pruebas de 10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2770632"/>
            <a:ext cx="384048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800" b="0" i="0">
                <a:solidFill>
                  <a:srgbClr val="0F172A"/>
                </a:solidFill>
                <a:latin typeface="Calibri"/>
              </a:rPr>
              <a:t>8 a 12 h cada día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2770632"/>
            <a:ext cx="338328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700" b="1" i="0">
                <a:solidFill>
                  <a:srgbClr val="DC2626"/>
                </a:solidFill>
                <a:latin typeface="Calibri"/>
              </a:rPr>
              <a:t>Calor acumulado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410712"/>
            <a:ext cx="10698480" cy="71323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4400" y="3575304"/>
            <a:ext cx="27432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Calibri"/>
              </a:rPr>
              <a:t>Nadie la toca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3575304"/>
            <a:ext cx="384048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800" b="0" i="0">
                <a:solidFill>
                  <a:srgbClr val="0F172A"/>
                </a:solidFill>
                <a:latin typeface="Calibri"/>
              </a:rPr>
              <a:t>Niños sujetando pétalos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3575304"/>
            <a:ext cx="338328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700" b="1" i="0">
                <a:solidFill>
                  <a:srgbClr val="DC2626"/>
                </a:solidFill>
                <a:latin typeface="Calibri"/>
              </a:rPr>
              <a:t>Es nuestro ensayo de atasco: 60 °C en 3 min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215384"/>
            <a:ext cx="10698480" cy="71323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14400" y="4379976"/>
            <a:ext cx="27432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Calibri"/>
              </a:rPr>
              <a:t>1 módulo en banco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0" y="4379976"/>
            <a:ext cx="384048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800" b="0" i="0">
                <a:solidFill>
                  <a:srgbClr val="0F172A"/>
                </a:solidFill>
                <a:latin typeface="Calibri"/>
              </a:rPr>
              <a:t>32 motores: hasta 25–30 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4379976"/>
            <a:ext cx="338328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700" b="1" i="0">
                <a:solidFill>
                  <a:srgbClr val="DC2626"/>
                </a:solidFill>
                <a:latin typeface="Calibri"/>
              </a:rPr>
              <a:t>Fuente industrial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5020056"/>
            <a:ext cx="10698480" cy="71323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4400" y="5184648"/>
            <a:ext cx="27432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Calibri"/>
              </a:rPr>
              <a:t>Reinicia un ingeniero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5184648"/>
            <a:ext cx="384048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800" b="0" i="0">
                <a:solidFill>
                  <a:srgbClr val="0F172A"/>
                </a:solidFill>
                <a:latin typeface="Calibri"/>
              </a:rPr>
              <a:t>Se auto-recupera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5184648"/>
            <a:ext cx="338328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700" b="1" i="0">
                <a:solidFill>
                  <a:srgbClr val="DC2626"/>
                </a:solidFill>
                <a:latin typeface="Calibri"/>
              </a:rPr>
              <a:t>Un panel falla, la pared sigue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" y="5943600"/>
            <a:ext cx="10698480" cy="548640"/>
          </a:xfrm>
          <a:prstGeom prst="roundRect">
            <a:avLst>
              <a:gd name="adj" fmla="val 3000"/>
            </a:avLst>
          </a:prstGeom>
          <a:solidFill>
            <a:srgbClr val="CCFBF1"/>
          </a:solidFill>
          <a:ln w="1905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14400" y="6053328"/>
            <a:ext cx="1033272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800" b="1" i="0">
                <a:solidFill>
                  <a:srgbClr val="0D9488"/>
                </a:solidFill>
                <a:latin typeface="Calibri"/>
              </a:rPr>
              <a:t>Falta un acople mecánico: que el pétalo ceda sin romper engranes ni lastimar dedos.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292608"/>
            <a:ext cx="1554480" cy="292608"/>
          </a:xfrm>
          <a:prstGeom prst="roundRect">
            <a:avLst>
              <a:gd name="adj" fmla="val 25000"/>
            </a:avLst>
          </a:prstGeom>
          <a:solidFill>
            <a:srgbClr val="1C2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55448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PLANTEAMIENTO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395728" y="292608"/>
            <a:ext cx="1554480" cy="292608"/>
          </a:xfrm>
          <a:prstGeom prst="roundRect">
            <a:avLst>
              <a:gd name="adj" fmla="val 25000"/>
            </a:avLst>
          </a:prstGeom>
          <a:solidFill>
            <a:srgbClr val="1C2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395728" y="320040"/>
            <a:ext cx="155448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DISEÑO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59936" y="292608"/>
            <a:ext cx="1554480" cy="292608"/>
          </a:xfrm>
          <a:prstGeom prst="roundRect">
            <a:avLst>
              <a:gd name="adj" fmla="val 25000"/>
            </a:avLst>
          </a:prstGeom>
          <a:solidFill>
            <a:srgbClr val="1C2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059936" y="320040"/>
            <a:ext cx="155448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RESULTADOS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24144" y="292608"/>
            <a:ext cx="1554480" cy="292608"/>
          </a:xfrm>
          <a:prstGeom prst="roundRect">
            <a:avLst>
              <a:gd name="adj" fmla="val 25000"/>
            </a:avLst>
          </a:prstGeom>
          <a:solidFill>
            <a:srgbClr val="1C2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724144" y="320040"/>
            <a:ext cx="155448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BRECHA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88352" y="292608"/>
            <a:ext cx="1554480" cy="292608"/>
          </a:xfrm>
          <a:prstGeom prst="roundRect">
            <a:avLst>
              <a:gd name="adj" fmla="val 25000"/>
            </a:avLst>
          </a:prstGeom>
          <a:solidFill>
            <a:srgbClr val="14B8A6"/>
          </a:solidFill>
          <a:ln w="1905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88352" y="320040"/>
            <a:ext cx="155448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SIGUIENTES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1300" b="0" i="0">
                <a:solidFill>
                  <a:srgbClr val="94A3B8"/>
                </a:solidFill>
                <a:latin typeface="Calibri"/>
              </a:rPr>
              <a:t>10/10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De prototipo a pared completa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645920"/>
            <a:ext cx="5212080" cy="3017520"/>
          </a:xfrm>
          <a:prstGeom prst="roundRect">
            <a:avLst>
              <a:gd name="adj" fmla="val 3000"/>
            </a:avLst>
          </a:prstGeom>
          <a:solidFill>
            <a:srgbClr val="1C2541"/>
          </a:solidFill>
          <a:ln w="1905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" y="1783080"/>
            <a:ext cx="475488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400" b="1" i="0">
                <a:solidFill>
                  <a:srgbClr val="14B8A6"/>
                </a:solidFill>
                <a:latin typeface="Calibri"/>
              </a:rPr>
              <a:t>Atendimos del Corte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331720"/>
            <a:ext cx="4754880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800" b="0" i="0">
                <a:solidFill>
                  <a:srgbClr val="F8FAFC"/>
                </a:solidFill>
                <a:latin typeface="Calibri"/>
              </a:rPr>
              <a:t>✓ Objetivos claros y delimitados (1 gen + 3 esp)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2971800"/>
            <a:ext cx="4754880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800" b="0" i="0">
                <a:solidFill>
                  <a:srgbClr val="F8FAFC"/>
                </a:solidFill>
                <a:latin typeface="Calibri"/>
              </a:rPr>
              <a:t>✓ Mediciones reales (682 lecturas térmicas)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611879"/>
            <a:ext cx="4754880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800" b="0" i="0">
                <a:solidFill>
                  <a:srgbClr val="F8FAFC"/>
                </a:solidFill>
                <a:latin typeface="Calibri"/>
              </a:rPr>
              <a:t>✓ Comparativa formal (MIT inFORM y comerciales)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645920"/>
            <a:ext cx="5212080" cy="3017520"/>
          </a:xfrm>
          <a:prstGeom prst="roundRect">
            <a:avLst>
              <a:gd name="adj" fmla="val 3000"/>
            </a:avLst>
          </a:prstGeom>
          <a:solidFill>
            <a:srgbClr val="1C2541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46520" y="1783080"/>
            <a:ext cx="475488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400" b="1" i="0">
                <a:solidFill>
                  <a:srgbClr val="D97706"/>
                </a:solidFill>
                <a:latin typeface="Calibri"/>
              </a:rPr>
              <a:t>Para el Corte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2331720"/>
            <a:ext cx="4754880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800" b="1" i="0">
                <a:solidFill>
                  <a:srgbClr val="F8FAFC"/>
                </a:solidFill>
                <a:latin typeface="Calibri"/>
              </a:rPr>
              <a:t>1  PCB de potencia definitiva (30 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2971800"/>
            <a:ext cx="4754880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800" b="1" i="0">
                <a:solidFill>
                  <a:srgbClr val="F8FAFC"/>
                </a:solidFill>
                <a:latin typeface="Calibri"/>
              </a:rPr>
              <a:t>2  Apagado automático por software (&lt; 15 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3611879"/>
            <a:ext cx="4754880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800" b="1" i="0">
                <a:solidFill>
                  <a:srgbClr val="F8FAFC"/>
                </a:solidFill>
                <a:latin typeface="Calibri"/>
              </a:rPr>
              <a:t>3  Colmena completa de 16 paneles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846320"/>
            <a:ext cx="10698480" cy="685800"/>
          </a:xfrm>
          <a:prstGeom prst="roundRect">
            <a:avLst>
              <a:gd name="adj" fmla="val 3000"/>
            </a:avLst>
          </a:prstGeom>
          <a:solidFill>
            <a:srgbClr val="1C2541"/>
          </a:solidFill>
          <a:ln w="1905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4400" y="4983480"/>
            <a:ext cx="1033272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2600" b="1" i="0">
                <a:solidFill>
                  <a:srgbClr val="14B8A6"/>
                </a:solidFill>
                <a:latin typeface="Calibri"/>
              </a:rPr>
              <a:t>SOFÍA ya te mira. Falta que aguante todo el día.</a:t>
            </a:r>
          </a:p>
        </p:txBody>
      </p:sp>
      <p:pic>
        <p:nvPicPr>
          <p:cNvPr id="26" name="Picture 25" descr="qr_githu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5705856"/>
            <a:ext cx="795527" cy="795527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737360" y="5897880"/>
            <a:ext cx="64008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github.com/PaolaCV14/IOT-SOFIA-2026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5806440"/>
            <a:ext cx="27432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2800" b="1" i="0">
                <a:solidFill>
                  <a:srgbClr val="14B8A6"/>
                </a:solidFill>
                <a:latin typeface="Calibri"/>
              </a:rPr>
              <a:t>¿Preguntas?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292608"/>
            <a:ext cx="1645920" cy="320040"/>
          </a:xfrm>
          <a:prstGeom prst="roundRect">
            <a:avLst>
              <a:gd name="adj" fmla="val 2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64592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RESPALDO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446520"/>
            <a:ext cx="118872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1300" b="1" i="0">
                <a:solidFill>
                  <a:srgbClr val="475569"/>
                </a:solidFill>
                <a:latin typeface="Calibri"/>
              </a:rPr>
              <a:t>RESPALDO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4000" b="1" i="0">
                <a:solidFill>
                  <a:srgbClr val="0F172A"/>
                </a:solidFill>
                <a:latin typeface="Calibri"/>
              </a:rPr>
              <a:t>Por dentro de SOFÍA: Arquitectura y Componentes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1005840"/>
          </a:xfrm>
          <a:prstGeom prst="roundRect">
            <a:avLst>
              <a:gd name="adj" fmla="val 3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1033272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Diagrama de señales y buses: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1033272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800" b="1" i="0">
                <a:solidFill>
                  <a:srgbClr val="0D9488"/>
                </a:solidFill>
                <a:latin typeface="Calibri"/>
              </a:rPr>
              <a:t>Cámara web  ➔  PC (Python + MediaPipe)  ➔  BLE  ➔  ESP32-C3  ➔  2x PCA9685 (I²C)  ➔  32 servos MG90S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34640"/>
            <a:ext cx="5943600" cy="34747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971800"/>
            <a:ext cx="557784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"/>
              </a:rPr>
              <a:t>Lista de Materiales (BOM 16 Módulos)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429000"/>
            <a:ext cx="557784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800" b="0" i="0">
                <a:solidFill>
                  <a:srgbClr val="475569"/>
                </a:solidFill>
                <a:latin typeface="Calibri"/>
              </a:rPr>
              <a:t>• 16 módulos panal PLA (diseño custom SOFIA003)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867912"/>
            <a:ext cx="557784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800" b="0" i="0">
                <a:solidFill>
                  <a:srgbClr val="475569"/>
                </a:solidFill>
                <a:latin typeface="Calibri"/>
              </a:rPr>
              <a:t>• 32 servomotores metálicos MG90S (TowerPro)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306824"/>
            <a:ext cx="557784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800" b="0" i="0">
                <a:solidFill>
                  <a:srgbClr val="475569"/>
                </a:solidFill>
                <a:latin typeface="Calibri"/>
              </a:rPr>
              <a:t>• 64 tornillos M3 × 10 mm (sujeción de servos y armazón)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745736"/>
            <a:ext cx="557784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800" b="0" i="0">
                <a:solidFill>
                  <a:srgbClr val="475569"/>
                </a:solidFill>
                <a:latin typeface="Calibri"/>
              </a:rPr>
              <a:t>• 2 controladores PWM I²C PCA9685 de 16 canales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184648"/>
            <a:ext cx="557784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800" b="0" i="0">
                <a:solidFill>
                  <a:srgbClr val="475569"/>
                </a:solidFill>
                <a:latin typeface="Calibri"/>
              </a:rPr>
              <a:t>• 1 microcontrolador ESP32-C3 Master (Wi-Fi / BLE)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623560"/>
            <a:ext cx="557784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800" b="0" i="0">
                <a:solidFill>
                  <a:srgbClr val="475569"/>
                </a:solidFill>
                <a:latin typeface="Calibri"/>
              </a:rPr>
              <a:t>• Banco: osciloscopio y termómetro láser (sin sensor en motor)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0" y="2834640"/>
            <a:ext cx="4572000" cy="34747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PC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4576" y="3013493"/>
            <a:ext cx="4498848" cy="311701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858000" y="6327648"/>
            <a:ext cx="4572000" cy="23774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0" i="1">
                <a:solidFill>
                  <a:srgbClr val="475569"/>
                </a:solidFill>
                <a:latin typeface="Calibri"/>
              </a:rPr>
              <a:t>Diseño PCB de potencia para 32 motores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292608"/>
            <a:ext cx="1645920" cy="320040"/>
          </a:xfrm>
          <a:prstGeom prst="roundRect">
            <a:avLst>
              <a:gd name="adj" fmla="val 2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64592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RESPALDO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446520"/>
            <a:ext cx="118872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1300" b="1" i="0">
                <a:solidFill>
                  <a:srgbClr val="475569"/>
                </a:solidFill>
                <a:latin typeface="Calibri"/>
              </a:rPr>
              <a:t>RESPALDO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4000" b="1" i="0">
                <a:solidFill>
                  <a:srgbClr val="0F172A"/>
                </a:solidFill>
                <a:latin typeface="Calibri"/>
              </a:rPr>
              <a:t>Preguntas probables de los jueces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1325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755648"/>
            <a:ext cx="484632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000" b="1" i="0">
                <a:solidFill>
                  <a:srgbClr val="0D9488"/>
                </a:solidFill>
                <a:latin typeface="Calibri"/>
              </a:rPr>
              <a:t>¿Por qué MG90S?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48840"/>
            <a:ext cx="4846320" cy="7315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800" b="0" i="0">
                <a:solidFill>
                  <a:srgbClr val="0F172A"/>
                </a:solidFill>
                <a:latin typeface="Calibri"/>
              </a:rPr>
              <a:t>Engranes metálicos, bajo costo y fácil de conseguir en volumen.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108960"/>
            <a:ext cx="5212080" cy="1325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3218688"/>
            <a:ext cx="484632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000" b="1" i="0">
                <a:solidFill>
                  <a:srgbClr val="0D9488"/>
                </a:solidFill>
                <a:latin typeface="Calibri"/>
              </a:rPr>
              <a:t>¿Cómo detectan el atasco?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611880"/>
            <a:ext cx="4846320" cy="7315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800" b="0" i="0">
                <a:solidFill>
                  <a:srgbClr val="0F172A"/>
                </a:solidFill>
                <a:latin typeface="Calibri"/>
              </a:rPr>
              <a:t>El servo no tiene sensor interno ni avisa calor; usamos corte por software a 15 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572000"/>
            <a:ext cx="5212080" cy="1325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4681728"/>
            <a:ext cx="484632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000" b="1" i="0">
                <a:solidFill>
                  <a:srgbClr val="0D9488"/>
                </a:solidFill>
                <a:latin typeface="Calibri"/>
              </a:rPr>
              <a:t>¿Por qué 15 segundos?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074920"/>
            <a:ext cx="4846320" cy="7315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800" b="0" i="0">
                <a:solidFill>
                  <a:srgbClr val="0F172A"/>
                </a:solidFill>
                <a:latin typeface="Calibri"/>
              </a:rPr>
              <a:t>En 15 s solo sube ~7 °C; llegar a 60 °C toma 3 min (medido con láser y osciloscopio).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645920"/>
            <a:ext cx="5212080" cy="1325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0" y="1755648"/>
            <a:ext cx="484632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000" b="1" i="0">
                <a:solidFill>
                  <a:srgbClr val="0D9488"/>
                </a:solidFill>
                <a:latin typeface="Calibri"/>
              </a:rPr>
              <a:t>¿Qué pasa con varias personas?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148840"/>
            <a:ext cx="4846320" cy="7315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800" b="0" i="0">
                <a:solidFill>
                  <a:srgbClr val="0F172A"/>
                </a:solidFill>
                <a:latin typeface="Calibri"/>
              </a:rPr>
              <a:t>Es la brecha número 1 que identificamos; hoy probamos con una.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108960"/>
            <a:ext cx="5212080" cy="1325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0" y="3218688"/>
            <a:ext cx="484632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000" b="1" i="0">
                <a:solidFill>
                  <a:srgbClr val="0D9488"/>
                </a:solidFill>
                <a:latin typeface="Calibri"/>
              </a:rPr>
              <a:t>¿Cuánto cuesta vs comercial?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611880"/>
            <a:ext cx="4846320" cy="7315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800" b="0" i="0">
                <a:solidFill>
                  <a:srgbClr val="0F172A"/>
                </a:solidFill>
                <a:latin typeface="Calibri"/>
              </a:rPr>
              <a:t>Aún no tenemos costeo final; usamos piezas comerciales de bajo costo (servo, ESP32, PLA).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572000"/>
            <a:ext cx="5212080" cy="1325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0" y="4681728"/>
            <a:ext cx="484632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000" b="1" i="0">
                <a:solidFill>
                  <a:srgbClr val="0D9488"/>
                </a:solidFill>
                <a:latin typeface="Calibri"/>
              </a:rPr>
              <a:t>¿Cumplen menos de 100 ms?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074920"/>
            <a:ext cx="4846320" cy="7315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800" b="0" i="0">
                <a:solidFill>
                  <a:srgbClr val="0F172A"/>
                </a:solidFill>
                <a:latin typeface="Calibri"/>
              </a:rPr>
              <a:t>Es el criterio de diseño; está en proceso de validación con video de alta velocidad.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1881</Words>
  <Application>Microsoft Macintosh PowerPoint</Application>
  <PresentationFormat>Panorámica</PresentationFormat>
  <Paragraphs>233</Paragraphs>
  <Slides>12</Slides>
  <Notes>12</Notes>
  <HiddenSlides>2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OROZCO QUIRARTE, JUAN BERNARDO</cp:lastModifiedBy>
  <cp:revision>4</cp:revision>
  <dcterms:created xsi:type="dcterms:W3CDTF">2013-01-27T09:14:16Z</dcterms:created>
  <dcterms:modified xsi:type="dcterms:W3CDTF">2026-10-19T08:30:59Z</dcterms:modified>
  <cp:category/>
</cp:coreProperties>
</file>