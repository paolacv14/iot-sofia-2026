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15 s</a:t>
            </a:r>
          </a:p>
          <a:p>
            <a:r>
              <a:t>Somos el equipo de SOFÍA: una pared de paneles panal que te mira y te responde. Hoy les contamos qué construimos, qué medimos y por qué todavía no está lista para un museo.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50 s</a:t>
            </a:r>
          </a:p>
          <a:p>
            <a:r>
              <a:t>Las paredes cinéticas de museos y aeropuertos son caras, usan motores industriales cerrados y, si algo las detiene, el motor se sobrecalienta. Queremos una alternativa modular y accesible, impresa en 3D, que te siga en vivo y se proteja sola. Hoy estamos en el Corte 2: ya hay prototipo que responde; el Corte 3 es la pared completa.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40 s</a:t>
            </a:r>
          </a:p>
          <a:p>
            <a:r>
              <a:t>Hay obras espectaculares como inFORM del MIT, que mueve 900 pines pero vive en un laboratorio, y esculturas de aeropuerto que repiten una coreografía grabada sin verte. SOFÍA te ve en vivo, es modular en 3D, y además mide cuánto calor y corriente aguanta su motor atorado. Instrumentamos el motor con un sensor LM35 y un INA219 para diseñar su autoprotección.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55 s</a:t>
            </a:r>
          </a:p>
          <a:p>
            <a:r>
              <a:t>Medimos tres cosas, cada una con su línea roja: la velocidad de la cámara a 30 FPS con referencia rápida a 120 FPS, la respuesta a gestos y el calor y corriente del motor con sensores LM35 e INA219 bajo un tope de atasco. Y probamos la cadena completa: cámara web a 30 FPS, MediaPipe, Bluetooth, ESP32 con dos PCA9685 y los paneles.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40 s</a:t>
            </a:r>
          </a:p>
          <a:p>
            <a:r>
              <a:t>El software lee tu cuerpo y tus dos manos en 3D a más de 30 cuadros por segundo y reconoce saludo, corazón y piedra-papel-tijera. Antes de mover motores reales, simulamos en Unity cómo los 16 paneles giran hacia ti.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45 s</a:t>
            </a:r>
          </a:p>
          <a:p>
            <a:r>
              <a:t>En el prototipo físico, la persona saluda y el panel responde. Cámara y Bluetooth tardan 45 a 50 milisegundos, y el servo 75 a 180 ms. En uso normal el motor está bajo 30 grados; el corte a 15 segundos ya está diseñado y falta programarlo en el firmware.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50 s</a:t>
            </a:r>
          </a:p>
          <a:p>
            <a:r>
              <a:t>Este es nuestro hallazgo clave: sin carga el motor no se calienta. Pero atorado con un tope, sube unos 13 grados por minuto hasta llegar a 64.8 grados en menos de cuatro minutos; a los tres minutos ya pasa de 55 grados, entrando a zona de riesgo. Con nuestro corte automático a 15 segundos solo sube 3 grados, protegiendo el plástico.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40 s</a:t>
            </a:r>
          </a:p>
          <a:p>
            <a:r>
              <a:t>En el laboratorio probamos con una persona, a un metro y con luz controlada. En un museo hay multitud, sol y sombras, y gente a tres o cinco metros, donde la mano se ve entre tres y cinco veces más chica. Además hoy dependemos de una laptop con cables; en una instalación el sistema debe ir oculto en el marco.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45 s</a:t>
            </a:r>
          </a:p>
          <a:p>
            <a:r>
              <a:t>En operación, un museo exige 12 horas seguidas. Los 32 motores demandan hasta 23 amperes al arrancar juntos, requiriendo fuente de 25 amperes. Si un niño jala un pétalo, el motor consume 0.9 amperes y disipa 4.6 watts de calor. Además, los pétalos se rozan por tolerancias de impresión, exigiendo un acople que ceda sin romperse.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40 s</a:t>
            </a:r>
          </a:p>
          <a:p>
            <a:r>
              <a:t>De los comentarios del Primer Corte atendimos tres cosas: objetivos delimitados, mediciones reales con 682 lecturas térmicas y corriente de 0.9 amperes en atasco, y comparativa formal. Para el Corte 3 fabricaremos la PCB de potencia de 25 amperes, el apagado automático por software y los 16 paneles. SOFÍA ya te mira; falta que aguante todo el día. Gracias, abrimos preguntas.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respaldo B1: Arquitectura electrónica interna y lista detallada de componentes para responder dudas técnicas sobre cableado, buses I2C y distribución de corriente.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respaldo B2: Respuestas sintéticas de una línea listas para proyectar si los jueces profundizan en la justificación de componentes, detección de atasco o costo.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016"/>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02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914400"/>
            <a:ext cx="5120640" cy="1005840"/>
          </a:xfrm>
          <a:prstGeom prst="rect">
            <a:avLst/>
          </a:prstGeom>
          <a:noFill/>
        </p:spPr>
        <p:txBody>
          <a:bodyPr wrap="square" anchor="t" lIns="36576" rIns="36576" tIns="18288" bIns="18288">
            <a:spAutoFit/>
          </a:bodyPr>
          <a:lstStyle/>
          <a:p>
            <a:pPr algn="l"/>
            <a:r>
              <a:rPr sz="6800" b="1" i="0">
                <a:solidFill>
                  <a:srgbClr val="FFFFFF"/>
                </a:solidFill>
                <a:latin typeface="Calibri"/>
              </a:rPr>
              <a:t>SOFÍA</a:t>
            </a:r>
          </a:p>
        </p:txBody>
      </p:sp>
      <p:sp>
        <p:nvSpPr>
          <p:cNvPr id="4" name="TextBox 3"/>
          <p:cNvSpPr txBox="1"/>
          <p:nvPr/>
        </p:nvSpPr>
        <p:spPr>
          <a:xfrm>
            <a:off x="731520" y="2011680"/>
            <a:ext cx="5120640" cy="548640"/>
          </a:xfrm>
          <a:prstGeom prst="rect">
            <a:avLst/>
          </a:prstGeom>
          <a:noFill/>
        </p:spPr>
        <p:txBody>
          <a:bodyPr wrap="square" anchor="t" lIns="36576" rIns="36576" tIns="18288" bIns="18288">
            <a:spAutoFit/>
          </a:bodyPr>
          <a:lstStyle/>
          <a:p>
            <a:pPr algn="l"/>
            <a:r>
              <a:rPr sz="3000" b="1" i="0">
                <a:solidFill>
                  <a:srgbClr val="E024A5"/>
                </a:solidFill>
                <a:latin typeface="Calibri"/>
              </a:rPr>
              <a:t>La pared robótica que te mira</a:t>
            </a:r>
          </a:p>
        </p:txBody>
      </p:sp>
      <p:sp>
        <p:nvSpPr>
          <p:cNvPr id="5" name="TextBox 4"/>
          <p:cNvSpPr txBox="1"/>
          <p:nvPr/>
        </p:nvSpPr>
        <p:spPr>
          <a:xfrm>
            <a:off x="731520" y="2697480"/>
            <a:ext cx="4937760" cy="1371600"/>
          </a:xfrm>
          <a:prstGeom prst="rect">
            <a:avLst/>
          </a:prstGeom>
          <a:noFill/>
        </p:spPr>
        <p:txBody>
          <a:bodyPr wrap="square" anchor="t" lIns="36576" rIns="36576" tIns="18288" bIns="18288">
            <a:spAutoFit/>
          </a:bodyPr>
          <a:lstStyle/>
          <a:p>
            <a:pPr algn="l"/>
            <a:r>
              <a:rPr sz="2200" b="0" i="0">
                <a:solidFill>
                  <a:srgbClr val="FAF5FF"/>
                </a:solidFill>
                <a:latin typeface="Calibri"/>
              </a:rPr>
              <a:t>Paneles impresos en 3D que te siguen, reaccionan a tus gestos y no se queman</a:t>
            </a:r>
          </a:p>
        </p:txBody>
      </p:sp>
      <p:sp>
        <p:nvSpPr>
          <p:cNvPr id="6" name="TextBox 5"/>
          <p:cNvSpPr txBox="1"/>
          <p:nvPr/>
        </p:nvSpPr>
        <p:spPr>
          <a:xfrm>
            <a:off x="731520" y="5120640"/>
            <a:ext cx="5120640" cy="1188720"/>
          </a:xfrm>
          <a:prstGeom prst="rect">
            <a:avLst/>
          </a:prstGeom>
          <a:noFill/>
        </p:spPr>
        <p:txBody>
          <a:bodyPr wrap="square" anchor="t" lIns="36576" rIns="36576" tIns="18288" bIns="18288">
            <a:spAutoFit/>
          </a:bodyPr>
          <a:lstStyle/>
          <a:p>
            <a:pPr algn="l"/>
            <a:r>
              <a:rPr sz="1300" b="0" i="0">
                <a:solidFill>
                  <a:srgbClr val="C4B5FD"/>
                </a:solidFill>
                <a:latin typeface="Calibri"/>
              </a:rPr>
              <a:t>LabDST · ITESO · Segundo Corte · Otoño 2026</a:t>
            </a:r>
          </a:p>
          <a:p>
            <a:pPr algn="l"/>
            <a:r>
              <a:rPr sz="1300" b="0" i="0">
                <a:solidFill>
                  <a:srgbClr val="C4B5FD"/>
                </a:solidFill>
                <a:latin typeface="Calibri"/>
              </a:rPr>
              <a:t>Equipo: Paola Covarrubias · Lizeth Méndez · Bernardo Orozco · Karen Sánchez · Alan Fuentes</a:t>
            </a:r>
          </a:p>
        </p:txBody>
      </p:sp>
      <p:sp>
        <p:nvSpPr>
          <p:cNvPr id="7" name="Rounded Rectangle 6"/>
          <p:cNvSpPr/>
          <p:nvPr/>
        </p:nvSpPr>
        <p:spPr>
          <a:xfrm>
            <a:off x="6035040" y="914400"/>
            <a:ext cx="5394960" cy="2926080"/>
          </a:xfrm>
          <a:prstGeom prst="roundRect">
            <a:avLst>
              <a:gd name="adj" fmla="val 2000"/>
            </a:avLst>
          </a:prstGeom>
          <a:solidFill>
            <a:srgbClr val="171824"/>
          </a:solidFill>
          <a:ln w="19050">
            <a:solidFill>
              <a:srgbClr val="E02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ofia_solid.png"/>
          <p:cNvPicPr>
            <a:picLocks noChangeAspect="1"/>
          </p:cNvPicPr>
          <p:nvPr/>
        </p:nvPicPr>
        <p:blipFill>
          <a:blip r:embed="rId3"/>
          <a:stretch>
            <a:fillRect/>
          </a:stretch>
        </p:blipFill>
        <p:spPr>
          <a:xfrm>
            <a:off x="7245297" y="950976"/>
            <a:ext cx="2974446" cy="2852928"/>
          </a:xfrm>
          <a:prstGeom prst="rect">
            <a:avLst/>
          </a:prstGeom>
        </p:spPr>
      </p:pic>
      <p:sp>
        <p:nvSpPr>
          <p:cNvPr id="9" name="TextBox 8"/>
          <p:cNvSpPr txBox="1"/>
          <p:nvPr/>
        </p:nvSpPr>
        <p:spPr>
          <a:xfrm>
            <a:off x="6035040" y="3877056"/>
            <a:ext cx="5394960" cy="237744"/>
          </a:xfrm>
          <a:prstGeom prst="rect">
            <a:avLst/>
          </a:prstGeom>
          <a:noFill/>
        </p:spPr>
        <p:txBody>
          <a:bodyPr wrap="square" anchor="t" lIns="36576" rIns="36576" tIns="18288" bIns="18288">
            <a:spAutoFit/>
          </a:bodyPr>
          <a:lstStyle/>
          <a:p>
            <a:pPr algn="ctr"/>
            <a:r>
              <a:rPr sz="1200" b="0" i="1">
                <a:solidFill>
                  <a:srgbClr val="C4B5FD"/>
                </a:solidFill>
                <a:latin typeface="Calibri"/>
              </a:rPr>
              <a:t>Módulo cinético en panal</a:t>
            </a:r>
          </a:p>
        </p:txBody>
      </p:sp>
      <p:sp>
        <p:nvSpPr>
          <p:cNvPr id="10" name="Rounded Rectangle 9"/>
          <p:cNvSpPr/>
          <p:nvPr/>
        </p:nvSpPr>
        <p:spPr>
          <a:xfrm>
            <a:off x="6035040" y="4297680"/>
            <a:ext cx="5394960" cy="1645920"/>
          </a:xfrm>
          <a:prstGeom prst="roundRect">
            <a:avLst>
              <a:gd name="adj" fmla="val 2000"/>
            </a:avLst>
          </a:prstGeom>
          <a:solidFill>
            <a:srgbClr val="171824"/>
          </a:solidFill>
          <a:ln w="19050">
            <a:solidFill>
              <a:srgbClr val="E02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modulo_fisico.png"/>
          <p:cNvPicPr>
            <a:picLocks noChangeAspect="1"/>
          </p:cNvPicPr>
          <p:nvPr/>
        </p:nvPicPr>
        <p:blipFill>
          <a:blip r:embed="rId4"/>
          <a:stretch>
            <a:fillRect/>
          </a:stretch>
        </p:blipFill>
        <p:spPr>
          <a:xfrm>
            <a:off x="7132790" y="4334256"/>
            <a:ext cx="3199459" cy="1572768"/>
          </a:xfrm>
          <a:prstGeom prst="rect">
            <a:avLst/>
          </a:prstGeom>
        </p:spPr>
      </p:pic>
      <p:sp>
        <p:nvSpPr>
          <p:cNvPr id="12" name="TextBox 11"/>
          <p:cNvSpPr txBox="1"/>
          <p:nvPr/>
        </p:nvSpPr>
        <p:spPr>
          <a:xfrm>
            <a:off x="6035040" y="5980176"/>
            <a:ext cx="5394960" cy="237744"/>
          </a:xfrm>
          <a:prstGeom prst="rect">
            <a:avLst/>
          </a:prstGeom>
          <a:noFill/>
        </p:spPr>
        <p:txBody>
          <a:bodyPr wrap="square" anchor="t" lIns="36576" rIns="36576" tIns="18288" bIns="18288">
            <a:spAutoFit/>
          </a:bodyPr>
          <a:lstStyle/>
          <a:p>
            <a:pPr algn="ctr"/>
            <a:r>
              <a:rPr sz="1200" b="0" i="1">
                <a:solidFill>
                  <a:srgbClr val="C4B5FD"/>
                </a:solidFill>
                <a:latin typeface="Calibri"/>
              </a:rPr>
              <a:t>Prototipo físico armado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C"/>
        </a:solidFill>
        <a:effectLst/>
      </p:bgPr>
    </p:bg>
    <p:spTree>
      <p:nvGrpSpPr>
        <p:cNvPr id="1" name=""/>
        <p:cNvGrpSpPr/>
        <p:nvPr/>
      </p:nvGrpSpPr>
      <p:grpSpPr/>
      <p:sp>
        <p:nvSpPr>
          <p:cNvPr id="2" name="Rounded Rectangle 1"/>
          <p:cNvSpPr/>
          <p:nvPr/>
        </p:nvSpPr>
        <p:spPr>
          <a:xfrm>
            <a:off x="731520" y="292608"/>
            <a:ext cx="1554480" cy="292608"/>
          </a:xfrm>
          <a:prstGeom prst="roundRect">
            <a:avLst>
              <a:gd name="adj" fmla="val 25000"/>
            </a:avLst>
          </a:prstGeom>
          <a:solidFill>
            <a:srgbClr val="FDE8F5"/>
          </a:solidFill>
          <a:ln w="19050">
            <a:solidFill>
              <a:srgbClr val="E02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554480" cy="292608"/>
          </a:xfrm>
          <a:prstGeom prst="rect">
            <a:avLst/>
          </a:prstGeom>
          <a:noFill/>
        </p:spPr>
        <p:txBody>
          <a:bodyPr wrap="square" anchor="t" lIns="36576" rIns="36576" tIns="18288" bIns="18288">
            <a:spAutoFit/>
          </a:bodyPr>
          <a:lstStyle/>
          <a:p>
            <a:pPr algn="ctr"/>
            <a:r>
              <a:rPr sz="1200" b="1" i="0">
                <a:solidFill>
                  <a:srgbClr val="C026D3"/>
                </a:solidFill>
                <a:latin typeface="Calibri"/>
              </a:rPr>
              <a:t>PLANTEAMIENTO</a:t>
            </a:r>
          </a:p>
        </p:txBody>
      </p:sp>
      <p:sp>
        <p:nvSpPr>
          <p:cNvPr id="4" name="Rounded Rectangle 3"/>
          <p:cNvSpPr/>
          <p:nvPr/>
        </p:nvSpPr>
        <p:spPr>
          <a:xfrm>
            <a:off x="2395728" y="292608"/>
            <a:ext cx="1554480" cy="292608"/>
          </a:xfrm>
          <a:prstGeom prst="roundRect">
            <a:avLst>
              <a:gd name="adj" fmla="val 25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395728" y="320040"/>
            <a:ext cx="1554480" cy="292608"/>
          </a:xfrm>
          <a:prstGeom prst="rect">
            <a:avLst/>
          </a:prstGeom>
          <a:noFill/>
        </p:spPr>
        <p:txBody>
          <a:bodyPr wrap="square" anchor="t" lIns="36576" rIns="36576" tIns="18288" bIns="18288">
            <a:spAutoFit/>
          </a:bodyPr>
          <a:lstStyle/>
          <a:p>
            <a:pPr algn="ctr"/>
            <a:r>
              <a:rPr sz="1200" b="0" i="0">
                <a:solidFill>
                  <a:srgbClr val="665480"/>
                </a:solidFill>
                <a:latin typeface="Calibri"/>
              </a:rPr>
              <a:t>DISEÑO</a:t>
            </a:r>
          </a:p>
        </p:txBody>
      </p:sp>
      <p:sp>
        <p:nvSpPr>
          <p:cNvPr id="6" name="Rounded Rectangle 5"/>
          <p:cNvSpPr/>
          <p:nvPr/>
        </p:nvSpPr>
        <p:spPr>
          <a:xfrm>
            <a:off x="4059936" y="292608"/>
            <a:ext cx="1554480" cy="292608"/>
          </a:xfrm>
          <a:prstGeom prst="roundRect">
            <a:avLst>
              <a:gd name="adj" fmla="val 25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59936" y="320040"/>
            <a:ext cx="1554480" cy="292608"/>
          </a:xfrm>
          <a:prstGeom prst="rect">
            <a:avLst/>
          </a:prstGeom>
          <a:noFill/>
        </p:spPr>
        <p:txBody>
          <a:bodyPr wrap="square" anchor="t" lIns="36576" rIns="36576" tIns="18288" bIns="18288">
            <a:spAutoFit/>
          </a:bodyPr>
          <a:lstStyle/>
          <a:p>
            <a:pPr algn="ctr"/>
            <a:r>
              <a:rPr sz="1200" b="0" i="0">
                <a:solidFill>
                  <a:srgbClr val="665480"/>
                </a:solidFill>
                <a:latin typeface="Calibri"/>
              </a:rPr>
              <a:t>RESULTADOS</a:t>
            </a:r>
          </a:p>
        </p:txBody>
      </p:sp>
      <p:sp>
        <p:nvSpPr>
          <p:cNvPr id="8" name="Rounded Rectangle 7"/>
          <p:cNvSpPr/>
          <p:nvPr/>
        </p:nvSpPr>
        <p:spPr>
          <a:xfrm>
            <a:off x="5724144" y="292608"/>
            <a:ext cx="1554480" cy="292608"/>
          </a:xfrm>
          <a:prstGeom prst="roundRect">
            <a:avLst>
              <a:gd name="adj" fmla="val 25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24144" y="320040"/>
            <a:ext cx="1554480" cy="292608"/>
          </a:xfrm>
          <a:prstGeom prst="rect">
            <a:avLst/>
          </a:prstGeom>
          <a:noFill/>
        </p:spPr>
        <p:txBody>
          <a:bodyPr wrap="square" anchor="t" lIns="36576" rIns="36576" tIns="18288" bIns="18288">
            <a:spAutoFit/>
          </a:bodyPr>
          <a:lstStyle/>
          <a:p>
            <a:pPr algn="ctr"/>
            <a:r>
              <a:rPr sz="1200" b="0" i="0">
                <a:solidFill>
                  <a:srgbClr val="665480"/>
                </a:solidFill>
                <a:latin typeface="Calibri"/>
              </a:rPr>
              <a:t>BRECHA</a:t>
            </a:r>
          </a:p>
        </p:txBody>
      </p:sp>
      <p:sp>
        <p:nvSpPr>
          <p:cNvPr id="10" name="Rounded Rectangle 9"/>
          <p:cNvSpPr/>
          <p:nvPr/>
        </p:nvSpPr>
        <p:spPr>
          <a:xfrm>
            <a:off x="7388352" y="292608"/>
            <a:ext cx="1554480" cy="292608"/>
          </a:xfrm>
          <a:prstGeom prst="roundRect">
            <a:avLst>
              <a:gd name="adj" fmla="val 25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88352" y="320040"/>
            <a:ext cx="1554480" cy="292608"/>
          </a:xfrm>
          <a:prstGeom prst="rect">
            <a:avLst/>
          </a:prstGeom>
          <a:noFill/>
        </p:spPr>
        <p:txBody>
          <a:bodyPr wrap="square" anchor="t" lIns="36576" rIns="36576" tIns="18288" bIns="18288">
            <a:spAutoFit/>
          </a:bodyPr>
          <a:lstStyle/>
          <a:p>
            <a:pPr algn="ctr"/>
            <a:r>
              <a:rPr sz="1200" b="0" i="0">
                <a:solidFill>
                  <a:srgbClr val="665480"/>
                </a:solidFill>
                <a:latin typeface="Calibri"/>
              </a:rPr>
              <a:t>SIGUIENTES</a:t>
            </a:r>
          </a:p>
        </p:txBody>
      </p:sp>
      <p:sp>
        <p:nvSpPr>
          <p:cNvPr id="12" name="TextBox 11"/>
          <p:cNvSpPr txBox="1"/>
          <p:nvPr/>
        </p:nvSpPr>
        <p:spPr>
          <a:xfrm>
            <a:off x="10972800" y="6446520"/>
            <a:ext cx="731520" cy="274320"/>
          </a:xfrm>
          <a:prstGeom prst="rect">
            <a:avLst/>
          </a:prstGeom>
          <a:noFill/>
        </p:spPr>
        <p:txBody>
          <a:bodyPr wrap="square" anchor="t" lIns="36576" rIns="36576" tIns="18288" bIns="18288">
            <a:spAutoFit/>
          </a:bodyPr>
          <a:lstStyle/>
          <a:p>
            <a:pPr algn="r"/>
            <a:r>
              <a:rPr sz="1300" b="0" i="0">
                <a:solidFill>
                  <a:srgbClr val="665480"/>
                </a:solidFill>
                <a:latin typeface="Calibri"/>
              </a:rPr>
              <a:t>2/10</a:t>
            </a:r>
          </a:p>
        </p:txBody>
      </p:sp>
      <p:sp>
        <p:nvSpPr>
          <p:cNvPr id="13" name="TextBox 12"/>
          <p:cNvSpPr txBox="1"/>
          <p:nvPr/>
        </p:nvSpPr>
        <p:spPr>
          <a:xfrm>
            <a:off x="731520" y="685800"/>
            <a:ext cx="10698480" cy="777240"/>
          </a:xfrm>
          <a:prstGeom prst="rect">
            <a:avLst/>
          </a:prstGeom>
          <a:noFill/>
        </p:spPr>
        <p:txBody>
          <a:bodyPr wrap="square" anchor="t" lIns="36576" rIns="36576" tIns="18288" bIns="18288">
            <a:spAutoFit/>
          </a:bodyPr>
          <a:lstStyle/>
          <a:p>
            <a:pPr algn="l"/>
            <a:r>
              <a:rPr sz="4000" b="1" i="0">
                <a:solidFill>
                  <a:srgbClr val="181824"/>
                </a:solidFill>
                <a:latin typeface="Calibri"/>
              </a:rPr>
              <a:t>Las paredes interactivas cuestan mucho y se queman</a:t>
            </a:r>
          </a:p>
        </p:txBody>
      </p:sp>
      <p:sp>
        <p:nvSpPr>
          <p:cNvPr id="14" name="Rounded Rectangle 13"/>
          <p:cNvSpPr/>
          <p:nvPr/>
        </p:nvSpPr>
        <p:spPr>
          <a:xfrm>
            <a:off x="731520" y="1645920"/>
            <a:ext cx="5120640" cy="3657600"/>
          </a:xfrm>
          <a:prstGeom prst="roundRect">
            <a:avLst>
              <a:gd name="adj" fmla="val 3000"/>
            </a:avLst>
          </a:prstGeom>
          <a:solidFill>
            <a:srgbClr val="FFFFFF"/>
          </a:solidFill>
          <a:ln w="19050">
            <a:solidFill>
              <a:srgbClr val="6654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1783080"/>
            <a:ext cx="4754880" cy="365760"/>
          </a:xfrm>
          <a:prstGeom prst="rect">
            <a:avLst/>
          </a:prstGeom>
          <a:noFill/>
        </p:spPr>
        <p:txBody>
          <a:bodyPr wrap="square" anchor="t" lIns="36576" rIns="36576" tIns="18288" bIns="18288">
            <a:spAutoFit/>
          </a:bodyPr>
          <a:lstStyle/>
          <a:p>
            <a:pPr algn="l"/>
            <a:r>
              <a:rPr sz="2200" b="1" i="0">
                <a:solidFill>
                  <a:srgbClr val="181824"/>
                </a:solidFill>
                <a:latin typeface="Calibri"/>
              </a:rPr>
              <a:t>💰 Carísimas</a:t>
            </a:r>
          </a:p>
        </p:txBody>
      </p:sp>
      <p:sp>
        <p:nvSpPr>
          <p:cNvPr id="16" name="TextBox 15"/>
          <p:cNvSpPr txBox="1"/>
          <p:nvPr/>
        </p:nvSpPr>
        <p:spPr>
          <a:xfrm>
            <a:off x="914400" y="2167128"/>
            <a:ext cx="4754880" cy="411480"/>
          </a:xfrm>
          <a:prstGeom prst="rect">
            <a:avLst/>
          </a:prstGeom>
          <a:noFill/>
        </p:spPr>
        <p:txBody>
          <a:bodyPr wrap="square" anchor="t" lIns="36576" rIns="36576" tIns="18288" bIns="18288">
            <a:spAutoFit/>
          </a:bodyPr>
          <a:lstStyle/>
          <a:p>
            <a:pPr algn="l"/>
            <a:r>
              <a:rPr sz="2000" b="0" i="0">
                <a:solidFill>
                  <a:srgbClr val="665480"/>
                </a:solidFill>
                <a:latin typeface="Calibri"/>
              </a:rPr>
              <a:t>Motores inaccesibles de alto costo</a:t>
            </a:r>
          </a:p>
        </p:txBody>
      </p:sp>
      <p:sp>
        <p:nvSpPr>
          <p:cNvPr id="17" name="TextBox 16"/>
          <p:cNvSpPr txBox="1"/>
          <p:nvPr/>
        </p:nvSpPr>
        <p:spPr>
          <a:xfrm>
            <a:off x="914400" y="2743200"/>
            <a:ext cx="4754880" cy="365760"/>
          </a:xfrm>
          <a:prstGeom prst="rect">
            <a:avLst/>
          </a:prstGeom>
          <a:noFill/>
        </p:spPr>
        <p:txBody>
          <a:bodyPr wrap="square" anchor="t" lIns="36576" rIns="36576" tIns="18288" bIns="18288">
            <a:spAutoFit/>
          </a:bodyPr>
          <a:lstStyle/>
          <a:p>
            <a:pPr algn="l"/>
            <a:r>
              <a:rPr sz="2200" b="1" i="0">
                <a:solidFill>
                  <a:srgbClr val="181824"/>
                </a:solidFill>
                <a:latin typeface="Calibri"/>
              </a:rPr>
              <a:t>🔒 Cerradas</a:t>
            </a:r>
          </a:p>
        </p:txBody>
      </p:sp>
      <p:sp>
        <p:nvSpPr>
          <p:cNvPr id="18" name="TextBox 17"/>
          <p:cNvSpPr txBox="1"/>
          <p:nvPr/>
        </p:nvSpPr>
        <p:spPr>
          <a:xfrm>
            <a:off x="914400" y="3127248"/>
            <a:ext cx="4754880" cy="411480"/>
          </a:xfrm>
          <a:prstGeom prst="rect">
            <a:avLst/>
          </a:prstGeom>
          <a:noFill/>
        </p:spPr>
        <p:txBody>
          <a:bodyPr wrap="square" anchor="t" lIns="36576" rIns="36576" tIns="18288" bIns="18288">
            <a:spAutoFit/>
          </a:bodyPr>
          <a:lstStyle/>
          <a:p>
            <a:pPr algn="l"/>
            <a:r>
              <a:rPr sz="2000" b="0" i="0">
                <a:solidFill>
                  <a:srgbClr val="665480"/>
                </a:solidFill>
                <a:latin typeface="Calibri"/>
              </a:rPr>
              <a:t>Mecánica compleja, difícil de reparar</a:t>
            </a:r>
          </a:p>
        </p:txBody>
      </p:sp>
      <p:sp>
        <p:nvSpPr>
          <p:cNvPr id="19" name="TextBox 18"/>
          <p:cNvSpPr txBox="1"/>
          <p:nvPr/>
        </p:nvSpPr>
        <p:spPr>
          <a:xfrm>
            <a:off x="914400" y="3703320"/>
            <a:ext cx="4754880" cy="365760"/>
          </a:xfrm>
          <a:prstGeom prst="rect">
            <a:avLst/>
          </a:prstGeom>
          <a:noFill/>
        </p:spPr>
        <p:txBody>
          <a:bodyPr wrap="square" anchor="t" lIns="36576" rIns="36576" tIns="18288" bIns="18288">
            <a:spAutoFit/>
          </a:bodyPr>
          <a:lstStyle/>
          <a:p>
            <a:pPr algn="l"/>
            <a:r>
              <a:rPr sz="2200" b="1" i="0">
                <a:solidFill>
                  <a:srgbClr val="F43F5E"/>
                </a:solidFill>
                <a:latin typeface="Calibri"/>
              </a:rPr>
              <a:t>🔥 Se queman</a:t>
            </a:r>
          </a:p>
        </p:txBody>
      </p:sp>
      <p:sp>
        <p:nvSpPr>
          <p:cNvPr id="20" name="TextBox 19"/>
          <p:cNvSpPr txBox="1"/>
          <p:nvPr/>
        </p:nvSpPr>
        <p:spPr>
          <a:xfrm>
            <a:off x="914400" y="4087368"/>
            <a:ext cx="4754880" cy="411480"/>
          </a:xfrm>
          <a:prstGeom prst="rect">
            <a:avLst/>
          </a:prstGeom>
          <a:noFill/>
        </p:spPr>
        <p:txBody>
          <a:bodyPr wrap="square" anchor="t" lIns="36576" rIns="36576" tIns="18288" bIns="18288">
            <a:spAutoFit/>
          </a:bodyPr>
          <a:lstStyle/>
          <a:p>
            <a:pPr algn="l"/>
            <a:r>
              <a:rPr sz="2000" b="0" i="0">
                <a:solidFill>
                  <a:srgbClr val="665480"/>
                </a:solidFill>
                <a:latin typeface="Calibri"/>
              </a:rPr>
              <a:t>Un motor forzado se sobrecalienta</a:t>
            </a:r>
          </a:p>
        </p:txBody>
      </p:sp>
      <p:sp>
        <p:nvSpPr>
          <p:cNvPr id="21" name="TextBox 20"/>
          <p:cNvSpPr txBox="1"/>
          <p:nvPr/>
        </p:nvSpPr>
        <p:spPr>
          <a:xfrm>
            <a:off x="914400" y="4709160"/>
            <a:ext cx="4754880" cy="502920"/>
          </a:xfrm>
          <a:prstGeom prst="rect">
            <a:avLst/>
          </a:prstGeom>
          <a:noFill/>
        </p:spPr>
        <p:txBody>
          <a:bodyPr wrap="square" anchor="t" lIns="36576" rIns="36576" tIns="18288" bIns="18288">
            <a:spAutoFit/>
          </a:bodyPr>
          <a:lstStyle/>
          <a:p>
            <a:pPr algn="l"/>
            <a:r>
              <a:rPr sz="1800" b="0" i="1">
                <a:solidFill>
                  <a:srgbClr val="181824"/>
                </a:solidFill>
                <a:latin typeface="Calibri"/>
              </a:rPr>
              <a:t>En museos operan 12 horas y el público las toca.</a:t>
            </a:r>
          </a:p>
        </p:txBody>
      </p:sp>
      <p:sp>
        <p:nvSpPr>
          <p:cNvPr id="22" name="Rounded Rectangle 21"/>
          <p:cNvSpPr/>
          <p:nvPr/>
        </p:nvSpPr>
        <p:spPr>
          <a:xfrm>
            <a:off x="6126480" y="1645920"/>
            <a:ext cx="5303520" cy="3657600"/>
          </a:xfrm>
          <a:prstGeom prst="roundRect">
            <a:avLst>
              <a:gd name="adj" fmla="val 3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9360" y="1737360"/>
            <a:ext cx="3291840" cy="1051560"/>
          </a:xfrm>
          <a:prstGeom prst="rect">
            <a:avLst/>
          </a:prstGeom>
          <a:noFill/>
        </p:spPr>
        <p:txBody>
          <a:bodyPr wrap="square" anchor="t" lIns="36576" rIns="36576" tIns="18288" bIns="18288">
            <a:spAutoFit/>
          </a:bodyPr>
          <a:lstStyle/>
          <a:p>
            <a:pPr algn="l"/>
            <a:r>
              <a:rPr sz="2000" b="1" i="0">
                <a:solidFill>
                  <a:srgbClr val="181824"/>
                </a:solidFill>
                <a:latin typeface="Calibri"/>
              </a:rPr>
              <a:t>Objetivo: pared modular accesible que sigue a las personas y reacciona a gestos.</a:t>
            </a:r>
          </a:p>
        </p:txBody>
      </p:sp>
      <p:sp>
        <p:nvSpPr>
          <p:cNvPr id="24" name="Rounded Rectangle 23"/>
          <p:cNvSpPr/>
          <p:nvPr/>
        </p:nvSpPr>
        <p:spPr>
          <a:xfrm>
            <a:off x="9692640" y="1737360"/>
            <a:ext cx="1554480" cy="1920240"/>
          </a:xfrm>
          <a:prstGeom prst="roundRect">
            <a:avLst>
              <a:gd name="adj" fmla="val 2000"/>
            </a:avLst>
          </a:prstGeom>
          <a:solidFill>
            <a:srgbClr val="FFFFFF"/>
          </a:solidFill>
          <a:ln w="19050">
            <a:solidFill>
              <a:srgbClr val="6654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sofia_exploded.png"/>
          <p:cNvPicPr>
            <a:picLocks noChangeAspect="1"/>
          </p:cNvPicPr>
          <p:nvPr/>
        </p:nvPicPr>
        <p:blipFill>
          <a:blip r:embed="rId3"/>
          <a:stretch>
            <a:fillRect/>
          </a:stretch>
        </p:blipFill>
        <p:spPr>
          <a:xfrm>
            <a:off x="9764450" y="1773936"/>
            <a:ext cx="1410860" cy="1847088"/>
          </a:xfrm>
          <a:prstGeom prst="rect">
            <a:avLst/>
          </a:prstGeom>
        </p:spPr>
      </p:pic>
      <p:sp>
        <p:nvSpPr>
          <p:cNvPr id="26" name="TextBox 25"/>
          <p:cNvSpPr txBox="1"/>
          <p:nvPr/>
        </p:nvSpPr>
        <p:spPr>
          <a:xfrm>
            <a:off x="9692640" y="3694176"/>
            <a:ext cx="1554480" cy="237744"/>
          </a:xfrm>
          <a:prstGeom prst="rect">
            <a:avLst/>
          </a:prstGeom>
          <a:noFill/>
        </p:spPr>
        <p:txBody>
          <a:bodyPr wrap="square" anchor="t" lIns="36576" rIns="36576" tIns="18288" bIns="18288">
            <a:spAutoFit/>
          </a:bodyPr>
          <a:lstStyle/>
          <a:p>
            <a:pPr algn="ctr"/>
            <a:r>
              <a:rPr sz="1200" b="0" i="1">
                <a:solidFill>
                  <a:srgbClr val="665480"/>
                </a:solidFill>
                <a:latin typeface="Calibri"/>
              </a:rPr>
              <a:t>Piezas 3D</a:t>
            </a:r>
          </a:p>
        </p:txBody>
      </p:sp>
      <p:sp>
        <p:nvSpPr>
          <p:cNvPr id="27" name="TextBox 26"/>
          <p:cNvSpPr txBox="1"/>
          <p:nvPr/>
        </p:nvSpPr>
        <p:spPr>
          <a:xfrm>
            <a:off x="6309360" y="2880360"/>
            <a:ext cx="4937760" cy="411480"/>
          </a:xfrm>
          <a:prstGeom prst="rect">
            <a:avLst/>
          </a:prstGeom>
          <a:noFill/>
        </p:spPr>
        <p:txBody>
          <a:bodyPr wrap="square" anchor="t" lIns="36576" rIns="36576" tIns="18288" bIns="18288">
            <a:spAutoFit/>
          </a:bodyPr>
          <a:lstStyle/>
          <a:p>
            <a:pPr algn="l"/>
            <a:r>
              <a:rPr sz="2000" b="1" i="0">
                <a:solidFill>
                  <a:srgbClr val="C026D3"/>
                </a:solidFill>
                <a:latin typeface="Calibri"/>
              </a:rPr>
              <a:t>1  Paneles modulares en 3D</a:t>
            </a:r>
          </a:p>
        </p:txBody>
      </p:sp>
      <p:sp>
        <p:nvSpPr>
          <p:cNvPr id="28" name="TextBox 27"/>
          <p:cNvSpPr txBox="1"/>
          <p:nvPr/>
        </p:nvSpPr>
        <p:spPr>
          <a:xfrm>
            <a:off x="6309360" y="3319272"/>
            <a:ext cx="4937760" cy="411480"/>
          </a:xfrm>
          <a:prstGeom prst="rect">
            <a:avLst/>
          </a:prstGeom>
          <a:noFill/>
        </p:spPr>
        <p:txBody>
          <a:bodyPr wrap="square" anchor="t" lIns="36576" rIns="36576" tIns="18288" bIns="18288">
            <a:spAutoFit/>
          </a:bodyPr>
          <a:lstStyle/>
          <a:p>
            <a:pPr algn="l"/>
            <a:r>
              <a:rPr sz="2000" b="1" i="0">
                <a:solidFill>
                  <a:srgbClr val="C026D3"/>
                </a:solidFill>
                <a:latin typeface="Calibri"/>
              </a:rPr>
              <a:t>2  Seguimiento en vivo (&gt;30 FPS)</a:t>
            </a:r>
          </a:p>
        </p:txBody>
      </p:sp>
      <p:sp>
        <p:nvSpPr>
          <p:cNvPr id="29" name="TextBox 28"/>
          <p:cNvSpPr txBox="1"/>
          <p:nvPr/>
        </p:nvSpPr>
        <p:spPr>
          <a:xfrm>
            <a:off x="6309360" y="3758183"/>
            <a:ext cx="4937760" cy="411480"/>
          </a:xfrm>
          <a:prstGeom prst="rect">
            <a:avLst/>
          </a:prstGeom>
          <a:noFill/>
        </p:spPr>
        <p:txBody>
          <a:bodyPr wrap="square" anchor="t" lIns="36576" rIns="36576" tIns="18288" bIns="18288">
            <a:spAutoFit/>
          </a:bodyPr>
          <a:lstStyle/>
          <a:p>
            <a:pPr algn="l"/>
            <a:r>
              <a:rPr sz="2000" b="1" i="0">
                <a:solidFill>
                  <a:srgbClr val="C026D3"/>
                </a:solidFill>
                <a:latin typeface="Calibri"/>
              </a:rPr>
              <a:t>3  Medir calor y autoprotección</a:t>
            </a:r>
          </a:p>
        </p:txBody>
      </p:sp>
      <p:sp>
        <p:nvSpPr>
          <p:cNvPr id="30" name="Rounded Rectangle 29"/>
          <p:cNvSpPr/>
          <p:nvPr/>
        </p:nvSpPr>
        <p:spPr>
          <a:xfrm>
            <a:off x="731520" y="5486400"/>
            <a:ext cx="10698480" cy="777240"/>
          </a:xfrm>
          <a:prstGeom prst="roundRect">
            <a:avLst>
              <a:gd name="adj" fmla="val 3000"/>
            </a:avLst>
          </a:prstGeom>
          <a:solidFill>
            <a:srgbClr val="FFFFFF"/>
          </a:solidFill>
          <a:ln w="19050">
            <a:solidFill>
              <a:srgbClr val="E02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559552"/>
            <a:ext cx="10332720" cy="320040"/>
          </a:xfrm>
          <a:prstGeom prst="rect">
            <a:avLst/>
          </a:prstGeom>
          <a:noFill/>
        </p:spPr>
        <p:txBody>
          <a:bodyPr wrap="square" anchor="t" lIns="36576" rIns="36576" tIns="18288" bIns="18288">
            <a:spAutoFit/>
          </a:bodyPr>
          <a:lstStyle/>
          <a:p>
            <a:pPr algn="ctr"/>
            <a:r>
              <a:rPr sz="1800" b="1" i="0">
                <a:solidFill>
                  <a:srgbClr val="C026D3"/>
                </a:solidFill>
                <a:latin typeface="Calibri"/>
              </a:rPr>
              <a:t>Corte 1 · Diseño ✓    ➔    Corte 2 · Prototipo que te sigue ● ESTAMOS AQUÍ    ➔    Corte 3 · Pared completa</a:t>
            </a:r>
          </a:p>
        </p:txBody>
      </p:sp>
      <p:sp>
        <p:nvSpPr>
          <p:cNvPr id="32" name="TextBox 31"/>
          <p:cNvSpPr txBox="1"/>
          <p:nvPr/>
        </p:nvSpPr>
        <p:spPr>
          <a:xfrm>
            <a:off x="914400" y="5897880"/>
            <a:ext cx="10332720" cy="320040"/>
          </a:xfrm>
          <a:prstGeom prst="rect">
            <a:avLst/>
          </a:prstGeom>
          <a:noFill/>
        </p:spPr>
        <p:txBody>
          <a:bodyPr wrap="square" anchor="t" lIns="36576" rIns="36576" tIns="18288" bIns="18288">
            <a:spAutoFit/>
          </a:bodyPr>
          <a:lstStyle/>
          <a:p>
            <a:pPr algn="ctr"/>
            <a:r>
              <a:rPr sz="1600" b="0" i="0">
                <a:solidFill>
                  <a:srgbClr val="665480"/>
                </a:solidFill>
                <a:latin typeface="Calibri"/>
              </a:rPr>
              <a:t>Materiales: 16 módulos PLA SOFIA003, 32 servos MG90S, 64 tornillos M3, 2 PCA9685 y 1 ESP32-C3.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C"/>
        </a:solidFill>
        <a:effectLst/>
      </p:bgPr>
    </p:bg>
    <p:spTree>
      <p:nvGrpSpPr>
        <p:cNvPr id="1" name=""/>
        <p:cNvGrpSpPr/>
        <p:nvPr/>
      </p:nvGrpSpPr>
      <p:grpSpPr/>
      <p:sp>
        <p:nvSpPr>
          <p:cNvPr id="2" name="Rounded Rectangle 1"/>
          <p:cNvSpPr/>
          <p:nvPr/>
        </p:nvSpPr>
        <p:spPr>
          <a:xfrm>
            <a:off x="731520" y="292608"/>
            <a:ext cx="1554480" cy="292608"/>
          </a:xfrm>
          <a:prstGeom prst="roundRect">
            <a:avLst>
              <a:gd name="adj" fmla="val 25000"/>
            </a:avLst>
          </a:prstGeom>
          <a:solidFill>
            <a:srgbClr val="FDE8F5"/>
          </a:solidFill>
          <a:ln w="19050">
            <a:solidFill>
              <a:srgbClr val="E02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554480" cy="292608"/>
          </a:xfrm>
          <a:prstGeom prst="rect">
            <a:avLst/>
          </a:prstGeom>
          <a:noFill/>
        </p:spPr>
        <p:txBody>
          <a:bodyPr wrap="square" anchor="t" lIns="36576" rIns="36576" tIns="18288" bIns="18288">
            <a:spAutoFit/>
          </a:bodyPr>
          <a:lstStyle/>
          <a:p>
            <a:pPr algn="ctr"/>
            <a:r>
              <a:rPr sz="1200" b="1" i="0">
                <a:solidFill>
                  <a:srgbClr val="C026D3"/>
                </a:solidFill>
                <a:latin typeface="Calibri"/>
              </a:rPr>
              <a:t>PLANTEAMIENTO</a:t>
            </a:r>
          </a:p>
        </p:txBody>
      </p:sp>
      <p:sp>
        <p:nvSpPr>
          <p:cNvPr id="4" name="Rounded Rectangle 3"/>
          <p:cNvSpPr/>
          <p:nvPr/>
        </p:nvSpPr>
        <p:spPr>
          <a:xfrm>
            <a:off x="2395728" y="292608"/>
            <a:ext cx="1554480" cy="292608"/>
          </a:xfrm>
          <a:prstGeom prst="roundRect">
            <a:avLst>
              <a:gd name="adj" fmla="val 25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395728" y="320040"/>
            <a:ext cx="1554480" cy="292608"/>
          </a:xfrm>
          <a:prstGeom prst="rect">
            <a:avLst/>
          </a:prstGeom>
          <a:noFill/>
        </p:spPr>
        <p:txBody>
          <a:bodyPr wrap="square" anchor="t" lIns="36576" rIns="36576" tIns="18288" bIns="18288">
            <a:spAutoFit/>
          </a:bodyPr>
          <a:lstStyle/>
          <a:p>
            <a:pPr algn="ctr"/>
            <a:r>
              <a:rPr sz="1200" b="0" i="0">
                <a:solidFill>
                  <a:srgbClr val="665480"/>
                </a:solidFill>
                <a:latin typeface="Calibri"/>
              </a:rPr>
              <a:t>DISEÑO</a:t>
            </a:r>
          </a:p>
        </p:txBody>
      </p:sp>
      <p:sp>
        <p:nvSpPr>
          <p:cNvPr id="6" name="Rounded Rectangle 5"/>
          <p:cNvSpPr/>
          <p:nvPr/>
        </p:nvSpPr>
        <p:spPr>
          <a:xfrm>
            <a:off x="4059936" y="292608"/>
            <a:ext cx="1554480" cy="292608"/>
          </a:xfrm>
          <a:prstGeom prst="roundRect">
            <a:avLst>
              <a:gd name="adj" fmla="val 25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59936" y="320040"/>
            <a:ext cx="1554480" cy="292608"/>
          </a:xfrm>
          <a:prstGeom prst="rect">
            <a:avLst/>
          </a:prstGeom>
          <a:noFill/>
        </p:spPr>
        <p:txBody>
          <a:bodyPr wrap="square" anchor="t" lIns="36576" rIns="36576" tIns="18288" bIns="18288">
            <a:spAutoFit/>
          </a:bodyPr>
          <a:lstStyle/>
          <a:p>
            <a:pPr algn="ctr"/>
            <a:r>
              <a:rPr sz="1200" b="0" i="0">
                <a:solidFill>
                  <a:srgbClr val="665480"/>
                </a:solidFill>
                <a:latin typeface="Calibri"/>
              </a:rPr>
              <a:t>RESULTADOS</a:t>
            </a:r>
          </a:p>
        </p:txBody>
      </p:sp>
      <p:sp>
        <p:nvSpPr>
          <p:cNvPr id="8" name="Rounded Rectangle 7"/>
          <p:cNvSpPr/>
          <p:nvPr/>
        </p:nvSpPr>
        <p:spPr>
          <a:xfrm>
            <a:off x="5724144" y="292608"/>
            <a:ext cx="1554480" cy="292608"/>
          </a:xfrm>
          <a:prstGeom prst="roundRect">
            <a:avLst>
              <a:gd name="adj" fmla="val 25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24144" y="320040"/>
            <a:ext cx="1554480" cy="292608"/>
          </a:xfrm>
          <a:prstGeom prst="rect">
            <a:avLst/>
          </a:prstGeom>
          <a:noFill/>
        </p:spPr>
        <p:txBody>
          <a:bodyPr wrap="square" anchor="t" lIns="36576" rIns="36576" tIns="18288" bIns="18288">
            <a:spAutoFit/>
          </a:bodyPr>
          <a:lstStyle/>
          <a:p>
            <a:pPr algn="ctr"/>
            <a:r>
              <a:rPr sz="1200" b="0" i="0">
                <a:solidFill>
                  <a:srgbClr val="665480"/>
                </a:solidFill>
                <a:latin typeface="Calibri"/>
              </a:rPr>
              <a:t>BRECHA</a:t>
            </a:r>
          </a:p>
        </p:txBody>
      </p:sp>
      <p:sp>
        <p:nvSpPr>
          <p:cNvPr id="10" name="Rounded Rectangle 9"/>
          <p:cNvSpPr/>
          <p:nvPr/>
        </p:nvSpPr>
        <p:spPr>
          <a:xfrm>
            <a:off x="7388352" y="292608"/>
            <a:ext cx="1554480" cy="292608"/>
          </a:xfrm>
          <a:prstGeom prst="roundRect">
            <a:avLst>
              <a:gd name="adj" fmla="val 25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88352" y="320040"/>
            <a:ext cx="1554480" cy="292608"/>
          </a:xfrm>
          <a:prstGeom prst="rect">
            <a:avLst/>
          </a:prstGeom>
          <a:noFill/>
        </p:spPr>
        <p:txBody>
          <a:bodyPr wrap="square" anchor="t" lIns="36576" rIns="36576" tIns="18288" bIns="18288">
            <a:spAutoFit/>
          </a:bodyPr>
          <a:lstStyle/>
          <a:p>
            <a:pPr algn="ctr"/>
            <a:r>
              <a:rPr sz="1200" b="0" i="0">
                <a:solidFill>
                  <a:srgbClr val="665480"/>
                </a:solidFill>
                <a:latin typeface="Calibri"/>
              </a:rPr>
              <a:t>SIGUIENTES</a:t>
            </a:r>
          </a:p>
        </p:txBody>
      </p:sp>
      <p:sp>
        <p:nvSpPr>
          <p:cNvPr id="12" name="TextBox 11"/>
          <p:cNvSpPr txBox="1"/>
          <p:nvPr/>
        </p:nvSpPr>
        <p:spPr>
          <a:xfrm>
            <a:off x="10972800" y="6446520"/>
            <a:ext cx="731520" cy="274320"/>
          </a:xfrm>
          <a:prstGeom prst="rect">
            <a:avLst/>
          </a:prstGeom>
          <a:noFill/>
        </p:spPr>
        <p:txBody>
          <a:bodyPr wrap="square" anchor="t" lIns="36576" rIns="36576" tIns="18288" bIns="18288">
            <a:spAutoFit/>
          </a:bodyPr>
          <a:lstStyle/>
          <a:p>
            <a:pPr algn="r"/>
            <a:r>
              <a:rPr sz="1300" b="0" i="0">
                <a:solidFill>
                  <a:srgbClr val="665480"/>
                </a:solidFill>
                <a:latin typeface="Calibri"/>
              </a:rPr>
              <a:t>3/10</a:t>
            </a:r>
          </a:p>
        </p:txBody>
      </p:sp>
      <p:sp>
        <p:nvSpPr>
          <p:cNvPr id="13" name="TextBox 12"/>
          <p:cNvSpPr txBox="1"/>
          <p:nvPr/>
        </p:nvSpPr>
        <p:spPr>
          <a:xfrm>
            <a:off x="731520" y="685800"/>
            <a:ext cx="10698480" cy="777240"/>
          </a:xfrm>
          <a:prstGeom prst="rect">
            <a:avLst/>
          </a:prstGeom>
          <a:noFill/>
        </p:spPr>
        <p:txBody>
          <a:bodyPr wrap="square" anchor="t" lIns="36576" rIns="36576" tIns="18288" bIns="18288">
            <a:spAutoFit/>
          </a:bodyPr>
          <a:lstStyle/>
          <a:p>
            <a:pPr algn="l"/>
            <a:r>
              <a:rPr sz="4000" b="1" i="0">
                <a:solidFill>
                  <a:srgbClr val="181824"/>
                </a:solidFill>
                <a:latin typeface="Calibri"/>
              </a:rPr>
              <a:t>Hermosas, caras y ciegas</a:t>
            </a:r>
          </a:p>
        </p:txBody>
      </p:sp>
      <p:sp>
        <p:nvSpPr>
          <p:cNvPr id="14" name="Rounded Rectangle 13"/>
          <p:cNvSpPr/>
          <p:nvPr/>
        </p:nvSpPr>
        <p:spPr>
          <a:xfrm>
            <a:off x="731520" y="1645920"/>
            <a:ext cx="3383280" cy="3383280"/>
          </a:xfrm>
          <a:prstGeom prst="roundRect">
            <a:avLst>
              <a:gd name="adj" fmla="val 3000"/>
            </a:avLst>
          </a:prstGeom>
          <a:solidFill>
            <a:srgbClr val="FFFFFF"/>
          </a:solidFill>
          <a:ln w="19050">
            <a:solidFill>
              <a:srgbClr val="6654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4400" y="1783080"/>
            <a:ext cx="3017520" cy="1188720"/>
          </a:xfrm>
          <a:prstGeom prst="roundRect">
            <a:avLst>
              <a:gd name="adj" fmla="val 3000"/>
            </a:avLst>
          </a:prstGeom>
          <a:solidFill>
            <a:srgbClr val="F5F3F8"/>
          </a:solidFill>
          <a:ln w="19050">
            <a:solidFill>
              <a:srgbClr val="6654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2103120"/>
            <a:ext cx="2651760" cy="548640"/>
          </a:xfrm>
          <a:prstGeom prst="rect">
            <a:avLst/>
          </a:prstGeom>
          <a:noFill/>
        </p:spPr>
        <p:txBody>
          <a:bodyPr wrap="square" anchor="t" lIns="36576" rIns="36576" tIns="18288" bIns="18288">
            <a:spAutoFit/>
          </a:bodyPr>
          <a:lstStyle/>
          <a:p>
            <a:pPr algn="ctr"/>
            <a:r>
              <a:rPr sz="1600" b="0" i="1">
                <a:solidFill>
                  <a:srgbClr val="665480"/>
                </a:solidFill>
                <a:latin typeface="Calibri"/>
              </a:rPr>
              <a:t>IMAGEN: inFORM (MIT Media Lab)</a:t>
            </a:r>
          </a:p>
        </p:txBody>
      </p:sp>
      <p:sp>
        <p:nvSpPr>
          <p:cNvPr id="17" name="TextBox 16"/>
          <p:cNvSpPr txBox="1"/>
          <p:nvPr/>
        </p:nvSpPr>
        <p:spPr>
          <a:xfrm>
            <a:off x="914400" y="3017520"/>
            <a:ext cx="3017520" cy="228600"/>
          </a:xfrm>
          <a:prstGeom prst="rect">
            <a:avLst/>
          </a:prstGeom>
          <a:noFill/>
        </p:spPr>
        <p:txBody>
          <a:bodyPr wrap="square" anchor="t" lIns="36576" rIns="36576" tIns="18288" bIns="18288">
            <a:spAutoFit/>
          </a:bodyPr>
          <a:lstStyle/>
          <a:p>
            <a:pPr algn="ctr"/>
            <a:r>
              <a:rPr sz="1200" b="0" i="1">
                <a:solidFill>
                  <a:srgbClr val="665480"/>
                </a:solidFill>
                <a:latin typeface="Calibri"/>
              </a:rPr>
              <a:t>MIT Media Lab</a:t>
            </a:r>
          </a:p>
        </p:txBody>
      </p:sp>
      <p:sp>
        <p:nvSpPr>
          <p:cNvPr id="18" name="TextBox 17"/>
          <p:cNvSpPr txBox="1"/>
          <p:nvPr/>
        </p:nvSpPr>
        <p:spPr>
          <a:xfrm>
            <a:off x="914400" y="3291840"/>
            <a:ext cx="3017520" cy="365760"/>
          </a:xfrm>
          <a:prstGeom prst="rect">
            <a:avLst/>
          </a:prstGeom>
          <a:noFill/>
        </p:spPr>
        <p:txBody>
          <a:bodyPr wrap="square" anchor="t" lIns="36576" rIns="36576" tIns="18288" bIns="18288">
            <a:spAutoFit/>
          </a:bodyPr>
          <a:lstStyle/>
          <a:p>
            <a:pPr algn="l"/>
            <a:r>
              <a:rPr sz="2200" b="1" i="0">
                <a:solidFill>
                  <a:srgbClr val="181824"/>
                </a:solidFill>
                <a:latin typeface="Calibri"/>
              </a:rPr>
              <a:t>MIT inFORM</a:t>
            </a:r>
          </a:p>
        </p:txBody>
      </p:sp>
      <p:sp>
        <p:nvSpPr>
          <p:cNvPr id="19" name="TextBox 18"/>
          <p:cNvSpPr txBox="1"/>
          <p:nvPr/>
        </p:nvSpPr>
        <p:spPr>
          <a:xfrm>
            <a:off x="914400" y="3703320"/>
            <a:ext cx="3017520" cy="1188720"/>
          </a:xfrm>
          <a:prstGeom prst="rect">
            <a:avLst/>
          </a:prstGeom>
          <a:noFill/>
        </p:spPr>
        <p:txBody>
          <a:bodyPr wrap="square" anchor="t" lIns="36576" rIns="36576" tIns="18288" bIns="18288">
            <a:spAutoFit/>
          </a:bodyPr>
          <a:lstStyle/>
          <a:p>
            <a:pPr algn="l"/>
            <a:r>
              <a:rPr sz="1800" b="0" i="0">
                <a:solidFill>
                  <a:srgbClr val="665480"/>
                </a:solidFill>
                <a:latin typeface="Calibri"/>
              </a:rPr>
              <a:t>900 pines que forman relieve en vivo. Prototipo de laboratorio.</a:t>
            </a:r>
          </a:p>
        </p:txBody>
      </p:sp>
      <p:sp>
        <p:nvSpPr>
          <p:cNvPr id="20" name="Rounded Rectangle 19"/>
          <p:cNvSpPr/>
          <p:nvPr/>
        </p:nvSpPr>
        <p:spPr>
          <a:xfrm>
            <a:off x="4389120" y="1645920"/>
            <a:ext cx="3383280" cy="3383280"/>
          </a:xfrm>
          <a:prstGeom prst="roundRect">
            <a:avLst>
              <a:gd name="adj" fmla="val 3000"/>
            </a:avLst>
          </a:prstGeom>
          <a:solidFill>
            <a:srgbClr val="FFFFFF"/>
          </a:solidFill>
          <a:ln w="19050">
            <a:solidFill>
              <a:srgbClr val="6654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572000" y="1783080"/>
            <a:ext cx="3017520" cy="1188720"/>
          </a:xfrm>
          <a:prstGeom prst="roundRect">
            <a:avLst>
              <a:gd name="adj" fmla="val 3000"/>
            </a:avLst>
          </a:prstGeom>
          <a:solidFill>
            <a:srgbClr val="F5F3F8"/>
          </a:solidFill>
          <a:ln w="19050">
            <a:solidFill>
              <a:srgbClr val="6654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54880" y="2103120"/>
            <a:ext cx="2651760" cy="548640"/>
          </a:xfrm>
          <a:prstGeom prst="rect">
            <a:avLst/>
          </a:prstGeom>
          <a:noFill/>
        </p:spPr>
        <p:txBody>
          <a:bodyPr wrap="square" anchor="t" lIns="36576" rIns="36576" tIns="18288" bIns="18288">
            <a:spAutoFit/>
          </a:bodyPr>
          <a:lstStyle/>
          <a:p>
            <a:pPr algn="ctr"/>
            <a:r>
              <a:rPr sz="1600" b="0" i="1">
                <a:solidFill>
                  <a:srgbClr val="665480"/>
                </a:solidFill>
                <a:latin typeface="Calibri"/>
              </a:rPr>
              <a:t>IMAGEN: Escultura cinética de aeropuerto</a:t>
            </a:r>
          </a:p>
        </p:txBody>
      </p:sp>
      <p:sp>
        <p:nvSpPr>
          <p:cNvPr id="23" name="TextBox 22"/>
          <p:cNvSpPr txBox="1"/>
          <p:nvPr/>
        </p:nvSpPr>
        <p:spPr>
          <a:xfrm>
            <a:off x="4572000" y="3017520"/>
            <a:ext cx="3017520" cy="228600"/>
          </a:xfrm>
          <a:prstGeom prst="rect">
            <a:avLst/>
          </a:prstGeom>
          <a:noFill/>
        </p:spPr>
        <p:txBody>
          <a:bodyPr wrap="square" anchor="t" lIns="36576" rIns="36576" tIns="18288" bIns="18288">
            <a:spAutoFit/>
          </a:bodyPr>
          <a:lstStyle/>
          <a:p>
            <a:pPr algn="ctr"/>
            <a:r>
              <a:rPr sz="1200" b="0" i="1">
                <a:solidFill>
                  <a:srgbClr val="665480"/>
                </a:solidFill>
                <a:latin typeface="Calibri"/>
              </a:rPr>
              <a:t>Escultura de aeropuerto</a:t>
            </a:r>
          </a:p>
        </p:txBody>
      </p:sp>
      <p:sp>
        <p:nvSpPr>
          <p:cNvPr id="24" name="TextBox 23"/>
          <p:cNvSpPr txBox="1"/>
          <p:nvPr/>
        </p:nvSpPr>
        <p:spPr>
          <a:xfrm>
            <a:off x="4572000" y="3291840"/>
            <a:ext cx="3017520" cy="365760"/>
          </a:xfrm>
          <a:prstGeom prst="rect">
            <a:avLst/>
          </a:prstGeom>
          <a:noFill/>
        </p:spPr>
        <p:txBody>
          <a:bodyPr wrap="square" anchor="t" lIns="36576" rIns="36576" tIns="18288" bIns="18288">
            <a:spAutoFit/>
          </a:bodyPr>
          <a:lstStyle/>
          <a:p>
            <a:pPr algn="l"/>
            <a:r>
              <a:rPr sz="2200" b="1" i="0">
                <a:solidFill>
                  <a:srgbClr val="181824"/>
                </a:solidFill>
                <a:latin typeface="Calibri"/>
              </a:rPr>
              <a:t>Arte Comercial</a:t>
            </a:r>
          </a:p>
        </p:txBody>
      </p:sp>
      <p:sp>
        <p:nvSpPr>
          <p:cNvPr id="25" name="TextBox 24"/>
          <p:cNvSpPr txBox="1"/>
          <p:nvPr/>
        </p:nvSpPr>
        <p:spPr>
          <a:xfrm>
            <a:off x="4572000" y="3703320"/>
            <a:ext cx="3017520" cy="1188720"/>
          </a:xfrm>
          <a:prstGeom prst="rect">
            <a:avLst/>
          </a:prstGeom>
          <a:noFill/>
        </p:spPr>
        <p:txBody>
          <a:bodyPr wrap="square" anchor="t" lIns="36576" rIns="36576" tIns="18288" bIns="18288">
            <a:spAutoFit/>
          </a:bodyPr>
          <a:lstStyle/>
          <a:p>
            <a:pPr algn="l"/>
            <a:r>
              <a:rPr sz="1800" b="0" i="0">
                <a:solidFill>
                  <a:srgbClr val="665480"/>
                </a:solidFill>
                <a:latin typeface="Calibri"/>
              </a:rPr>
              <a:t>Coreografía grabada en ciclo. No te ven.</a:t>
            </a:r>
          </a:p>
        </p:txBody>
      </p:sp>
      <p:sp>
        <p:nvSpPr>
          <p:cNvPr id="26" name="Rounded Rectangle 25"/>
          <p:cNvSpPr/>
          <p:nvPr/>
        </p:nvSpPr>
        <p:spPr>
          <a:xfrm>
            <a:off x="8046720" y="1645920"/>
            <a:ext cx="3383280" cy="3383280"/>
          </a:xfrm>
          <a:prstGeom prst="roundRect">
            <a:avLst>
              <a:gd name="adj" fmla="val 3000"/>
            </a:avLst>
          </a:prstGeom>
          <a:solidFill>
            <a:srgbClr val="F5F3F8"/>
          </a:solidFill>
          <a:ln w="19050">
            <a:solidFill>
              <a:srgbClr val="E02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229600" y="1783080"/>
            <a:ext cx="3017520" cy="1188720"/>
          </a:xfrm>
          <a:prstGeom prst="roundRect">
            <a:avLst>
              <a:gd name="adj" fmla="val 2000"/>
            </a:avLst>
          </a:prstGeom>
          <a:solidFill>
            <a:srgbClr val="FFFFFF"/>
          </a:solidFill>
          <a:ln w="19050">
            <a:solidFill>
              <a:srgbClr val="6654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modulo_fisico.png"/>
          <p:cNvPicPr>
            <a:picLocks noChangeAspect="1"/>
          </p:cNvPicPr>
          <p:nvPr/>
        </p:nvPicPr>
        <p:blipFill>
          <a:blip r:embed="rId3"/>
          <a:stretch>
            <a:fillRect/>
          </a:stretch>
        </p:blipFill>
        <p:spPr>
          <a:xfrm>
            <a:off x="8603668" y="1819656"/>
            <a:ext cx="2269384" cy="1115568"/>
          </a:xfrm>
          <a:prstGeom prst="rect">
            <a:avLst/>
          </a:prstGeom>
        </p:spPr>
      </p:pic>
      <p:sp>
        <p:nvSpPr>
          <p:cNvPr id="29" name="TextBox 28"/>
          <p:cNvSpPr txBox="1"/>
          <p:nvPr/>
        </p:nvSpPr>
        <p:spPr>
          <a:xfrm>
            <a:off x="8229600" y="3017520"/>
            <a:ext cx="3017520" cy="228600"/>
          </a:xfrm>
          <a:prstGeom prst="rect">
            <a:avLst/>
          </a:prstGeom>
          <a:noFill/>
        </p:spPr>
        <p:txBody>
          <a:bodyPr wrap="square" anchor="t" lIns="36576" rIns="36576" tIns="18288" bIns="18288">
            <a:spAutoFit/>
          </a:bodyPr>
          <a:lstStyle/>
          <a:p>
            <a:pPr algn="ctr"/>
            <a:r>
              <a:rPr sz="1200" b="0" i="1">
                <a:solidFill>
                  <a:srgbClr val="665480"/>
                </a:solidFill>
                <a:latin typeface="Calibri"/>
              </a:rPr>
              <a:t>Prototipo físico SOFÍA</a:t>
            </a:r>
          </a:p>
        </p:txBody>
      </p:sp>
      <p:sp>
        <p:nvSpPr>
          <p:cNvPr id="30" name="TextBox 29"/>
          <p:cNvSpPr txBox="1"/>
          <p:nvPr/>
        </p:nvSpPr>
        <p:spPr>
          <a:xfrm>
            <a:off x="8229600" y="3291840"/>
            <a:ext cx="3017520" cy="365760"/>
          </a:xfrm>
          <a:prstGeom prst="rect">
            <a:avLst/>
          </a:prstGeom>
          <a:noFill/>
        </p:spPr>
        <p:txBody>
          <a:bodyPr wrap="square" anchor="t" lIns="36576" rIns="36576" tIns="18288" bIns="18288">
            <a:spAutoFit/>
          </a:bodyPr>
          <a:lstStyle/>
          <a:p>
            <a:pPr algn="l"/>
            <a:r>
              <a:rPr sz="2200" b="1" i="0">
                <a:solidFill>
                  <a:srgbClr val="C026D3"/>
                </a:solidFill>
                <a:latin typeface="Calibri"/>
              </a:rPr>
              <a:t>SOFÍA (ITESO)</a:t>
            </a:r>
          </a:p>
        </p:txBody>
      </p:sp>
      <p:sp>
        <p:nvSpPr>
          <p:cNvPr id="31" name="TextBox 30"/>
          <p:cNvSpPr txBox="1"/>
          <p:nvPr/>
        </p:nvSpPr>
        <p:spPr>
          <a:xfrm>
            <a:off x="8229600" y="3703320"/>
            <a:ext cx="3017520" cy="1188720"/>
          </a:xfrm>
          <a:prstGeom prst="rect">
            <a:avLst/>
          </a:prstGeom>
          <a:noFill/>
        </p:spPr>
        <p:txBody>
          <a:bodyPr wrap="square" anchor="t" lIns="36576" rIns="36576" tIns="18288" bIns="18288">
            <a:spAutoFit/>
          </a:bodyPr>
          <a:lstStyle/>
          <a:p>
            <a:pPr algn="l"/>
            <a:r>
              <a:rPr sz="1800" b="1" i="0">
                <a:solidFill>
                  <a:srgbClr val="181824"/>
                </a:solidFill>
                <a:latin typeface="Calibri"/>
              </a:rPr>
              <a:t>Te ve en vivo · Modular en 3D · Accesible · Mide su calor y su corriente</a:t>
            </a:r>
          </a:p>
        </p:txBody>
      </p:sp>
      <p:sp>
        <p:nvSpPr>
          <p:cNvPr id="32" name="Rounded Rectangle 31"/>
          <p:cNvSpPr/>
          <p:nvPr/>
        </p:nvSpPr>
        <p:spPr>
          <a:xfrm>
            <a:off x="731520" y="5166360"/>
            <a:ext cx="10698480" cy="731520"/>
          </a:xfrm>
          <a:prstGeom prst="roundRect">
            <a:avLst>
              <a:gd name="adj" fmla="val 3000"/>
            </a:avLst>
          </a:prstGeom>
          <a:solidFill>
            <a:srgbClr val="FFFFFF"/>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230368"/>
            <a:ext cx="10332720" cy="320040"/>
          </a:xfrm>
          <a:prstGeom prst="rect">
            <a:avLst/>
          </a:prstGeom>
          <a:noFill/>
        </p:spPr>
        <p:txBody>
          <a:bodyPr wrap="square" anchor="t" lIns="36576" rIns="36576" tIns="18288" bIns="18288">
            <a:spAutoFit/>
          </a:bodyPr>
          <a:lstStyle/>
          <a:p>
            <a:pPr algn="l"/>
            <a:r>
              <a:rPr sz="1800" b="1" i="0">
                <a:solidFill>
                  <a:srgbClr val="181824"/>
                </a:solidFill>
                <a:latin typeface="Calibri"/>
              </a:rPr>
              <a:t>Diferenciador: además de moverse, medimos cuánto calor y corriente aguanta su motor atorado.</a:t>
            </a:r>
          </a:p>
        </p:txBody>
      </p:sp>
      <p:sp>
        <p:nvSpPr>
          <p:cNvPr id="34" name="TextBox 33"/>
          <p:cNvSpPr txBox="1"/>
          <p:nvPr/>
        </p:nvSpPr>
        <p:spPr>
          <a:xfrm>
            <a:off x="914400" y="5596128"/>
            <a:ext cx="10332720" cy="274320"/>
          </a:xfrm>
          <a:prstGeom prst="rect">
            <a:avLst/>
          </a:prstGeom>
          <a:noFill/>
        </p:spPr>
        <p:txBody>
          <a:bodyPr wrap="square" anchor="t" lIns="36576" rIns="36576" tIns="18288" bIns="18288">
            <a:spAutoFit/>
          </a:bodyPr>
          <a:lstStyle/>
          <a:p>
            <a:pPr algn="l"/>
            <a:r>
              <a:rPr sz="1400" b="1" i="0">
                <a:solidFill>
                  <a:srgbClr val="C026D3"/>
                </a:solidFill>
                <a:latin typeface="Calibri"/>
              </a:rPr>
              <a:t>Robótica modular · Interacción humano-robot · Visión por computadora</a:t>
            </a:r>
          </a:p>
        </p:txBody>
      </p:sp>
      <p:sp>
        <p:nvSpPr>
          <p:cNvPr id="35" name="TextBox 34"/>
          <p:cNvSpPr txBox="1"/>
          <p:nvPr/>
        </p:nvSpPr>
        <p:spPr>
          <a:xfrm>
            <a:off x="731520" y="6035040"/>
            <a:ext cx="10698480" cy="274320"/>
          </a:xfrm>
          <a:prstGeom prst="rect">
            <a:avLst/>
          </a:prstGeom>
          <a:noFill/>
        </p:spPr>
        <p:txBody>
          <a:bodyPr wrap="square" anchor="t" lIns="36576" rIns="36576" tIns="18288" bIns="18288">
            <a:spAutoFit/>
          </a:bodyPr>
          <a:lstStyle/>
          <a:p>
            <a:pPr algn="l"/>
            <a:r>
              <a:rPr sz="1200" b="0" i="0">
                <a:solidFill>
                  <a:srgbClr val="665480"/>
                </a:solidFill>
                <a:latin typeface="Calibri"/>
              </a:rPr>
              <a:t>Apoyado en: Seo et al. 2019 · Fong et al. 2003 · MediaPipe/OpenCV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C"/>
        </a:solidFill>
        <a:effectLst/>
      </p:bgPr>
    </p:bg>
    <p:spTree>
      <p:nvGrpSpPr>
        <p:cNvPr id="1" name=""/>
        <p:cNvGrpSpPr/>
        <p:nvPr/>
      </p:nvGrpSpPr>
      <p:grpSpPr/>
      <p:sp>
        <p:nvSpPr>
          <p:cNvPr id="2" name="Rounded Rectangle 1"/>
          <p:cNvSpPr/>
          <p:nvPr/>
        </p:nvSpPr>
        <p:spPr>
          <a:xfrm>
            <a:off x="731520" y="292608"/>
            <a:ext cx="1554480" cy="292608"/>
          </a:xfrm>
          <a:prstGeom prst="roundRect">
            <a:avLst>
              <a:gd name="adj" fmla="val 25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554480" cy="292608"/>
          </a:xfrm>
          <a:prstGeom prst="rect">
            <a:avLst/>
          </a:prstGeom>
          <a:noFill/>
        </p:spPr>
        <p:txBody>
          <a:bodyPr wrap="square" anchor="t" lIns="36576" rIns="36576" tIns="18288" bIns="18288">
            <a:spAutoFit/>
          </a:bodyPr>
          <a:lstStyle/>
          <a:p>
            <a:pPr algn="ctr"/>
            <a:r>
              <a:rPr sz="1200" b="0" i="0">
                <a:solidFill>
                  <a:srgbClr val="665480"/>
                </a:solidFill>
                <a:latin typeface="Calibri"/>
              </a:rPr>
              <a:t>PLANTEAMIENTO</a:t>
            </a:r>
          </a:p>
        </p:txBody>
      </p:sp>
      <p:sp>
        <p:nvSpPr>
          <p:cNvPr id="4" name="Rounded Rectangle 3"/>
          <p:cNvSpPr/>
          <p:nvPr/>
        </p:nvSpPr>
        <p:spPr>
          <a:xfrm>
            <a:off x="2395728" y="292608"/>
            <a:ext cx="1554480" cy="292608"/>
          </a:xfrm>
          <a:prstGeom prst="roundRect">
            <a:avLst>
              <a:gd name="adj" fmla="val 25000"/>
            </a:avLst>
          </a:prstGeom>
          <a:solidFill>
            <a:srgbClr val="FDE8F5"/>
          </a:solidFill>
          <a:ln w="19050">
            <a:solidFill>
              <a:srgbClr val="E02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395728" y="320040"/>
            <a:ext cx="1554480" cy="292608"/>
          </a:xfrm>
          <a:prstGeom prst="rect">
            <a:avLst/>
          </a:prstGeom>
          <a:noFill/>
        </p:spPr>
        <p:txBody>
          <a:bodyPr wrap="square" anchor="t" lIns="36576" rIns="36576" tIns="18288" bIns="18288">
            <a:spAutoFit/>
          </a:bodyPr>
          <a:lstStyle/>
          <a:p>
            <a:pPr algn="ctr"/>
            <a:r>
              <a:rPr sz="1200" b="1" i="0">
                <a:solidFill>
                  <a:srgbClr val="C026D3"/>
                </a:solidFill>
                <a:latin typeface="Calibri"/>
              </a:rPr>
              <a:t>DISEÑO</a:t>
            </a:r>
          </a:p>
        </p:txBody>
      </p:sp>
      <p:sp>
        <p:nvSpPr>
          <p:cNvPr id="6" name="Rounded Rectangle 5"/>
          <p:cNvSpPr/>
          <p:nvPr/>
        </p:nvSpPr>
        <p:spPr>
          <a:xfrm>
            <a:off x="4059936" y="292608"/>
            <a:ext cx="1554480" cy="292608"/>
          </a:xfrm>
          <a:prstGeom prst="roundRect">
            <a:avLst>
              <a:gd name="adj" fmla="val 25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59936" y="320040"/>
            <a:ext cx="1554480" cy="292608"/>
          </a:xfrm>
          <a:prstGeom prst="rect">
            <a:avLst/>
          </a:prstGeom>
          <a:noFill/>
        </p:spPr>
        <p:txBody>
          <a:bodyPr wrap="square" anchor="t" lIns="36576" rIns="36576" tIns="18288" bIns="18288">
            <a:spAutoFit/>
          </a:bodyPr>
          <a:lstStyle/>
          <a:p>
            <a:pPr algn="ctr"/>
            <a:r>
              <a:rPr sz="1200" b="0" i="0">
                <a:solidFill>
                  <a:srgbClr val="665480"/>
                </a:solidFill>
                <a:latin typeface="Calibri"/>
              </a:rPr>
              <a:t>RESULTADOS</a:t>
            </a:r>
          </a:p>
        </p:txBody>
      </p:sp>
      <p:sp>
        <p:nvSpPr>
          <p:cNvPr id="8" name="Rounded Rectangle 7"/>
          <p:cNvSpPr/>
          <p:nvPr/>
        </p:nvSpPr>
        <p:spPr>
          <a:xfrm>
            <a:off x="5724144" y="292608"/>
            <a:ext cx="1554480" cy="292608"/>
          </a:xfrm>
          <a:prstGeom prst="roundRect">
            <a:avLst>
              <a:gd name="adj" fmla="val 25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24144" y="320040"/>
            <a:ext cx="1554480" cy="292608"/>
          </a:xfrm>
          <a:prstGeom prst="rect">
            <a:avLst/>
          </a:prstGeom>
          <a:noFill/>
        </p:spPr>
        <p:txBody>
          <a:bodyPr wrap="square" anchor="t" lIns="36576" rIns="36576" tIns="18288" bIns="18288">
            <a:spAutoFit/>
          </a:bodyPr>
          <a:lstStyle/>
          <a:p>
            <a:pPr algn="ctr"/>
            <a:r>
              <a:rPr sz="1200" b="0" i="0">
                <a:solidFill>
                  <a:srgbClr val="665480"/>
                </a:solidFill>
                <a:latin typeface="Calibri"/>
              </a:rPr>
              <a:t>BRECHA</a:t>
            </a:r>
          </a:p>
        </p:txBody>
      </p:sp>
      <p:sp>
        <p:nvSpPr>
          <p:cNvPr id="10" name="Rounded Rectangle 9"/>
          <p:cNvSpPr/>
          <p:nvPr/>
        </p:nvSpPr>
        <p:spPr>
          <a:xfrm>
            <a:off x="7388352" y="292608"/>
            <a:ext cx="1554480" cy="292608"/>
          </a:xfrm>
          <a:prstGeom prst="roundRect">
            <a:avLst>
              <a:gd name="adj" fmla="val 25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88352" y="320040"/>
            <a:ext cx="1554480" cy="292608"/>
          </a:xfrm>
          <a:prstGeom prst="rect">
            <a:avLst/>
          </a:prstGeom>
          <a:noFill/>
        </p:spPr>
        <p:txBody>
          <a:bodyPr wrap="square" anchor="t" lIns="36576" rIns="36576" tIns="18288" bIns="18288">
            <a:spAutoFit/>
          </a:bodyPr>
          <a:lstStyle/>
          <a:p>
            <a:pPr algn="ctr"/>
            <a:r>
              <a:rPr sz="1200" b="0" i="0">
                <a:solidFill>
                  <a:srgbClr val="665480"/>
                </a:solidFill>
                <a:latin typeface="Calibri"/>
              </a:rPr>
              <a:t>SIGUIENTES</a:t>
            </a:r>
          </a:p>
        </p:txBody>
      </p:sp>
      <p:sp>
        <p:nvSpPr>
          <p:cNvPr id="12" name="TextBox 11"/>
          <p:cNvSpPr txBox="1"/>
          <p:nvPr/>
        </p:nvSpPr>
        <p:spPr>
          <a:xfrm>
            <a:off x="10972800" y="6446520"/>
            <a:ext cx="731520" cy="274320"/>
          </a:xfrm>
          <a:prstGeom prst="rect">
            <a:avLst/>
          </a:prstGeom>
          <a:noFill/>
        </p:spPr>
        <p:txBody>
          <a:bodyPr wrap="square" anchor="t" lIns="36576" rIns="36576" tIns="18288" bIns="18288">
            <a:spAutoFit/>
          </a:bodyPr>
          <a:lstStyle/>
          <a:p>
            <a:pPr algn="r"/>
            <a:r>
              <a:rPr sz="1300" b="0" i="0">
                <a:solidFill>
                  <a:srgbClr val="665480"/>
                </a:solidFill>
                <a:latin typeface="Calibri"/>
              </a:rPr>
              <a:t>4/10</a:t>
            </a:r>
          </a:p>
        </p:txBody>
      </p:sp>
      <p:sp>
        <p:nvSpPr>
          <p:cNvPr id="13" name="TextBox 12"/>
          <p:cNvSpPr txBox="1"/>
          <p:nvPr/>
        </p:nvSpPr>
        <p:spPr>
          <a:xfrm>
            <a:off x="731520" y="685800"/>
            <a:ext cx="10698480" cy="777240"/>
          </a:xfrm>
          <a:prstGeom prst="rect">
            <a:avLst/>
          </a:prstGeom>
          <a:noFill/>
        </p:spPr>
        <p:txBody>
          <a:bodyPr wrap="square" anchor="t" lIns="36576" rIns="36576" tIns="18288" bIns="18288">
            <a:spAutoFit/>
          </a:bodyPr>
          <a:lstStyle/>
          <a:p>
            <a:pPr algn="l"/>
            <a:r>
              <a:rPr sz="4000" b="1" i="0">
                <a:solidFill>
                  <a:srgbClr val="181824"/>
                </a:solidFill>
                <a:latin typeface="Calibri"/>
              </a:rPr>
              <a:t>Tres cosas medidas, tres líneas rojas</a:t>
            </a:r>
          </a:p>
        </p:txBody>
      </p:sp>
      <p:sp>
        <p:nvSpPr>
          <p:cNvPr id="14" name="Rounded Rectangle 13"/>
          <p:cNvSpPr/>
          <p:nvPr/>
        </p:nvSpPr>
        <p:spPr>
          <a:xfrm>
            <a:off x="731520" y="1600200"/>
            <a:ext cx="2560320" cy="365760"/>
          </a:xfrm>
          <a:prstGeom prst="roundRect">
            <a:avLst>
              <a:gd name="adj" fmla="val 10000"/>
            </a:avLst>
          </a:prstGeom>
          <a:solidFill>
            <a:srgbClr val="FD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655064"/>
            <a:ext cx="2560320" cy="274320"/>
          </a:xfrm>
          <a:prstGeom prst="rect">
            <a:avLst/>
          </a:prstGeom>
          <a:noFill/>
        </p:spPr>
        <p:txBody>
          <a:bodyPr wrap="square" anchor="t" lIns="36576" rIns="36576" tIns="18288" bIns="18288">
            <a:spAutoFit/>
          </a:bodyPr>
          <a:lstStyle/>
          <a:p>
            <a:pPr algn="ctr"/>
            <a:r>
              <a:rPr sz="1400" b="1" i="0">
                <a:solidFill>
                  <a:srgbClr val="C026D3"/>
                </a:solidFill>
                <a:latin typeface="Calibri"/>
              </a:rPr>
              <a:t>QUÉ MEDIMOS</a:t>
            </a:r>
          </a:p>
        </p:txBody>
      </p:sp>
      <p:sp>
        <p:nvSpPr>
          <p:cNvPr id="16" name="Rounded Rectangle 15"/>
          <p:cNvSpPr/>
          <p:nvPr/>
        </p:nvSpPr>
        <p:spPr>
          <a:xfrm>
            <a:off x="3291840" y="1600200"/>
            <a:ext cx="4937760" cy="365760"/>
          </a:xfrm>
          <a:prstGeom prst="roundRect">
            <a:avLst>
              <a:gd name="adj" fmla="val 10000"/>
            </a:avLst>
          </a:prstGeom>
          <a:solidFill>
            <a:srgbClr val="FD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91840" y="1655064"/>
            <a:ext cx="4937760" cy="274320"/>
          </a:xfrm>
          <a:prstGeom prst="rect">
            <a:avLst/>
          </a:prstGeom>
          <a:noFill/>
        </p:spPr>
        <p:txBody>
          <a:bodyPr wrap="square" anchor="t" lIns="36576" rIns="36576" tIns="18288" bIns="18288">
            <a:spAutoFit/>
          </a:bodyPr>
          <a:lstStyle/>
          <a:p>
            <a:pPr algn="ctr"/>
            <a:r>
              <a:rPr sz="1400" b="1" i="0">
                <a:solidFill>
                  <a:srgbClr val="C026D3"/>
                </a:solidFill>
                <a:latin typeface="Calibri"/>
              </a:rPr>
              <a:t>CÓMO</a:t>
            </a:r>
          </a:p>
        </p:txBody>
      </p:sp>
      <p:sp>
        <p:nvSpPr>
          <p:cNvPr id="18" name="Rounded Rectangle 17"/>
          <p:cNvSpPr/>
          <p:nvPr/>
        </p:nvSpPr>
        <p:spPr>
          <a:xfrm>
            <a:off x="8229600" y="1600200"/>
            <a:ext cx="3200400" cy="365760"/>
          </a:xfrm>
          <a:prstGeom prst="roundRect">
            <a:avLst>
              <a:gd name="adj" fmla="val 10000"/>
            </a:avLst>
          </a:prstGeom>
          <a:solidFill>
            <a:srgbClr val="FD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1655064"/>
            <a:ext cx="3200400" cy="274320"/>
          </a:xfrm>
          <a:prstGeom prst="rect">
            <a:avLst/>
          </a:prstGeom>
          <a:noFill/>
        </p:spPr>
        <p:txBody>
          <a:bodyPr wrap="square" anchor="t" lIns="36576" rIns="36576" tIns="18288" bIns="18288">
            <a:spAutoFit/>
          </a:bodyPr>
          <a:lstStyle/>
          <a:p>
            <a:pPr algn="ctr"/>
            <a:r>
              <a:rPr sz="1400" b="1" i="0">
                <a:solidFill>
                  <a:srgbClr val="C026D3"/>
                </a:solidFill>
                <a:latin typeface="Calibri"/>
              </a:rPr>
              <a:t>APROBAMOS SI</a:t>
            </a:r>
          </a:p>
        </p:txBody>
      </p:sp>
      <p:sp>
        <p:nvSpPr>
          <p:cNvPr id="20" name="Rounded Rectangle 19"/>
          <p:cNvSpPr/>
          <p:nvPr/>
        </p:nvSpPr>
        <p:spPr>
          <a:xfrm>
            <a:off x="731520" y="2039112"/>
            <a:ext cx="10698480" cy="841248"/>
          </a:xfrm>
          <a:prstGeom prst="roundRect">
            <a:avLst>
              <a:gd name="adj" fmla="val 3000"/>
            </a:avLst>
          </a:prstGeom>
          <a:solidFill>
            <a:srgbClr val="FFFFFF"/>
          </a:solidFill>
          <a:ln w="19050">
            <a:solidFill>
              <a:srgbClr val="6654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2203704"/>
            <a:ext cx="2377440" cy="502920"/>
          </a:xfrm>
          <a:prstGeom prst="rect">
            <a:avLst/>
          </a:prstGeom>
          <a:noFill/>
        </p:spPr>
        <p:txBody>
          <a:bodyPr wrap="square" anchor="t" lIns="36576" rIns="36576" tIns="18288" bIns="18288">
            <a:spAutoFit/>
          </a:bodyPr>
          <a:lstStyle/>
          <a:p>
            <a:pPr algn="l"/>
            <a:r>
              <a:rPr sz="2000" b="1" i="0">
                <a:solidFill>
                  <a:srgbClr val="181824"/>
                </a:solidFill>
                <a:latin typeface="Calibri"/>
              </a:rPr>
              <a:t>Velocidad de cámara</a:t>
            </a:r>
          </a:p>
        </p:txBody>
      </p:sp>
      <p:sp>
        <p:nvSpPr>
          <p:cNvPr id="22" name="TextBox 21"/>
          <p:cNvSpPr txBox="1"/>
          <p:nvPr/>
        </p:nvSpPr>
        <p:spPr>
          <a:xfrm>
            <a:off x="3383280" y="2203704"/>
            <a:ext cx="4754880" cy="594360"/>
          </a:xfrm>
          <a:prstGeom prst="rect">
            <a:avLst/>
          </a:prstGeom>
          <a:noFill/>
        </p:spPr>
        <p:txBody>
          <a:bodyPr wrap="square" anchor="t" lIns="36576" rIns="36576" tIns="18288" bIns="18288">
            <a:spAutoFit/>
          </a:bodyPr>
          <a:lstStyle/>
          <a:p>
            <a:pPr algn="l"/>
            <a:r>
              <a:rPr sz="2000" b="0" i="0">
                <a:solidFill>
                  <a:srgbClr val="665480"/>
                </a:solidFill>
                <a:latin typeface="Calibri"/>
              </a:rPr>
              <a:t>N=10 repeticiones; cámara rápida 120 FPS de referencia</a:t>
            </a:r>
          </a:p>
        </p:txBody>
      </p:sp>
      <p:sp>
        <p:nvSpPr>
          <p:cNvPr id="23" name="TextBox 22"/>
          <p:cNvSpPr txBox="1"/>
          <p:nvPr/>
        </p:nvSpPr>
        <p:spPr>
          <a:xfrm>
            <a:off x="8321040" y="2203704"/>
            <a:ext cx="2926080" cy="594360"/>
          </a:xfrm>
          <a:prstGeom prst="rect">
            <a:avLst/>
          </a:prstGeom>
          <a:noFill/>
        </p:spPr>
        <p:txBody>
          <a:bodyPr wrap="square" anchor="t" lIns="36576" rIns="36576" tIns="18288" bIns="18288">
            <a:spAutoFit/>
          </a:bodyPr>
          <a:lstStyle/>
          <a:p>
            <a:pPr algn="l"/>
            <a:r>
              <a:rPr sz="2000" b="1" i="0">
                <a:solidFill>
                  <a:srgbClr val="C026D3"/>
                </a:solidFill>
                <a:latin typeface="Calibri"/>
              </a:rPr>
              <a:t>&gt; 30 FPS y &lt; 100 ms</a:t>
            </a:r>
          </a:p>
        </p:txBody>
      </p:sp>
      <p:sp>
        <p:nvSpPr>
          <p:cNvPr id="24" name="Rounded Rectangle 23"/>
          <p:cNvSpPr/>
          <p:nvPr/>
        </p:nvSpPr>
        <p:spPr>
          <a:xfrm>
            <a:off x="731520" y="2935224"/>
            <a:ext cx="10698480" cy="841248"/>
          </a:xfrm>
          <a:prstGeom prst="roundRect">
            <a:avLst>
              <a:gd name="adj" fmla="val 3000"/>
            </a:avLst>
          </a:prstGeom>
          <a:solidFill>
            <a:srgbClr val="FFFFFF"/>
          </a:solidFill>
          <a:ln w="19050">
            <a:solidFill>
              <a:srgbClr val="6654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3099816"/>
            <a:ext cx="2377440" cy="502920"/>
          </a:xfrm>
          <a:prstGeom prst="rect">
            <a:avLst/>
          </a:prstGeom>
          <a:noFill/>
        </p:spPr>
        <p:txBody>
          <a:bodyPr wrap="square" anchor="t" lIns="36576" rIns="36576" tIns="18288" bIns="18288">
            <a:spAutoFit/>
          </a:bodyPr>
          <a:lstStyle/>
          <a:p>
            <a:pPr algn="l"/>
            <a:r>
              <a:rPr sz="2000" b="1" i="0">
                <a:solidFill>
                  <a:srgbClr val="181824"/>
                </a:solidFill>
                <a:latin typeface="Calibri"/>
              </a:rPr>
              <a:t>Respuesta a gestos</a:t>
            </a:r>
          </a:p>
        </p:txBody>
      </p:sp>
      <p:sp>
        <p:nvSpPr>
          <p:cNvPr id="26" name="TextBox 25"/>
          <p:cNvSpPr txBox="1"/>
          <p:nvPr/>
        </p:nvSpPr>
        <p:spPr>
          <a:xfrm>
            <a:off x="3383280" y="3099816"/>
            <a:ext cx="4754880" cy="594360"/>
          </a:xfrm>
          <a:prstGeom prst="rect">
            <a:avLst/>
          </a:prstGeom>
          <a:noFill/>
        </p:spPr>
        <p:txBody>
          <a:bodyPr wrap="square" anchor="t" lIns="36576" rIns="36576" tIns="18288" bIns="18288">
            <a:spAutoFit/>
          </a:bodyPr>
          <a:lstStyle/>
          <a:p>
            <a:pPr algn="l"/>
            <a:r>
              <a:rPr sz="2000" b="0" i="0">
                <a:solidFill>
                  <a:srgbClr val="665480"/>
                </a:solidFill>
                <a:latin typeface="Calibri"/>
              </a:rPr>
              <a:t>Saludo, corazón y juego frente a la cámara web</a:t>
            </a:r>
          </a:p>
        </p:txBody>
      </p:sp>
      <p:sp>
        <p:nvSpPr>
          <p:cNvPr id="27" name="TextBox 26"/>
          <p:cNvSpPr txBox="1"/>
          <p:nvPr/>
        </p:nvSpPr>
        <p:spPr>
          <a:xfrm>
            <a:off x="8321040" y="3099816"/>
            <a:ext cx="2926080" cy="594360"/>
          </a:xfrm>
          <a:prstGeom prst="rect">
            <a:avLst/>
          </a:prstGeom>
          <a:noFill/>
        </p:spPr>
        <p:txBody>
          <a:bodyPr wrap="square" anchor="t" lIns="36576" rIns="36576" tIns="18288" bIns="18288">
            <a:spAutoFit/>
          </a:bodyPr>
          <a:lstStyle/>
          <a:p>
            <a:pPr algn="l"/>
            <a:r>
              <a:rPr sz="2000" b="1" i="0">
                <a:solidFill>
                  <a:srgbClr val="C026D3"/>
                </a:solidFill>
                <a:latin typeface="Calibri"/>
              </a:rPr>
              <a:t>El panel responde en vivo</a:t>
            </a:r>
          </a:p>
        </p:txBody>
      </p:sp>
      <p:sp>
        <p:nvSpPr>
          <p:cNvPr id="28" name="Rounded Rectangle 27"/>
          <p:cNvSpPr/>
          <p:nvPr/>
        </p:nvSpPr>
        <p:spPr>
          <a:xfrm>
            <a:off x="731520" y="3831336"/>
            <a:ext cx="10698480" cy="841248"/>
          </a:xfrm>
          <a:prstGeom prst="roundRect">
            <a:avLst>
              <a:gd name="adj" fmla="val 3000"/>
            </a:avLst>
          </a:prstGeom>
          <a:solidFill>
            <a:srgbClr val="FFFFFF"/>
          </a:solidFill>
          <a:ln w="19050">
            <a:solidFill>
              <a:srgbClr val="6654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3995928"/>
            <a:ext cx="2377440" cy="502920"/>
          </a:xfrm>
          <a:prstGeom prst="rect">
            <a:avLst/>
          </a:prstGeom>
          <a:noFill/>
        </p:spPr>
        <p:txBody>
          <a:bodyPr wrap="square" anchor="t" lIns="36576" rIns="36576" tIns="18288" bIns="18288">
            <a:spAutoFit/>
          </a:bodyPr>
          <a:lstStyle/>
          <a:p>
            <a:pPr algn="l"/>
            <a:r>
              <a:rPr sz="2000" b="1" i="0">
                <a:solidFill>
                  <a:srgbClr val="181824"/>
                </a:solidFill>
                <a:latin typeface="Calibri"/>
              </a:rPr>
              <a:t>Calor y corriente</a:t>
            </a:r>
          </a:p>
        </p:txBody>
      </p:sp>
      <p:sp>
        <p:nvSpPr>
          <p:cNvPr id="30" name="TextBox 29"/>
          <p:cNvSpPr txBox="1"/>
          <p:nvPr/>
        </p:nvSpPr>
        <p:spPr>
          <a:xfrm>
            <a:off x="3383280" y="3995928"/>
            <a:ext cx="4754880" cy="594360"/>
          </a:xfrm>
          <a:prstGeom prst="rect">
            <a:avLst/>
          </a:prstGeom>
          <a:noFill/>
        </p:spPr>
        <p:txBody>
          <a:bodyPr wrap="square" anchor="t" lIns="36576" rIns="36576" tIns="18288" bIns="18288">
            <a:spAutoFit/>
          </a:bodyPr>
          <a:lstStyle/>
          <a:p>
            <a:pPr algn="l"/>
            <a:r>
              <a:rPr sz="2000" b="0" i="0">
                <a:solidFill>
                  <a:srgbClr val="665480"/>
                </a:solidFill>
                <a:latin typeface="Calibri"/>
              </a:rPr>
              <a:t>Sensor LM35 + sensor INA219 + tope físico de atasco</a:t>
            </a:r>
          </a:p>
        </p:txBody>
      </p:sp>
      <p:sp>
        <p:nvSpPr>
          <p:cNvPr id="31" name="TextBox 30"/>
          <p:cNvSpPr txBox="1"/>
          <p:nvPr/>
        </p:nvSpPr>
        <p:spPr>
          <a:xfrm>
            <a:off x="8321040" y="3995928"/>
            <a:ext cx="2926080" cy="594360"/>
          </a:xfrm>
          <a:prstGeom prst="rect">
            <a:avLst/>
          </a:prstGeom>
          <a:noFill/>
        </p:spPr>
        <p:txBody>
          <a:bodyPr wrap="square" anchor="t" lIns="36576" rIns="36576" tIns="18288" bIns="18288">
            <a:spAutoFit/>
          </a:bodyPr>
          <a:lstStyle/>
          <a:p>
            <a:pPr algn="l"/>
            <a:r>
              <a:rPr sz="2000" b="1" i="0">
                <a:solidFill>
                  <a:srgbClr val="C026D3"/>
                </a:solidFill>
                <a:latin typeface="Calibri"/>
              </a:rPr>
              <a:t>Bajo 55 °C y corte &lt; 15 s</a:t>
            </a:r>
          </a:p>
        </p:txBody>
      </p:sp>
      <p:sp>
        <p:nvSpPr>
          <p:cNvPr id="32" name="Rounded Rectangle 31"/>
          <p:cNvSpPr/>
          <p:nvPr/>
        </p:nvSpPr>
        <p:spPr>
          <a:xfrm>
            <a:off x="731520" y="4526280"/>
            <a:ext cx="10698480" cy="1645920"/>
          </a:xfrm>
          <a:prstGeom prst="roundRect">
            <a:avLst>
              <a:gd name="adj" fmla="val 3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4590288"/>
            <a:ext cx="10332720" cy="274320"/>
          </a:xfrm>
          <a:prstGeom prst="rect">
            <a:avLst/>
          </a:prstGeom>
          <a:noFill/>
        </p:spPr>
        <p:txBody>
          <a:bodyPr wrap="square" anchor="t" lIns="36576" rIns="36576" tIns="18288" bIns="18288">
            <a:spAutoFit/>
          </a:bodyPr>
          <a:lstStyle/>
          <a:p>
            <a:pPr algn="l"/>
            <a:r>
              <a:rPr sz="1500" b="1" i="0">
                <a:solidFill>
                  <a:srgbClr val="181824"/>
                </a:solidFill>
                <a:latin typeface="Calibri"/>
              </a:rPr>
              <a:t>El prototipo puesto a prueba (cadena completa):</a:t>
            </a:r>
          </a:p>
        </p:txBody>
      </p:sp>
      <p:sp>
        <p:nvSpPr>
          <p:cNvPr id="34" name="Rounded Rectangle 33"/>
          <p:cNvSpPr/>
          <p:nvPr/>
        </p:nvSpPr>
        <p:spPr>
          <a:xfrm>
            <a:off x="914400" y="4983480"/>
            <a:ext cx="1920240" cy="960120"/>
          </a:xfrm>
          <a:prstGeom prst="roundRect">
            <a:avLst>
              <a:gd name="adj" fmla="val 3000"/>
            </a:avLst>
          </a:prstGeom>
          <a:solidFill>
            <a:srgbClr val="FFFFFF"/>
          </a:solidFill>
          <a:ln w="19050">
            <a:solidFill>
              <a:srgbClr val="E02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093208"/>
            <a:ext cx="1920240" cy="365760"/>
          </a:xfrm>
          <a:prstGeom prst="rect">
            <a:avLst/>
          </a:prstGeom>
          <a:noFill/>
        </p:spPr>
        <p:txBody>
          <a:bodyPr wrap="square" anchor="t" lIns="36576" rIns="36576" tIns="18288" bIns="18288">
            <a:spAutoFit/>
          </a:bodyPr>
          <a:lstStyle/>
          <a:p>
            <a:pPr algn="ctr"/>
            <a:r>
              <a:rPr sz="1800" b="1" i="0">
                <a:solidFill>
                  <a:srgbClr val="181824"/>
                </a:solidFill>
                <a:latin typeface="Calibri"/>
              </a:rPr>
              <a:t>Cámara web</a:t>
            </a:r>
          </a:p>
        </p:txBody>
      </p:sp>
      <p:sp>
        <p:nvSpPr>
          <p:cNvPr id="36" name="TextBox 35"/>
          <p:cNvSpPr txBox="1"/>
          <p:nvPr/>
        </p:nvSpPr>
        <p:spPr>
          <a:xfrm>
            <a:off x="914400" y="5486400"/>
            <a:ext cx="1920240" cy="365760"/>
          </a:xfrm>
          <a:prstGeom prst="rect">
            <a:avLst/>
          </a:prstGeom>
          <a:noFill/>
        </p:spPr>
        <p:txBody>
          <a:bodyPr wrap="square" anchor="t" lIns="36576" rIns="36576" tIns="18288" bIns="18288">
            <a:spAutoFit/>
          </a:bodyPr>
          <a:lstStyle/>
          <a:p>
            <a:pPr algn="ctr"/>
            <a:r>
              <a:rPr sz="1500" b="0" i="0">
                <a:solidFill>
                  <a:srgbClr val="665480"/>
                </a:solidFill>
                <a:latin typeface="Calibri"/>
              </a:rPr>
              <a:t>30 FPS</a:t>
            </a:r>
          </a:p>
        </p:txBody>
      </p:sp>
      <p:cxnSp>
        <p:nvCxnSpPr>
          <p:cNvPr id="37" name="Connector 36"/>
          <p:cNvCxnSpPr/>
          <p:nvPr/>
        </p:nvCxnSpPr>
        <p:spPr>
          <a:xfrm>
            <a:off x="2834640" y="5458968"/>
            <a:ext cx="201168" cy="0"/>
          </a:xfrm>
          <a:prstGeom prst="line">
            <a:avLst/>
          </a:prstGeom>
          <a:ln w="25400">
            <a:solidFill>
              <a:srgbClr val="E024A5"/>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3035808" y="4983480"/>
            <a:ext cx="1920240" cy="960120"/>
          </a:xfrm>
          <a:prstGeom prst="roundRect">
            <a:avLst>
              <a:gd name="adj" fmla="val 3000"/>
            </a:avLst>
          </a:prstGeom>
          <a:solidFill>
            <a:srgbClr val="FFFFFF"/>
          </a:solidFill>
          <a:ln w="19050">
            <a:solidFill>
              <a:srgbClr val="E02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035808" y="5093208"/>
            <a:ext cx="1920240" cy="365760"/>
          </a:xfrm>
          <a:prstGeom prst="rect">
            <a:avLst/>
          </a:prstGeom>
          <a:noFill/>
        </p:spPr>
        <p:txBody>
          <a:bodyPr wrap="square" anchor="t" lIns="36576" rIns="36576" tIns="18288" bIns="18288">
            <a:spAutoFit/>
          </a:bodyPr>
          <a:lstStyle/>
          <a:p>
            <a:pPr algn="ctr"/>
            <a:r>
              <a:rPr sz="1800" b="1" i="0">
                <a:solidFill>
                  <a:srgbClr val="181824"/>
                </a:solidFill>
                <a:latin typeface="Calibri"/>
              </a:rPr>
              <a:t>Software PC</a:t>
            </a:r>
          </a:p>
        </p:txBody>
      </p:sp>
      <p:sp>
        <p:nvSpPr>
          <p:cNvPr id="40" name="TextBox 39"/>
          <p:cNvSpPr txBox="1"/>
          <p:nvPr/>
        </p:nvSpPr>
        <p:spPr>
          <a:xfrm>
            <a:off x="3035808" y="5486400"/>
            <a:ext cx="1920240" cy="365760"/>
          </a:xfrm>
          <a:prstGeom prst="rect">
            <a:avLst/>
          </a:prstGeom>
          <a:noFill/>
        </p:spPr>
        <p:txBody>
          <a:bodyPr wrap="square" anchor="t" lIns="36576" rIns="36576" tIns="18288" bIns="18288">
            <a:spAutoFit/>
          </a:bodyPr>
          <a:lstStyle/>
          <a:p>
            <a:pPr algn="ctr"/>
            <a:r>
              <a:rPr sz="1500" b="0" i="0">
                <a:solidFill>
                  <a:srgbClr val="665480"/>
                </a:solidFill>
                <a:latin typeface="Calibri"/>
              </a:rPr>
              <a:t>MediaPipe</a:t>
            </a:r>
          </a:p>
        </p:txBody>
      </p:sp>
      <p:cxnSp>
        <p:nvCxnSpPr>
          <p:cNvPr id="41" name="Connector 40"/>
          <p:cNvCxnSpPr/>
          <p:nvPr/>
        </p:nvCxnSpPr>
        <p:spPr>
          <a:xfrm>
            <a:off x="4956048" y="5458968"/>
            <a:ext cx="201168" cy="0"/>
          </a:xfrm>
          <a:prstGeom prst="line">
            <a:avLst/>
          </a:prstGeom>
          <a:ln w="25400">
            <a:solidFill>
              <a:srgbClr val="E024A5"/>
            </a:solidFill>
            <a:tailEnd type="triangle"/>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5157216" y="4983480"/>
            <a:ext cx="1920240" cy="960120"/>
          </a:xfrm>
          <a:prstGeom prst="roundRect">
            <a:avLst>
              <a:gd name="adj" fmla="val 3000"/>
            </a:avLst>
          </a:prstGeom>
          <a:solidFill>
            <a:srgbClr val="FFFFFF"/>
          </a:solidFill>
          <a:ln w="19050">
            <a:solidFill>
              <a:srgbClr val="E02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57216" y="5093208"/>
            <a:ext cx="1920240" cy="365760"/>
          </a:xfrm>
          <a:prstGeom prst="rect">
            <a:avLst/>
          </a:prstGeom>
          <a:noFill/>
        </p:spPr>
        <p:txBody>
          <a:bodyPr wrap="square" anchor="t" lIns="36576" rIns="36576" tIns="18288" bIns="18288">
            <a:spAutoFit/>
          </a:bodyPr>
          <a:lstStyle/>
          <a:p>
            <a:pPr algn="ctr"/>
            <a:r>
              <a:rPr sz="1800" b="1" i="0">
                <a:solidFill>
                  <a:srgbClr val="181824"/>
                </a:solidFill>
                <a:latin typeface="Calibri"/>
              </a:rPr>
              <a:t>Bluetooth</a:t>
            </a:r>
          </a:p>
        </p:txBody>
      </p:sp>
      <p:sp>
        <p:nvSpPr>
          <p:cNvPr id="44" name="TextBox 43"/>
          <p:cNvSpPr txBox="1"/>
          <p:nvPr/>
        </p:nvSpPr>
        <p:spPr>
          <a:xfrm>
            <a:off x="5157216" y="5486400"/>
            <a:ext cx="1920240" cy="365760"/>
          </a:xfrm>
          <a:prstGeom prst="rect">
            <a:avLst/>
          </a:prstGeom>
          <a:noFill/>
        </p:spPr>
        <p:txBody>
          <a:bodyPr wrap="square" anchor="t" lIns="36576" rIns="36576" tIns="18288" bIns="18288">
            <a:spAutoFit/>
          </a:bodyPr>
          <a:lstStyle/>
          <a:p>
            <a:pPr algn="ctr"/>
            <a:r>
              <a:rPr sz="1500" b="0" i="0">
                <a:solidFill>
                  <a:srgbClr val="665480"/>
                </a:solidFill>
                <a:latin typeface="Calibri"/>
              </a:rPr>
              <a:t>BLE</a:t>
            </a:r>
          </a:p>
        </p:txBody>
      </p:sp>
      <p:cxnSp>
        <p:nvCxnSpPr>
          <p:cNvPr id="45" name="Connector 44"/>
          <p:cNvCxnSpPr/>
          <p:nvPr/>
        </p:nvCxnSpPr>
        <p:spPr>
          <a:xfrm>
            <a:off x="7077456" y="5458968"/>
            <a:ext cx="201167" cy="0"/>
          </a:xfrm>
          <a:prstGeom prst="line">
            <a:avLst/>
          </a:prstGeom>
          <a:ln w="25400">
            <a:solidFill>
              <a:srgbClr val="E024A5"/>
            </a:solidFill>
            <a:tailEnd type="triangle"/>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7278623" y="4983480"/>
            <a:ext cx="1920240" cy="960120"/>
          </a:xfrm>
          <a:prstGeom prst="roundRect">
            <a:avLst>
              <a:gd name="adj" fmla="val 3000"/>
            </a:avLst>
          </a:prstGeom>
          <a:solidFill>
            <a:srgbClr val="FFFFFF"/>
          </a:solidFill>
          <a:ln w="19050">
            <a:solidFill>
              <a:srgbClr val="E02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278623" y="5093208"/>
            <a:ext cx="1920240" cy="365760"/>
          </a:xfrm>
          <a:prstGeom prst="rect">
            <a:avLst/>
          </a:prstGeom>
          <a:noFill/>
        </p:spPr>
        <p:txBody>
          <a:bodyPr wrap="square" anchor="t" lIns="36576" rIns="36576" tIns="18288" bIns="18288">
            <a:spAutoFit/>
          </a:bodyPr>
          <a:lstStyle/>
          <a:p>
            <a:pPr algn="ctr"/>
            <a:r>
              <a:rPr sz="1800" b="1" i="0">
                <a:solidFill>
                  <a:srgbClr val="181824"/>
                </a:solidFill>
                <a:latin typeface="Calibri"/>
              </a:rPr>
              <a:t>ESP32-C3</a:t>
            </a:r>
          </a:p>
        </p:txBody>
      </p:sp>
      <p:sp>
        <p:nvSpPr>
          <p:cNvPr id="48" name="TextBox 47"/>
          <p:cNvSpPr txBox="1"/>
          <p:nvPr/>
        </p:nvSpPr>
        <p:spPr>
          <a:xfrm>
            <a:off x="7278623" y="5486400"/>
            <a:ext cx="1920240" cy="365760"/>
          </a:xfrm>
          <a:prstGeom prst="rect">
            <a:avLst/>
          </a:prstGeom>
          <a:noFill/>
        </p:spPr>
        <p:txBody>
          <a:bodyPr wrap="square" anchor="t" lIns="36576" rIns="36576" tIns="18288" bIns="18288">
            <a:spAutoFit/>
          </a:bodyPr>
          <a:lstStyle/>
          <a:p>
            <a:pPr algn="ctr"/>
            <a:r>
              <a:rPr sz="1500" b="0" i="0">
                <a:solidFill>
                  <a:srgbClr val="665480"/>
                </a:solidFill>
                <a:latin typeface="Calibri"/>
              </a:rPr>
              <a:t>2x PCA9685</a:t>
            </a:r>
          </a:p>
        </p:txBody>
      </p:sp>
      <p:cxnSp>
        <p:nvCxnSpPr>
          <p:cNvPr id="49" name="Connector 48"/>
          <p:cNvCxnSpPr/>
          <p:nvPr/>
        </p:nvCxnSpPr>
        <p:spPr>
          <a:xfrm>
            <a:off x="9198863" y="5458968"/>
            <a:ext cx="201169" cy="0"/>
          </a:xfrm>
          <a:prstGeom prst="line">
            <a:avLst/>
          </a:prstGeom>
          <a:ln w="25400">
            <a:solidFill>
              <a:srgbClr val="E024A5"/>
            </a:solidFill>
            <a:tailEnd type="triangle"/>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9400032" y="4983480"/>
            <a:ext cx="1920240" cy="960120"/>
          </a:xfrm>
          <a:prstGeom prst="roundRect">
            <a:avLst>
              <a:gd name="adj" fmla="val 3000"/>
            </a:avLst>
          </a:prstGeom>
          <a:solidFill>
            <a:srgbClr val="FFFFFF"/>
          </a:solidFill>
          <a:ln w="19050">
            <a:solidFill>
              <a:srgbClr val="E02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400032" y="5093208"/>
            <a:ext cx="1920240" cy="365760"/>
          </a:xfrm>
          <a:prstGeom prst="rect">
            <a:avLst/>
          </a:prstGeom>
          <a:noFill/>
        </p:spPr>
        <p:txBody>
          <a:bodyPr wrap="square" anchor="t" lIns="36576" rIns="36576" tIns="18288" bIns="18288">
            <a:spAutoFit/>
          </a:bodyPr>
          <a:lstStyle/>
          <a:p>
            <a:pPr algn="ctr"/>
            <a:r>
              <a:rPr sz="1800" b="1" i="0">
                <a:solidFill>
                  <a:srgbClr val="181824"/>
                </a:solidFill>
                <a:latin typeface="Calibri"/>
              </a:rPr>
              <a:t>16 módulos</a:t>
            </a:r>
          </a:p>
        </p:txBody>
      </p:sp>
      <p:sp>
        <p:nvSpPr>
          <p:cNvPr id="52" name="TextBox 51"/>
          <p:cNvSpPr txBox="1"/>
          <p:nvPr/>
        </p:nvSpPr>
        <p:spPr>
          <a:xfrm>
            <a:off x="9400032" y="5486400"/>
            <a:ext cx="1920240" cy="365760"/>
          </a:xfrm>
          <a:prstGeom prst="rect">
            <a:avLst/>
          </a:prstGeom>
          <a:noFill/>
        </p:spPr>
        <p:txBody>
          <a:bodyPr wrap="square" anchor="t" lIns="36576" rIns="36576" tIns="18288" bIns="18288">
            <a:spAutoFit/>
          </a:bodyPr>
          <a:lstStyle/>
          <a:p>
            <a:pPr algn="ctr"/>
            <a:r>
              <a:rPr sz="1500" b="0" i="0">
                <a:solidFill>
                  <a:srgbClr val="665480"/>
                </a:solidFill>
                <a:latin typeface="Calibri"/>
              </a:rPr>
              <a:t>32 servos MG90S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9FC"/>
        </a:solidFill>
        <a:effectLst/>
      </p:bgPr>
    </p:bg>
    <p:spTree>
      <p:nvGrpSpPr>
        <p:cNvPr id="1" name=""/>
        <p:cNvGrpSpPr/>
        <p:nvPr/>
      </p:nvGrpSpPr>
      <p:grpSpPr/>
      <p:sp>
        <p:nvSpPr>
          <p:cNvPr id="2" name="Rounded Rectangle 1"/>
          <p:cNvSpPr/>
          <p:nvPr/>
        </p:nvSpPr>
        <p:spPr>
          <a:xfrm>
            <a:off x="731520" y="292608"/>
            <a:ext cx="1554480" cy="292608"/>
          </a:xfrm>
          <a:prstGeom prst="roundRect">
            <a:avLst>
              <a:gd name="adj" fmla="val 25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554480" cy="292608"/>
          </a:xfrm>
          <a:prstGeom prst="rect">
            <a:avLst/>
          </a:prstGeom>
          <a:noFill/>
        </p:spPr>
        <p:txBody>
          <a:bodyPr wrap="square" anchor="t" lIns="36576" rIns="36576" tIns="18288" bIns="18288">
            <a:spAutoFit/>
          </a:bodyPr>
          <a:lstStyle/>
          <a:p>
            <a:pPr algn="ctr"/>
            <a:r>
              <a:rPr sz="1200" b="0" i="0">
                <a:solidFill>
                  <a:srgbClr val="665480"/>
                </a:solidFill>
                <a:latin typeface="Calibri"/>
              </a:rPr>
              <a:t>PLANTEAMIENTO</a:t>
            </a:r>
          </a:p>
        </p:txBody>
      </p:sp>
      <p:sp>
        <p:nvSpPr>
          <p:cNvPr id="4" name="Rounded Rectangle 3"/>
          <p:cNvSpPr/>
          <p:nvPr/>
        </p:nvSpPr>
        <p:spPr>
          <a:xfrm>
            <a:off x="2395728" y="292608"/>
            <a:ext cx="1554480" cy="292608"/>
          </a:xfrm>
          <a:prstGeom prst="roundRect">
            <a:avLst>
              <a:gd name="adj" fmla="val 25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395728" y="320040"/>
            <a:ext cx="1554480" cy="292608"/>
          </a:xfrm>
          <a:prstGeom prst="rect">
            <a:avLst/>
          </a:prstGeom>
          <a:noFill/>
        </p:spPr>
        <p:txBody>
          <a:bodyPr wrap="square" anchor="t" lIns="36576" rIns="36576" tIns="18288" bIns="18288">
            <a:spAutoFit/>
          </a:bodyPr>
          <a:lstStyle/>
          <a:p>
            <a:pPr algn="ctr"/>
            <a:r>
              <a:rPr sz="1200" b="0" i="0">
                <a:solidFill>
                  <a:srgbClr val="665480"/>
                </a:solidFill>
                <a:latin typeface="Calibri"/>
              </a:rPr>
              <a:t>DISEÑO</a:t>
            </a:r>
          </a:p>
        </p:txBody>
      </p:sp>
      <p:sp>
        <p:nvSpPr>
          <p:cNvPr id="6" name="Rounded Rectangle 5"/>
          <p:cNvSpPr/>
          <p:nvPr/>
        </p:nvSpPr>
        <p:spPr>
          <a:xfrm>
            <a:off x="4059936" y="292608"/>
            <a:ext cx="1554480" cy="292608"/>
          </a:xfrm>
          <a:prstGeom prst="roundRect">
            <a:avLst>
              <a:gd name="adj" fmla="val 25000"/>
            </a:avLst>
          </a:prstGeom>
          <a:solidFill>
            <a:srgbClr val="FDE8F5"/>
          </a:solidFill>
          <a:ln w="19050">
            <a:solidFill>
              <a:srgbClr val="E02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59936" y="320040"/>
            <a:ext cx="1554480" cy="292608"/>
          </a:xfrm>
          <a:prstGeom prst="rect">
            <a:avLst/>
          </a:prstGeom>
          <a:noFill/>
        </p:spPr>
        <p:txBody>
          <a:bodyPr wrap="square" anchor="t" lIns="36576" rIns="36576" tIns="18288" bIns="18288">
            <a:spAutoFit/>
          </a:bodyPr>
          <a:lstStyle/>
          <a:p>
            <a:pPr algn="ctr"/>
            <a:r>
              <a:rPr sz="1200" b="1" i="0">
                <a:solidFill>
                  <a:srgbClr val="C026D3"/>
                </a:solidFill>
                <a:latin typeface="Calibri"/>
              </a:rPr>
              <a:t>RESULTADOS</a:t>
            </a:r>
          </a:p>
        </p:txBody>
      </p:sp>
      <p:sp>
        <p:nvSpPr>
          <p:cNvPr id="8" name="Rounded Rectangle 7"/>
          <p:cNvSpPr/>
          <p:nvPr/>
        </p:nvSpPr>
        <p:spPr>
          <a:xfrm>
            <a:off x="5724144" y="292608"/>
            <a:ext cx="1554480" cy="292608"/>
          </a:xfrm>
          <a:prstGeom prst="roundRect">
            <a:avLst>
              <a:gd name="adj" fmla="val 25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24144" y="320040"/>
            <a:ext cx="1554480" cy="292608"/>
          </a:xfrm>
          <a:prstGeom prst="rect">
            <a:avLst/>
          </a:prstGeom>
          <a:noFill/>
        </p:spPr>
        <p:txBody>
          <a:bodyPr wrap="square" anchor="t" lIns="36576" rIns="36576" tIns="18288" bIns="18288">
            <a:spAutoFit/>
          </a:bodyPr>
          <a:lstStyle/>
          <a:p>
            <a:pPr algn="ctr"/>
            <a:r>
              <a:rPr sz="1200" b="0" i="0">
                <a:solidFill>
                  <a:srgbClr val="665480"/>
                </a:solidFill>
                <a:latin typeface="Calibri"/>
              </a:rPr>
              <a:t>BRECHA</a:t>
            </a:r>
          </a:p>
        </p:txBody>
      </p:sp>
      <p:sp>
        <p:nvSpPr>
          <p:cNvPr id="10" name="Rounded Rectangle 9"/>
          <p:cNvSpPr/>
          <p:nvPr/>
        </p:nvSpPr>
        <p:spPr>
          <a:xfrm>
            <a:off x="7388352" y="292608"/>
            <a:ext cx="1554480" cy="292608"/>
          </a:xfrm>
          <a:prstGeom prst="roundRect">
            <a:avLst>
              <a:gd name="adj" fmla="val 25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88352" y="320040"/>
            <a:ext cx="1554480" cy="292608"/>
          </a:xfrm>
          <a:prstGeom prst="rect">
            <a:avLst/>
          </a:prstGeom>
          <a:noFill/>
        </p:spPr>
        <p:txBody>
          <a:bodyPr wrap="square" anchor="t" lIns="36576" rIns="36576" tIns="18288" bIns="18288">
            <a:spAutoFit/>
          </a:bodyPr>
          <a:lstStyle/>
          <a:p>
            <a:pPr algn="ctr"/>
            <a:r>
              <a:rPr sz="1200" b="0" i="0">
                <a:solidFill>
                  <a:srgbClr val="665480"/>
                </a:solidFill>
                <a:latin typeface="Calibri"/>
              </a:rPr>
              <a:t>SIGUIENTES</a:t>
            </a:r>
          </a:p>
        </p:txBody>
      </p:sp>
      <p:sp>
        <p:nvSpPr>
          <p:cNvPr id="12" name="TextBox 11"/>
          <p:cNvSpPr txBox="1"/>
          <p:nvPr/>
        </p:nvSpPr>
        <p:spPr>
          <a:xfrm>
            <a:off x="10972800" y="6446520"/>
            <a:ext cx="731520" cy="274320"/>
          </a:xfrm>
          <a:prstGeom prst="rect">
            <a:avLst/>
          </a:prstGeom>
          <a:noFill/>
        </p:spPr>
        <p:txBody>
          <a:bodyPr wrap="square" anchor="t" lIns="36576" rIns="36576" tIns="18288" bIns="18288">
            <a:spAutoFit/>
          </a:bodyPr>
          <a:lstStyle/>
          <a:p>
            <a:pPr algn="r"/>
            <a:r>
              <a:rPr sz="1300" b="0" i="0">
                <a:solidFill>
                  <a:srgbClr val="665480"/>
                </a:solidFill>
                <a:latin typeface="Calibri"/>
              </a:rPr>
              <a:t>5/10</a:t>
            </a:r>
          </a:p>
        </p:txBody>
      </p:sp>
      <p:sp>
        <p:nvSpPr>
          <p:cNvPr id="13" name="TextBox 12"/>
          <p:cNvSpPr txBox="1"/>
          <p:nvPr/>
        </p:nvSpPr>
        <p:spPr>
          <a:xfrm>
            <a:off x="731520" y="685800"/>
            <a:ext cx="10698480" cy="777240"/>
          </a:xfrm>
          <a:prstGeom prst="rect">
            <a:avLst/>
          </a:prstGeom>
          <a:noFill/>
        </p:spPr>
        <p:txBody>
          <a:bodyPr wrap="square" anchor="t" lIns="36576" rIns="36576" tIns="18288" bIns="18288">
            <a:spAutoFit/>
          </a:bodyPr>
          <a:lstStyle/>
          <a:p>
            <a:pPr algn="l"/>
            <a:r>
              <a:rPr sz="4000" b="1" i="0">
                <a:solidFill>
                  <a:srgbClr val="181824"/>
                </a:solidFill>
                <a:latin typeface="Calibri"/>
              </a:rPr>
              <a:t>Te sigue la mano a más de 30 cuadros por segundo</a:t>
            </a:r>
          </a:p>
        </p:txBody>
      </p:sp>
      <p:sp>
        <p:nvSpPr>
          <p:cNvPr id="14" name="Rounded Rectangle 13"/>
          <p:cNvSpPr/>
          <p:nvPr/>
        </p:nvSpPr>
        <p:spPr>
          <a:xfrm>
            <a:off x="731520" y="1645920"/>
            <a:ext cx="5943600" cy="4389120"/>
          </a:xfrm>
          <a:prstGeom prst="roundRect">
            <a:avLst>
              <a:gd name="adj" fmla="val 2000"/>
            </a:avLst>
          </a:prstGeom>
          <a:solidFill>
            <a:srgbClr val="FFFFFF"/>
          </a:solidFill>
          <a:ln w="19050">
            <a:solidFill>
              <a:srgbClr val="6654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sofia_gui.png"/>
          <p:cNvPicPr>
            <a:picLocks noChangeAspect="1"/>
          </p:cNvPicPr>
          <p:nvPr/>
        </p:nvPicPr>
        <p:blipFill>
          <a:blip r:embed="rId3"/>
          <a:stretch>
            <a:fillRect/>
          </a:stretch>
        </p:blipFill>
        <p:spPr>
          <a:xfrm>
            <a:off x="768096" y="1913016"/>
            <a:ext cx="5870448" cy="3854927"/>
          </a:xfrm>
          <a:prstGeom prst="rect">
            <a:avLst/>
          </a:prstGeom>
        </p:spPr>
      </p:pic>
      <p:sp>
        <p:nvSpPr>
          <p:cNvPr id="16" name="TextBox 15"/>
          <p:cNvSpPr txBox="1"/>
          <p:nvPr/>
        </p:nvSpPr>
        <p:spPr>
          <a:xfrm>
            <a:off x="731520" y="6071616"/>
            <a:ext cx="5943600" cy="237744"/>
          </a:xfrm>
          <a:prstGeom prst="rect">
            <a:avLst/>
          </a:prstGeom>
          <a:noFill/>
        </p:spPr>
        <p:txBody>
          <a:bodyPr wrap="square" anchor="t" lIns="36576" rIns="36576" tIns="18288" bIns="18288">
            <a:spAutoFit/>
          </a:bodyPr>
          <a:lstStyle/>
          <a:p>
            <a:pPr algn="ctr"/>
            <a:r>
              <a:rPr sz="1200" b="0" i="1">
                <a:solidFill>
                  <a:srgbClr val="665480"/>
                </a:solidFill>
                <a:latin typeface="Calibri"/>
              </a:rPr>
              <a:t>Estación de control en tiempo real (PySide6)</a:t>
            </a:r>
          </a:p>
        </p:txBody>
      </p:sp>
      <p:sp>
        <p:nvSpPr>
          <p:cNvPr id="17" name="Rounded Rectangle 16"/>
          <p:cNvSpPr/>
          <p:nvPr/>
        </p:nvSpPr>
        <p:spPr>
          <a:xfrm>
            <a:off x="6949440" y="1645920"/>
            <a:ext cx="4480560" cy="1280160"/>
          </a:xfrm>
          <a:prstGeom prst="roundRect">
            <a:avLst>
              <a:gd name="adj" fmla="val 3000"/>
            </a:avLst>
          </a:prstGeom>
          <a:solidFill>
            <a:srgbClr val="FFFFFF"/>
          </a:solidFill>
          <a:ln w="19050">
            <a:solidFill>
              <a:srgbClr val="E02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0" y="1691640"/>
            <a:ext cx="4480560" cy="685800"/>
          </a:xfrm>
          <a:prstGeom prst="rect">
            <a:avLst/>
          </a:prstGeom>
          <a:noFill/>
        </p:spPr>
        <p:txBody>
          <a:bodyPr wrap="square" anchor="t" lIns="36576" rIns="36576" tIns="18288" bIns="18288">
            <a:spAutoFit/>
          </a:bodyPr>
          <a:lstStyle/>
          <a:p>
            <a:pPr algn="ctr"/>
            <a:r>
              <a:rPr sz="6600" b="1" i="0">
                <a:solidFill>
                  <a:srgbClr val="C026D3"/>
                </a:solidFill>
                <a:latin typeface="Calibri"/>
              </a:rPr>
              <a:t>30+ FPS</a:t>
            </a:r>
          </a:p>
        </p:txBody>
      </p:sp>
      <p:sp>
        <p:nvSpPr>
          <p:cNvPr id="19" name="TextBox 18"/>
          <p:cNvSpPr txBox="1"/>
          <p:nvPr/>
        </p:nvSpPr>
        <p:spPr>
          <a:xfrm>
            <a:off x="6949440" y="2423160"/>
            <a:ext cx="4480560" cy="365760"/>
          </a:xfrm>
          <a:prstGeom prst="rect">
            <a:avLst/>
          </a:prstGeom>
          <a:noFill/>
        </p:spPr>
        <p:txBody>
          <a:bodyPr wrap="square" anchor="t" lIns="36576" rIns="36576" tIns="18288" bIns="18288">
            <a:spAutoFit/>
          </a:bodyPr>
          <a:lstStyle/>
          <a:p>
            <a:pPr algn="ctr"/>
            <a:r>
              <a:rPr sz="1800" b="0" i="0">
                <a:solidFill>
                  <a:srgbClr val="665480"/>
                </a:solidFill>
                <a:latin typeface="Calibri"/>
              </a:rPr>
              <a:t>Cuerpo y dos manos (21 puntos cada una)</a:t>
            </a:r>
          </a:p>
        </p:txBody>
      </p:sp>
      <p:sp>
        <p:nvSpPr>
          <p:cNvPr id="20" name="Rounded Rectangle 19"/>
          <p:cNvSpPr/>
          <p:nvPr/>
        </p:nvSpPr>
        <p:spPr>
          <a:xfrm>
            <a:off x="6949440" y="3063240"/>
            <a:ext cx="4480560" cy="822960"/>
          </a:xfrm>
          <a:prstGeom prst="roundRect">
            <a:avLst>
              <a:gd name="adj" fmla="val 3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0" y="3154680"/>
            <a:ext cx="4114800" cy="640080"/>
          </a:xfrm>
          <a:prstGeom prst="rect">
            <a:avLst/>
          </a:prstGeom>
          <a:noFill/>
        </p:spPr>
        <p:txBody>
          <a:bodyPr wrap="square" anchor="t" lIns="36576" rIns="36576" tIns="18288" bIns="18288">
            <a:spAutoFit/>
          </a:bodyPr>
          <a:lstStyle/>
          <a:p>
            <a:pPr algn="l"/>
            <a:r>
              <a:rPr sz="1800" b="1" i="0">
                <a:solidFill>
                  <a:srgbClr val="181824"/>
                </a:solidFill>
                <a:latin typeface="Calibri"/>
              </a:rPr>
              <a:t>Gestos:  👋 Saludo   ·   💖 Corazón   ·   👊 Puño</a:t>
            </a:r>
          </a:p>
        </p:txBody>
      </p:sp>
      <p:sp>
        <p:nvSpPr>
          <p:cNvPr id="22" name="Rounded Rectangle 21"/>
          <p:cNvSpPr/>
          <p:nvPr/>
        </p:nvSpPr>
        <p:spPr>
          <a:xfrm>
            <a:off x="6949440" y="4023360"/>
            <a:ext cx="2148840" cy="960120"/>
          </a:xfrm>
          <a:prstGeom prst="roundRect">
            <a:avLst>
              <a:gd name="adj" fmla="val 2000"/>
            </a:avLst>
          </a:prstGeom>
          <a:solidFill>
            <a:srgbClr val="FFFFFF"/>
          </a:solidFill>
          <a:ln w="19050">
            <a:solidFill>
              <a:srgbClr val="6654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fig_sim_1.png"/>
          <p:cNvPicPr>
            <a:picLocks noChangeAspect="1"/>
          </p:cNvPicPr>
          <p:nvPr/>
        </p:nvPicPr>
        <p:blipFill>
          <a:blip r:embed="rId4"/>
          <a:stretch>
            <a:fillRect/>
          </a:stretch>
        </p:blipFill>
        <p:spPr>
          <a:xfrm>
            <a:off x="7185352" y="4059936"/>
            <a:ext cx="1677015" cy="886968"/>
          </a:xfrm>
          <a:prstGeom prst="rect">
            <a:avLst/>
          </a:prstGeom>
        </p:spPr>
      </p:pic>
      <p:sp>
        <p:nvSpPr>
          <p:cNvPr id="24" name="Rounded Rectangle 23"/>
          <p:cNvSpPr/>
          <p:nvPr/>
        </p:nvSpPr>
        <p:spPr>
          <a:xfrm>
            <a:off x="9281160" y="4023360"/>
            <a:ext cx="2148840" cy="960120"/>
          </a:xfrm>
          <a:prstGeom prst="roundRect">
            <a:avLst>
              <a:gd name="adj" fmla="val 2000"/>
            </a:avLst>
          </a:prstGeom>
          <a:solidFill>
            <a:srgbClr val="FFFFFF"/>
          </a:solidFill>
          <a:ln w="19050">
            <a:solidFill>
              <a:srgbClr val="6654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fig_sim_2.png"/>
          <p:cNvPicPr>
            <a:picLocks noChangeAspect="1"/>
          </p:cNvPicPr>
          <p:nvPr/>
        </p:nvPicPr>
        <p:blipFill>
          <a:blip r:embed="rId5"/>
          <a:stretch>
            <a:fillRect/>
          </a:stretch>
        </p:blipFill>
        <p:spPr>
          <a:xfrm>
            <a:off x="9514135" y="4059936"/>
            <a:ext cx="1682889" cy="886968"/>
          </a:xfrm>
          <a:prstGeom prst="rect">
            <a:avLst/>
          </a:prstGeom>
        </p:spPr>
      </p:pic>
      <p:sp>
        <p:nvSpPr>
          <p:cNvPr id="26" name="Rounded Rectangle 25"/>
          <p:cNvSpPr/>
          <p:nvPr/>
        </p:nvSpPr>
        <p:spPr>
          <a:xfrm>
            <a:off x="6949440" y="5074920"/>
            <a:ext cx="2148840" cy="960120"/>
          </a:xfrm>
          <a:prstGeom prst="roundRect">
            <a:avLst>
              <a:gd name="adj" fmla="val 2000"/>
            </a:avLst>
          </a:prstGeom>
          <a:solidFill>
            <a:srgbClr val="FFFFFF"/>
          </a:solidFill>
          <a:ln w="19050">
            <a:solidFill>
              <a:srgbClr val="6654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fig_sim_3.png"/>
          <p:cNvPicPr>
            <a:picLocks noChangeAspect="1"/>
          </p:cNvPicPr>
          <p:nvPr/>
        </p:nvPicPr>
        <p:blipFill>
          <a:blip r:embed="rId6"/>
          <a:stretch>
            <a:fillRect/>
          </a:stretch>
        </p:blipFill>
        <p:spPr>
          <a:xfrm>
            <a:off x="7182566" y="5111496"/>
            <a:ext cx="1682587" cy="886968"/>
          </a:xfrm>
          <a:prstGeom prst="rect">
            <a:avLst/>
          </a:prstGeom>
        </p:spPr>
      </p:pic>
      <p:sp>
        <p:nvSpPr>
          <p:cNvPr id="28" name="Rounded Rectangle 27"/>
          <p:cNvSpPr/>
          <p:nvPr/>
        </p:nvSpPr>
        <p:spPr>
          <a:xfrm>
            <a:off x="9281160" y="5074920"/>
            <a:ext cx="2148840" cy="960120"/>
          </a:xfrm>
          <a:prstGeom prst="roundRect">
            <a:avLst>
              <a:gd name="adj" fmla="val 2000"/>
            </a:avLst>
          </a:prstGeom>
          <a:solidFill>
            <a:srgbClr val="FFFFFF"/>
          </a:solidFill>
          <a:ln w="19050">
            <a:solidFill>
              <a:srgbClr val="6654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fig_sim_4.png"/>
          <p:cNvPicPr>
            <a:picLocks noChangeAspect="1"/>
          </p:cNvPicPr>
          <p:nvPr/>
        </p:nvPicPr>
        <p:blipFill>
          <a:blip r:embed="rId7"/>
          <a:stretch>
            <a:fillRect/>
          </a:stretch>
        </p:blipFill>
        <p:spPr>
          <a:xfrm>
            <a:off x="9443481" y="5111496"/>
            <a:ext cx="1824197" cy="886968"/>
          </a:xfrm>
          <a:prstGeom prst="rect">
            <a:avLst/>
          </a:prstGeom>
        </p:spPr>
      </p:pic>
      <p:sp>
        <p:nvSpPr>
          <p:cNvPr id="30" name="TextBox 29"/>
          <p:cNvSpPr txBox="1"/>
          <p:nvPr/>
        </p:nvSpPr>
        <p:spPr>
          <a:xfrm>
            <a:off x="6949440" y="6080760"/>
            <a:ext cx="4480560" cy="274320"/>
          </a:xfrm>
          <a:prstGeom prst="rect">
            <a:avLst/>
          </a:prstGeom>
          <a:noFill/>
        </p:spPr>
        <p:txBody>
          <a:bodyPr wrap="square" anchor="t" lIns="36576" rIns="36576" tIns="18288" bIns="18288">
            <a:spAutoFit/>
          </a:bodyPr>
          <a:lstStyle/>
          <a:p>
            <a:pPr algn="ctr"/>
            <a:r>
              <a:rPr sz="1300" b="0" i="1">
                <a:solidFill>
                  <a:srgbClr val="665480"/>
                </a:solidFill>
                <a:latin typeface="Calibri"/>
              </a:rPr>
              <a:t>Simulación: los 16 paneles giran hacia ti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C"/>
        </a:solidFill>
        <a:effectLst/>
      </p:bgPr>
    </p:bg>
    <p:spTree>
      <p:nvGrpSpPr>
        <p:cNvPr id="1" name=""/>
        <p:cNvGrpSpPr/>
        <p:nvPr/>
      </p:nvGrpSpPr>
      <p:grpSpPr/>
      <p:sp>
        <p:nvSpPr>
          <p:cNvPr id="2" name="Rounded Rectangle 1"/>
          <p:cNvSpPr/>
          <p:nvPr/>
        </p:nvSpPr>
        <p:spPr>
          <a:xfrm>
            <a:off x="731520" y="292608"/>
            <a:ext cx="1554480" cy="292608"/>
          </a:xfrm>
          <a:prstGeom prst="roundRect">
            <a:avLst>
              <a:gd name="adj" fmla="val 25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554480" cy="292608"/>
          </a:xfrm>
          <a:prstGeom prst="rect">
            <a:avLst/>
          </a:prstGeom>
          <a:noFill/>
        </p:spPr>
        <p:txBody>
          <a:bodyPr wrap="square" anchor="t" lIns="36576" rIns="36576" tIns="18288" bIns="18288">
            <a:spAutoFit/>
          </a:bodyPr>
          <a:lstStyle/>
          <a:p>
            <a:pPr algn="ctr"/>
            <a:r>
              <a:rPr sz="1200" b="0" i="0">
                <a:solidFill>
                  <a:srgbClr val="665480"/>
                </a:solidFill>
                <a:latin typeface="Calibri"/>
              </a:rPr>
              <a:t>PLANTEAMIENTO</a:t>
            </a:r>
          </a:p>
        </p:txBody>
      </p:sp>
      <p:sp>
        <p:nvSpPr>
          <p:cNvPr id="4" name="Rounded Rectangle 3"/>
          <p:cNvSpPr/>
          <p:nvPr/>
        </p:nvSpPr>
        <p:spPr>
          <a:xfrm>
            <a:off x="2395728" y="292608"/>
            <a:ext cx="1554480" cy="292608"/>
          </a:xfrm>
          <a:prstGeom prst="roundRect">
            <a:avLst>
              <a:gd name="adj" fmla="val 25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395728" y="320040"/>
            <a:ext cx="1554480" cy="292608"/>
          </a:xfrm>
          <a:prstGeom prst="rect">
            <a:avLst/>
          </a:prstGeom>
          <a:noFill/>
        </p:spPr>
        <p:txBody>
          <a:bodyPr wrap="square" anchor="t" lIns="36576" rIns="36576" tIns="18288" bIns="18288">
            <a:spAutoFit/>
          </a:bodyPr>
          <a:lstStyle/>
          <a:p>
            <a:pPr algn="ctr"/>
            <a:r>
              <a:rPr sz="1200" b="0" i="0">
                <a:solidFill>
                  <a:srgbClr val="665480"/>
                </a:solidFill>
                <a:latin typeface="Calibri"/>
              </a:rPr>
              <a:t>DISEÑO</a:t>
            </a:r>
          </a:p>
        </p:txBody>
      </p:sp>
      <p:sp>
        <p:nvSpPr>
          <p:cNvPr id="6" name="Rounded Rectangle 5"/>
          <p:cNvSpPr/>
          <p:nvPr/>
        </p:nvSpPr>
        <p:spPr>
          <a:xfrm>
            <a:off x="4059936" y="292608"/>
            <a:ext cx="1554480" cy="292608"/>
          </a:xfrm>
          <a:prstGeom prst="roundRect">
            <a:avLst>
              <a:gd name="adj" fmla="val 25000"/>
            </a:avLst>
          </a:prstGeom>
          <a:solidFill>
            <a:srgbClr val="FDE8F5"/>
          </a:solidFill>
          <a:ln w="19050">
            <a:solidFill>
              <a:srgbClr val="E02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59936" y="320040"/>
            <a:ext cx="1554480" cy="292608"/>
          </a:xfrm>
          <a:prstGeom prst="rect">
            <a:avLst/>
          </a:prstGeom>
          <a:noFill/>
        </p:spPr>
        <p:txBody>
          <a:bodyPr wrap="square" anchor="t" lIns="36576" rIns="36576" tIns="18288" bIns="18288">
            <a:spAutoFit/>
          </a:bodyPr>
          <a:lstStyle/>
          <a:p>
            <a:pPr algn="ctr"/>
            <a:r>
              <a:rPr sz="1200" b="1" i="0">
                <a:solidFill>
                  <a:srgbClr val="C026D3"/>
                </a:solidFill>
                <a:latin typeface="Calibri"/>
              </a:rPr>
              <a:t>RESULTADOS</a:t>
            </a:r>
          </a:p>
        </p:txBody>
      </p:sp>
      <p:sp>
        <p:nvSpPr>
          <p:cNvPr id="8" name="Rounded Rectangle 7"/>
          <p:cNvSpPr/>
          <p:nvPr/>
        </p:nvSpPr>
        <p:spPr>
          <a:xfrm>
            <a:off x="5724144" y="292608"/>
            <a:ext cx="1554480" cy="292608"/>
          </a:xfrm>
          <a:prstGeom prst="roundRect">
            <a:avLst>
              <a:gd name="adj" fmla="val 25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24144" y="320040"/>
            <a:ext cx="1554480" cy="292608"/>
          </a:xfrm>
          <a:prstGeom prst="rect">
            <a:avLst/>
          </a:prstGeom>
          <a:noFill/>
        </p:spPr>
        <p:txBody>
          <a:bodyPr wrap="square" anchor="t" lIns="36576" rIns="36576" tIns="18288" bIns="18288">
            <a:spAutoFit/>
          </a:bodyPr>
          <a:lstStyle/>
          <a:p>
            <a:pPr algn="ctr"/>
            <a:r>
              <a:rPr sz="1200" b="0" i="0">
                <a:solidFill>
                  <a:srgbClr val="665480"/>
                </a:solidFill>
                <a:latin typeface="Calibri"/>
              </a:rPr>
              <a:t>BRECHA</a:t>
            </a:r>
          </a:p>
        </p:txBody>
      </p:sp>
      <p:sp>
        <p:nvSpPr>
          <p:cNvPr id="10" name="Rounded Rectangle 9"/>
          <p:cNvSpPr/>
          <p:nvPr/>
        </p:nvSpPr>
        <p:spPr>
          <a:xfrm>
            <a:off x="7388352" y="292608"/>
            <a:ext cx="1554480" cy="292608"/>
          </a:xfrm>
          <a:prstGeom prst="roundRect">
            <a:avLst>
              <a:gd name="adj" fmla="val 25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88352" y="320040"/>
            <a:ext cx="1554480" cy="292608"/>
          </a:xfrm>
          <a:prstGeom prst="rect">
            <a:avLst/>
          </a:prstGeom>
          <a:noFill/>
        </p:spPr>
        <p:txBody>
          <a:bodyPr wrap="square" anchor="t" lIns="36576" rIns="36576" tIns="18288" bIns="18288">
            <a:spAutoFit/>
          </a:bodyPr>
          <a:lstStyle/>
          <a:p>
            <a:pPr algn="ctr"/>
            <a:r>
              <a:rPr sz="1200" b="0" i="0">
                <a:solidFill>
                  <a:srgbClr val="665480"/>
                </a:solidFill>
                <a:latin typeface="Calibri"/>
              </a:rPr>
              <a:t>SIGUIENTES</a:t>
            </a:r>
          </a:p>
        </p:txBody>
      </p:sp>
      <p:sp>
        <p:nvSpPr>
          <p:cNvPr id="12" name="TextBox 11"/>
          <p:cNvSpPr txBox="1"/>
          <p:nvPr/>
        </p:nvSpPr>
        <p:spPr>
          <a:xfrm>
            <a:off x="10972800" y="6446520"/>
            <a:ext cx="731520" cy="274320"/>
          </a:xfrm>
          <a:prstGeom prst="rect">
            <a:avLst/>
          </a:prstGeom>
          <a:noFill/>
        </p:spPr>
        <p:txBody>
          <a:bodyPr wrap="square" anchor="t" lIns="36576" rIns="36576" tIns="18288" bIns="18288">
            <a:spAutoFit/>
          </a:bodyPr>
          <a:lstStyle/>
          <a:p>
            <a:pPr algn="r"/>
            <a:r>
              <a:rPr sz="1300" b="0" i="0">
                <a:solidFill>
                  <a:srgbClr val="665480"/>
                </a:solidFill>
                <a:latin typeface="Calibri"/>
              </a:rPr>
              <a:t>6/10</a:t>
            </a:r>
          </a:p>
        </p:txBody>
      </p:sp>
      <p:sp>
        <p:nvSpPr>
          <p:cNvPr id="13" name="TextBox 12"/>
          <p:cNvSpPr txBox="1"/>
          <p:nvPr/>
        </p:nvSpPr>
        <p:spPr>
          <a:xfrm>
            <a:off x="731520" y="685800"/>
            <a:ext cx="10698480" cy="777240"/>
          </a:xfrm>
          <a:prstGeom prst="rect">
            <a:avLst/>
          </a:prstGeom>
          <a:noFill/>
        </p:spPr>
        <p:txBody>
          <a:bodyPr wrap="square" anchor="t" lIns="36576" rIns="36576" tIns="18288" bIns="18288">
            <a:spAutoFit/>
          </a:bodyPr>
          <a:lstStyle/>
          <a:p>
            <a:pPr algn="l"/>
            <a:r>
              <a:rPr sz="4000" b="1" i="0">
                <a:solidFill>
                  <a:srgbClr val="181824"/>
                </a:solidFill>
                <a:latin typeface="Calibri"/>
              </a:rPr>
              <a:t>Saludas, y el panel te contesta</a:t>
            </a:r>
          </a:p>
        </p:txBody>
      </p:sp>
      <p:sp>
        <p:nvSpPr>
          <p:cNvPr id="14" name="Rounded Rectangle 13"/>
          <p:cNvSpPr/>
          <p:nvPr/>
        </p:nvSpPr>
        <p:spPr>
          <a:xfrm>
            <a:off x="731520" y="1645920"/>
            <a:ext cx="2057400" cy="3474720"/>
          </a:xfrm>
          <a:prstGeom prst="roundRect">
            <a:avLst>
              <a:gd name="adj" fmla="val 2000"/>
            </a:avLst>
          </a:prstGeom>
          <a:solidFill>
            <a:srgbClr val="FFFFFF"/>
          </a:solidFill>
          <a:ln w="19050">
            <a:solidFill>
              <a:srgbClr val="6654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modulo_fisico.png"/>
          <p:cNvPicPr>
            <a:picLocks noChangeAspect="1"/>
          </p:cNvPicPr>
          <p:nvPr/>
        </p:nvPicPr>
        <p:blipFill>
          <a:blip r:embed="rId3"/>
          <a:stretch>
            <a:fillRect/>
          </a:stretch>
        </p:blipFill>
        <p:spPr>
          <a:xfrm>
            <a:off x="768096" y="2895579"/>
            <a:ext cx="1984247" cy="975402"/>
          </a:xfrm>
          <a:prstGeom prst="rect">
            <a:avLst/>
          </a:prstGeom>
        </p:spPr>
      </p:pic>
      <p:sp>
        <p:nvSpPr>
          <p:cNvPr id="16" name="TextBox 15"/>
          <p:cNvSpPr txBox="1"/>
          <p:nvPr/>
        </p:nvSpPr>
        <p:spPr>
          <a:xfrm>
            <a:off x="731520" y="5157216"/>
            <a:ext cx="2057400" cy="237744"/>
          </a:xfrm>
          <a:prstGeom prst="rect">
            <a:avLst/>
          </a:prstGeom>
          <a:noFill/>
        </p:spPr>
        <p:txBody>
          <a:bodyPr wrap="square" anchor="t" lIns="36576" rIns="36576" tIns="18288" bIns="18288">
            <a:spAutoFit/>
          </a:bodyPr>
          <a:lstStyle/>
          <a:p>
            <a:pPr algn="ctr"/>
            <a:r>
              <a:rPr sz="1200" b="0" i="1">
                <a:solidFill>
                  <a:srgbClr val="665480"/>
                </a:solidFill>
                <a:latin typeface="Calibri"/>
              </a:rPr>
              <a:t>1. El módulo</a:t>
            </a:r>
          </a:p>
        </p:txBody>
      </p:sp>
      <p:sp>
        <p:nvSpPr>
          <p:cNvPr id="17" name="Rounded Rectangle 16"/>
          <p:cNvSpPr/>
          <p:nvPr/>
        </p:nvSpPr>
        <p:spPr>
          <a:xfrm>
            <a:off x="2926080" y="1645920"/>
            <a:ext cx="2057400" cy="3474720"/>
          </a:xfrm>
          <a:prstGeom prst="roundRect">
            <a:avLst>
              <a:gd name="adj" fmla="val 2000"/>
            </a:avLst>
          </a:prstGeom>
          <a:solidFill>
            <a:srgbClr val="FFFFFF"/>
          </a:solidFill>
          <a:ln w="19050">
            <a:solidFill>
              <a:srgbClr val="6654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ofia_saludo1.png"/>
          <p:cNvPicPr>
            <a:picLocks noChangeAspect="1"/>
          </p:cNvPicPr>
          <p:nvPr/>
        </p:nvPicPr>
        <p:blipFill>
          <a:blip r:embed="rId4"/>
          <a:stretch>
            <a:fillRect/>
          </a:stretch>
        </p:blipFill>
        <p:spPr>
          <a:xfrm>
            <a:off x="2962656" y="2824652"/>
            <a:ext cx="1984248" cy="1117256"/>
          </a:xfrm>
          <a:prstGeom prst="rect">
            <a:avLst/>
          </a:prstGeom>
        </p:spPr>
      </p:pic>
      <p:sp>
        <p:nvSpPr>
          <p:cNvPr id="19" name="TextBox 18"/>
          <p:cNvSpPr txBox="1"/>
          <p:nvPr/>
        </p:nvSpPr>
        <p:spPr>
          <a:xfrm>
            <a:off x="2926080" y="5157216"/>
            <a:ext cx="2057400" cy="237744"/>
          </a:xfrm>
          <a:prstGeom prst="rect">
            <a:avLst/>
          </a:prstGeom>
          <a:noFill/>
        </p:spPr>
        <p:txBody>
          <a:bodyPr wrap="square" anchor="t" lIns="36576" rIns="36576" tIns="18288" bIns="18288">
            <a:spAutoFit/>
          </a:bodyPr>
          <a:lstStyle/>
          <a:p>
            <a:pPr algn="ctr"/>
            <a:r>
              <a:rPr sz="1200" b="0" i="1">
                <a:solidFill>
                  <a:srgbClr val="665480"/>
                </a:solidFill>
                <a:latin typeface="Calibri"/>
              </a:rPr>
              <a:t>2. Tu saludo</a:t>
            </a:r>
          </a:p>
        </p:txBody>
      </p:sp>
      <p:sp>
        <p:nvSpPr>
          <p:cNvPr id="20" name="Rounded Rectangle 19"/>
          <p:cNvSpPr/>
          <p:nvPr/>
        </p:nvSpPr>
        <p:spPr>
          <a:xfrm>
            <a:off x="5120640" y="1645920"/>
            <a:ext cx="2057400" cy="3474720"/>
          </a:xfrm>
          <a:prstGeom prst="roundRect">
            <a:avLst>
              <a:gd name="adj" fmla="val 2000"/>
            </a:avLst>
          </a:prstGeom>
          <a:solidFill>
            <a:srgbClr val="FFFFFF"/>
          </a:solidFill>
          <a:ln w="19050">
            <a:solidFill>
              <a:srgbClr val="6654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sofia_saludo2.png"/>
          <p:cNvPicPr>
            <a:picLocks noChangeAspect="1"/>
          </p:cNvPicPr>
          <p:nvPr/>
        </p:nvPicPr>
        <p:blipFill>
          <a:blip r:embed="rId5"/>
          <a:stretch>
            <a:fillRect/>
          </a:stretch>
        </p:blipFill>
        <p:spPr>
          <a:xfrm>
            <a:off x="5157216" y="2820627"/>
            <a:ext cx="1984248" cy="1125305"/>
          </a:xfrm>
          <a:prstGeom prst="rect">
            <a:avLst/>
          </a:prstGeom>
        </p:spPr>
      </p:pic>
      <p:sp>
        <p:nvSpPr>
          <p:cNvPr id="22" name="TextBox 21"/>
          <p:cNvSpPr txBox="1"/>
          <p:nvPr/>
        </p:nvSpPr>
        <p:spPr>
          <a:xfrm>
            <a:off x="5120640" y="5157216"/>
            <a:ext cx="2057400" cy="237744"/>
          </a:xfrm>
          <a:prstGeom prst="rect">
            <a:avLst/>
          </a:prstGeom>
          <a:noFill/>
        </p:spPr>
        <p:txBody>
          <a:bodyPr wrap="square" anchor="t" lIns="36576" rIns="36576" tIns="18288" bIns="18288">
            <a:spAutoFit/>
          </a:bodyPr>
          <a:lstStyle/>
          <a:p>
            <a:pPr algn="ctr"/>
            <a:r>
              <a:rPr sz="1200" b="0" i="1">
                <a:solidFill>
                  <a:srgbClr val="665480"/>
                </a:solidFill>
                <a:latin typeface="Calibri"/>
              </a:rPr>
              <a:t>3. El panel responde</a:t>
            </a:r>
          </a:p>
        </p:txBody>
      </p:sp>
      <p:sp>
        <p:nvSpPr>
          <p:cNvPr id="23" name="Rounded Rectangle 22"/>
          <p:cNvSpPr/>
          <p:nvPr/>
        </p:nvSpPr>
        <p:spPr>
          <a:xfrm>
            <a:off x="731520" y="5440680"/>
            <a:ext cx="6446520" cy="640080"/>
          </a:xfrm>
          <a:prstGeom prst="roundRect">
            <a:avLst>
              <a:gd name="adj" fmla="val 3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96128"/>
            <a:ext cx="6080760" cy="365760"/>
          </a:xfrm>
          <a:prstGeom prst="rect">
            <a:avLst/>
          </a:prstGeom>
          <a:noFill/>
        </p:spPr>
        <p:txBody>
          <a:bodyPr wrap="square" anchor="t" lIns="36576" rIns="36576" tIns="18288" bIns="18288">
            <a:spAutoFit/>
          </a:bodyPr>
          <a:lstStyle/>
          <a:p>
            <a:pPr algn="l"/>
            <a:r>
              <a:rPr sz="1800" b="1" i="0">
                <a:solidFill>
                  <a:srgbClr val="C026D3"/>
                </a:solidFill>
                <a:latin typeface="Calibri"/>
              </a:rPr>
              <a:t>Ensayos repetidos (N=10 por prueba)</a:t>
            </a:r>
          </a:p>
        </p:txBody>
      </p:sp>
      <p:sp>
        <p:nvSpPr>
          <p:cNvPr id="25" name="Rounded Rectangle 24"/>
          <p:cNvSpPr/>
          <p:nvPr/>
        </p:nvSpPr>
        <p:spPr>
          <a:xfrm>
            <a:off x="7498079" y="1645920"/>
            <a:ext cx="3931920" cy="4434840"/>
          </a:xfrm>
          <a:prstGeom prst="roundRect">
            <a:avLst>
              <a:gd name="adj" fmla="val 3000"/>
            </a:avLst>
          </a:prstGeom>
          <a:solidFill>
            <a:srgbClr val="FFFFFF"/>
          </a:solidFill>
          <a:ln w="19050">
            <a:solidFill>
              <a:srgbClr val="E02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399" y="1783080"/>
            <a:ext cx="3383280" cy="365760"/>
          </a:xfrm>
          <a:prstGeom prst="rect">
            <a:avLst/>
          </a:prstGeom>
          <a:noFill/>
        </p:spPr>
        <p:txBody>
          <a:bodyPr wrap="square" anchor="t" lIns="36576" rIns="36576" tIns="18288" bIns="18288">
            <a:spAutoFit/>
          </a:bodyPr>
          <a:lstStyle/>
          <a:p>
            <a:pPr algn="l"/>
            <a:r>
              <a:rPr sz="2200" b="1" i="0">
                <a:solidFill>
                  <a:srgbClr val="181824"/>
                </a:solidFill>
                <a:latin typeface="Calibri"/>
              </a:rPr>
              <a:t>¿Cumplimos los criterios?</a:t>
            </a:r>
          </a:p>
        </p:txBody>
      </p:sp>
      <p:sp>
        <p:nvSpPr>
          <p:cNvPr id="27" name="TextBox 26"/>
          <p:cNvSpPr txBox="1"/>
          <p:nvPr/>
        </p:nvSpPr>
        <p:spPr>
          <a:xfrm>
            <a:off x="7772399" y="2331720"/>
            <a:ext cx="3383280" cy="320040"/>
          </a:xfrm>
          <a:prstGeom prst="rect">
            <a:avLst/>
          </a:prstGeom>
          <a:noFill/>
        </p:spPr>
        <p:txBody>
          <a:bodyPr wrap="square" anchor="t" lIns="36576" rIns="36576" tIns="18288" bIns="18288">
            <a:spAutoFit/>
          </a:bodyPr>
          <a:lstStyle/>
          <a:p>
            <a:pPr algn="l"/>
            <a:r>
              <a:rPr sz="1800" b="1" i="0">
                <a:solidFill>
                  <a:srgbClr val="181824"/>
                </a:solidFill>
                <a:latin typeface="Calibri"/>
              </a:rPr>
              <a:t>Más de 30 FPS</a:t>
            </a:r>
          </a:p>
        </p:txBody>
      </p:sp>
      <p:sp>
        <p:nvSpPr>
          <p:cNvPr id="28" name="TextBox 27"/>
          <p:cNvSpPr txBox="1"/>
          <p:nvPr/>
        </p:nvSpPr>
        <p:spPr>
          <a:xfrm>
            <a:off x="7772399" y="2679192"/>
            <a:ext cx="3383280" cy="320040"/>
          </a:xfrm>
          <a:prstGeom prst="rect">
            <a:avLst/>
          </a:prstGeom>
          <a:noFill/>
        </p:spPr>
        <p:txBody>
          <a:bodyPr wrap="square" anchor="t" lIns="36576" rIns="36576" tIns="18288" bIns="18288">
            <a:spAutoFit/>
          </a:bodyPr>
          <a:lstStyle/>
          <a:p>
            <a:pPr algn="l"/>
            <a:r>
              <a:rPr sz="1700" b="1" i="0">
                <a:solidFill>
                  <a:srgbClr val="C026D3"/>
                </a:solidFill>
                <a:latin typeface="Calibri"/>
              </a:rPr>
              <a:t>✓ Cumplido (&gt;30 FPS)</a:t>
            </a:r>
          </a:p>
        </p:txBody>
      </p:sp>
      <p:sp>
        <p:nvSpPr>
          <p:cNvPr id="29" name="TextBox 28"/>
          <p:cNvSpPr txBox="1"/>
          <p:nvPr/>
        </p:nvSpPr>
        <p:spPr>
          <a:xfrm>
            <a:off x="7772399" y="3246120"/>
            <a:ext cx="3383280" cy="320040"/>
          </a:xfrm>
          <a:prstGeom prst="rect">
            <a:avLst/>
          </a:prstGeom>
          <a:noFill/>
        </p:spPr>
        <p:txBody>
          <a:bodyPr wrap="square" anchor="t" lIns="36576" rIns="36576" tIns="18288" bIns="18288">
            <a:spAutoFit/>
          </a:bodyPr>
          <a:lstStyle/>
          <a:p>
            <a:pPr algn="l"/>
            <a:r>
              <a:rPr sz="1800" b="1" i="0">
                <a:solidFill>
                  <a:srgbClr val="C026D3"/>
                </a:solidFill>
                <a:latin typeface="Calibri"/>
              </a:rPr>
              <a:t>Cámara + Bluetooth: ~45–50 ms ✓</a:t>
            </a:r>
          </a:p>
        </p:txBody>
      </p:sp>
      <p:sp>
        <p:nvSpPr>
          <p:cNvPr id="30" name="TextBox 29"/>
          <p:cNvSpPr txBox="1"/>
          <p:nvPr/>
        </p:nvSpPr>
        <p:spPr>
          <a:xfrm>
            <a:off x="7772399" y="3593592"/>
            <a:ext cx="3383280" cy="320040"/>
          </a:xfrm>
          <a:prstGeom prst="rect">
            <a:avLst/>
          </a:prstGeom>
          <a:noFill/>
        </p:spPr>
        <p:txBody>
          <a:bodyPr wrap="square" anchor="t" lIns="36576" rIns="36576" tIns="18288" bIns="18288">
            <a:spAutoFit/>
          </a:bodyPr>
          <a:lstStyle/>
          <a:p>
            <a:pPr algn="l"/>
            <a:r>
              <a:rPr sz="1400" b="0" i="1">
                <a:solidFill>
                  <a:srgbClr val="665480"/>
                </a:solidFill>
                <a:latin typeface="Calibri"/>
              </a:rPr>
              <a:t>el servo tarda 75–180 ms en moverse</a:t>
            </a:r>
          </a:p>
        </p:txBody>
      </p:sp>
      <p:sp>
        <p:nvSpPr>
          <p:cNvPr id="31" name="TextBox 30"/>
          <p:cNvSpPr txBox="1"/>
          <p:nvPr/>
        </p:nvSpPr>
        <p:spPr>
          <a:xfrm>
            <a:off x="7772399" y="4160520"/>
            <a:ext cx="3383280" cy="320040"/>
          </a:xfrm>
          <a:prstGeom prst="rect">
            <a:avLst/>
          </a:prstGeom>
          <a:noFill/>
        </p:spPr>
        <p:txBody>
          <a:bodyPr wrap="square" anchor="t" lIns="36576" rIns="36576" tIns="18288" bIns="18288">
            <a:spAutoFit/>
          </a:bodyPr>
          <a:lstStyle/>
          <a:p>
            <a:pPr algn="l"/>
            <a:r>
              <a:rPr sz="1800" b="1" i="0">
                <a:solidFill>
                  <a:srgbClr val="181824"/>
                </a:solidFill>
                <a:latin typeface="Calibri"/>
              </a:rPr>
              <a:t>Bajo 55 °C</a:t>
            </a:r>
          </a:p>
        </p:txBody>
      </p:sp>
      <p:sp>
        <p:nvSpPr>
          <p:cNvPr id="32" name="TextBox 31"/>
          <p:cNvSpPr txBox="1"/>
          <p:nvPr/>
        </p:nvSpPr>
        <p:spPr>
          <a:xfrm>
            <a:off x="7772399" y="4507992"/>
            <a:ext cx="3383280" cy="320040"/>
          </a:xfrm>
          <a:prstGeom prst="rect">
            <a:avLst/>
          </a:prstGeom>
          <a:noFill/>
        </p:spPr>
        <p:txBody>
          <a:bodyPr wrap="square" anchor="t" lIns="36576" rIns="36576" tIns="18288" bIns="18288">
            <a:spAutoFit/>
          </a:bodyPr>
          <a:lstStyle/>
          <a:p>
            <a:pPr algn="l"/>
            <a:r>
              <a:rPr sz="1700" b="1" i="0">
                <a:solidFill>
                  <a:srgbClr val="C026D3"/>
                </a:solidFill>
                <a:latin typeface="Calibri"/>
              </a:rPr>
              <a:t>✓ En uso normal (&lt; 30 °C)</a:t>
            </a:r>
          </a:p>
        </p:txBody>
      </p:sp>
      <p:sp>
        <p:nvSpPr>
          <p:cNvPr id="33" name="TextBox 32"/>
          <p:cNvSpPr txBox="1"/>
          <p:nvPr/>
        </p:nvSpPr>
        <p:spPr>
          <a:xfrm>
            <a:off x="7772399" y="5074920"/>
            <a:ext cx="3383280" cy="320040"/>
          </a:xfrm>
          <a:prstGeom prst="rect">
            <a:avLst/>
          </a:prstGeom>
          <a:noFill/>
        </p:spPr>
        <p:txBody>
          <a:bodyPr wrap="square" anchor="t" lIns="36576" rIns="36576" tIns="18288" bIns="18288">
            <a:spAutoFit/>
          </a:bodyPr>
          <a:lstStyle/>
          <a:p>
            <a:pPr algn="l"/>
            <a:r>
              <a:rPr sz="1800" b="1" i="0">
                <a:solidFill>
                  <a:srgbClr val="181824"/>
                </a:solidFill>
                <a:latin typeface="Calibri"/>
              </a:rPr>
              <a:t>Corte en menos de 15 s</a:t>
            </a:r>
          </a:p>
        </p:txBody>
      </p:sp>
      <p:sp>
        <p:nvSpPr>
          <p:cNvPr id="34" name="TextBox 33"/>
          <p:cNvSpPr txBox="1"/>
          <p:nvPr/>
        </p:nvSpPr>
        <p:spPr>
          <a:xfrm>
            <a:off x="7772399" y="5422392"/>
            <a:ext cx="3383280" cy="320040"/>
          </a:xfrm>
          <a:prstGeom prst="rect">
            <a:avLst/>
          </a:prstGeom>
          <a:noFill/>
        </p:spPr>
        <p:txBody>
          <a:bodyPr wrap="square" anchor="t" lIns="36576" rIns="36576" tIns="18288" bIns="18288">
            <a:spAutoFit/>
          </a:bodyPr>
          <a:lstStyle/>
          <a:p>
            <a:pPr algn="l"/>
            <a:r>
              <a:rPr sz="1700" b="1" i="0">
                <a:solidFill>
                  <a:srgbClr val="F59E0B"/>
                </a:solidFill>
                <a:latin typeface="Calibri"/>
              </a:rPr>
              <a:t>◐ Diseñado, falta programarlo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C"/>
        </a:solidFill>
        <a:effectLst/>
      </p:bgPr>
    </p:bg>
    <p:spTree>
      <p:nvGrpSpPr>
        <p:cNvPr id="1" name=""/>
        <p:cNvGrpSpPr/>
        <p:nvPr/>
      </p:nvGrpSpPr>
      <p:grpSpPr/>
      <p:sp>
        <p:nvSpPr>
          <p:cNvPr id="2" name="Rounded Rectangle 1"/>
          <p:cNvSpPr/>
          <p:nvPr/>
        </p:nvSpPr>
        <p:spPr>
          <a:xfrm>
            <a:off x="731520" y="292608"/>
            <a:ext cx="1554480" cy="292608"/>
          </a:xfrm>
          <a:prstGeom prst="roundRect">
            <a:avLst>
              <a:gd name="adj" fmla="val 25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554480" cy="292608"/>
          </a:xfrm>
          <a:prstGeom prst="rect">
            <a:avLst/>
          </a:prstGeom>
          <a:noFill/>
        </p:spPr>
        <p:txBody>
          <a:bodyPr wrap="square" anchor="t" lIns="36576" rIns="36576" tIns="18288" bIns="18288">
            <a:spAutoFit/>
          </a:bodyPr>
          <a:lstStyle/>
          <a:p>
            <a:pPr algn="ctr"/>
            <a:r>
              <a:rPr sz="1200" b="0" i="0">
                <a:solidFill>
                  <a:srgbClr val="665480"/>
                </a:solidFill>
                <a:latin typeface="Calibri"/>
              </a:rPr>
              <a:t>PLANTEAMIENTO</a:t>
            </a:r>
          </a:p>
        </p:txBody>
      </p:sp>
      <p:sp>
        <p:nvSpPr>
          <p:cNvPr id="4" name="Rounded Rectangle 3"/>
          <p:cNvSpPr/>
          <p:nvPr/>
        </p:nvSpPr>
        <p:spPr>
          <a:xfrm>
            <a:off x="2395728" y="292608"/>
            <a:ext cx="1554480" cy="292608"/>
          </a:xfrm>
          <a:prstGeom prst="roundRect">
            <a:avLst>
              <a:gd name="adj" fmla="val 25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395728" y="320040"/>
            <a:ext cx="1554480" cy="292608"/>
          </a:xfrm>
          <a:prstGeom prst="rect">
            <a:avLst/>
          </a:prstGeom>
          <a:noFill/>
        </p:spPr>
        <p:txBody>
          <a:bodyPr wrap="square" anchor="t" lIns="36576" rIns="36576" tIns="18288" bIns="18288">
            <a:spAutoFit/>
          </a:bodyPr>
          <a:lstStyle/>
          <a:p>
            <a:pPr algn="ctr"/>
            <a:r>
              <a:rPr sz="1200" b="0" i="0">
                <a:solidFill>
                  <a:srgbClr val="665480"/>
                </a:solidFill>
                <a:latin typeface="Calibri"/>
              </a:rPr>
              <a:t>DISEÑO</a:t>
            </a:r>
          </a:p>
        </p:txBody>
      </p:sp>
      <p:sp>
        <p:nvSpPr>
          <p:cNvPr id="6" name="Rounded Rectangle 5"/>
          <p:cNvSpPr/>
          <p:nvPr/>
        </p:nvSpPr>
        <p:spPr>
          <a:xfrm>
            <a:off x="4059936" y="292608"/>
            <a:ext cx="1554480" cy="292608"/>
          </a:xfrm>
          <a:prstGeom prst="roundRect">
            <a:avLst>
              <a:gd name="adj" fmla="val 25000"/>
            </a:avLst>
          </a:prstGeom>
          <a:solidFill>
            <a:srgbClr val="FDE8F5"/>
          </a:solidFill>
          <a:ln w="19050">
            <a:solidFill>
              <a:srgbClr val="E02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59936" y="320040"/>
            <a:ext cx="1554480" cy="292608"/>
          </a:xfrm>
          <a:prstGeom prst="rect">
            <a:avLst/>
          </a:prstGeom>
          <a:noFill/>
        </p:spPr>
        <p:txBody>
          <a:bodyPr wrap="square" anchor="t" lIns="36576" rIns="36576" tIns="18288" bIns="18288">
            <a:spAutoFit/>
          </a:bodyPr>
          <a:lstStyle/>
          <a:p>
            <a:pPr algn="ctr"/>
            <a:r>
              <a:rPr sz="1200" b="1" i="0">
                <a:solidFill>
                  <a:srgbClr val="C026D3"/>
                </a:solidFill>
                <a:latin typeface="Calibri"/>
              </a:rPr>
              <a:t>RESULTADOS</a:t>
            </a:r>
          </a:p>
        </p:txBody>
      </p:sp>
      <p:sp>
        <p:nvSpPr>
          <p:cNvPr id="8" name="Rounded Rectangle 7"/>
          <p:cNvSpPr/>
          <p:nvPr/>
        </p:nvSpPr>
        <p:spPr>
          <a:xfrm>
            <a:off x="5724144" y="292608"/>
            <a:ext cx="1554480" cy="292608"/>
          </a:xfrm>
          <a:prstGeom prst="roundRect">
            <a:avLst>
              <a:gd name="adj" fmla="val 25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24144" y="320040"/>
            <a:ext cx="1554480" cy="292608"/>
          </a:xfrm>
          <a:prstGeom prst="rect">
            <a:avLst/>
          </a:prstGeom>
          <a:noFill/>
        </p:spPr>
        <p:txBody>
          <a:bodyPr wrap="square" anchor="t" lIns="36576" rIns="36576" tIns="18288" bIns="18288">
            <a:spAutoFit/>
          </a:bodyPr>
          <a:lstStyle/>
          <a:p>
            <a:pPr algn="ctr"/>
            <a:r>
              <a:rPr sz="1200" b="0" i="0">
                <a:solidFill>
                  <a:srgbClr val="665480"/>
                </a:solidFill>
                <a:latin typeface="Calibri"/>
              </a:rPr>
              <a:t>BRECHA</a:t>
            </a:r>
          </a:p>
        </p:txBody>
      </p:sp>
      <p:sp>
        <p:nvSpPr>
          <p:cNvPr id="10" name="Rounded Rectangle 9"/>
          <p:cNvSpPr/>
          <p:nvPr/>
        </p:nvSpPr>
        <p:spPr>
          <a:xfrm>
            <a:off x="7388352" y="292608"/>
            <a:ext cx="1554480" cy="292608"/>
          </a:xfrm>
          <a:prstGeom prst="roundRect">
            <a:avLst>
              <a:gd name="adj" fmla="val 25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88352" y="320040"/>
            <a:ext cx="1554480" cy="292608"/>
          </a:xfrm>
          <a:prstGeom prst="rect">
            <a:avLst/>
          </a:prstGeom>
          <a:noFill/>
        </p:spPr>
        <p:txBody>
          <a:bodyPr wrap="square" anchor="t" lIns="36576" rIns="36576" tIns="18288" bIns="18288">
            <a:spAutoFit/>
          </a:bodyPr>
          <a:lstStyle/>
          <a:p>
            <a:pPr algn="ctr"/>
            <a:r>
              <a:rPr sz="1200" b="0" i="0">
                <a:solidFill>
                  <a:srgbClr val="665480"/>
                </a:solidFill>
                <a:latin typeface="Calibri"/>
              </a:rPr>
              <a:t>SIGUIENTES</a:t>
            </a:r>
          </a:p>
        </p:txBody>
      </p:sp>
      <p:sp>
        <p:nvSpPr>
          <p:cNvPr id="12" name="TextBox 11"/>
          <p:cNvSpPr txBox="1"/>
          <p:nvPr/>
        </p:nvSpPr>
        <p:spPr>
          <a:xfrm>
            <a:off x="10972800" y="6446520"/>
            <a:ext cx="731520" cy="274320"/>
          </a:xfrm>
          <a:prstGeom prst="rect">
            <a:avLst/>
          </a:prstGeom>
          <a:noFill/>
        </p:spPr>
        <p:txBody>
          <a:bodyPr wrap="square" anchor="t" lIns="36576" rIns="36576" tIns="18288" bIns="18288">
            <a:spAutoFit/>
          </a:bodyPr>
          <a:lstStyle/>
          <a:p>
            <a:pPr algn="r"/>
            <a:r>
              <a:rPr sz="1300" b="0" i="0">
                <a:solidFill>
                  <a:srgbClr val="665480"/>
                </a:solidFill>
                <a:latin typeface="Calibri"/>
              </a:rPr>
              <a:t>7/10</a:t>
            </a:r>
          </a:p>
        </p:txBody>
      </p:sp>
      <p:sp>
        <p:nvSpPr>
          <p:cNvPr id="13" name="TextBox 12"/>
          <p:cNvSpPr txBox="1"/>
          <p:nvPr/>
        </p:nvSpPr>
        <p:spPr>
          <a:xfrm>
            <a:off x="731520" y="685800"/>
            <a:ext cx="10698480" cy="777240"/>
          </a:xfrm>
          <a:prstGeom prst="rect">
            <a:avLst/>
          </a:prstGeom>
          <a:noFill/>
        </p:spPr>
        <p:txBody>
          <a:bodyPr wrap="square" anchor="t" lIns="36576" rIns="36576" tIns="18288" bIns="18288">
            <a:spAutoFit/>
          </a:bodyPr>
          <a:lstStyle/>
          <a:p>
            <a:pPr algn="l"/>
            <a:r>
              <a:rPr sz="4000" b="1" i="0">
                <a:solidFill>
                  <a:srgbClr val="F43F5E"/>
                </a:solidFill>
                <a:latin typeface="Calibri"/>
              </a:rPr>
              <a:t>Si un panel se atora, en menos de 4 minutos se quema</a:t>
            </a:r>
          </a:p>
        </p:txBody>
      </p:sp>
      <p:sp>
        <p:nvSpPr>
          <p:cNvPr id="14" name="Rounded Rectangle 13"/>
          <p:cNvSpPr/>
          <p:nvPr/>
        </p:nvSpPr>
        <p:spPr>
          <a:xfrm>
            <a:off x="731520" y="1645920"/>
            <a:ext cx="6858000" cy="4480560"/>
          </a:xfrm>
          <a:prstGeom prst="roundRect">
            <a:avLst>
              <a:gd name="adj" fmla="val 2000"/>
            </a:avLst>
          </a:prstGeom>
          <a:solidFill>
            <a:srgbClr val="FFFFFF"/>
          </a:solidFill>
          <a:ln w="19050">
            <a:solidFill>
              <a:srgbClr val="6654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grafica_termica_reconstruida.png"/>
          <p:cNvPicPr>
            <a:picLocks noChangeAspect="1"/>
          </p:cNvPicPr>
          <p:nvPr/>
        </p:nvPicPr>
        <p:blipFill>
          <a:blip r:embed="rId3"/>
          <a:stretch>
            <a:fillRect/>
          </a:stretch>
        </p:blipFill>
        <p:spPr>
          <a:xfrm>
            <a:off x="768096" y="1812195"/>
            <a:ext cx="6784848" cy="4148009"/>
          </a:xfrm>
          <a:prstGeom prst="rect">
            <a:avLst/>
          </a:prstGeom>
        </p:spPr>
      </p:pic>
      <p:sp>
        <p:nvSpPr>
          <p:cNvPr id="16" name="TextBox 15"/>
          <p:cNvSpPr txBox="1"/>
          <p:nvPr/>
        </p:nvSpPr>
        <p:spPr>
          <a:xfrm>
            <a:off x="731520" y="6163056"/>
            <a:ext cx="6858000" cy="237744"/>
          </a:xfrm>
          <a:prstGeom prst="rect">
            <a:avLst/>
          </a:prstGeom>
          <a:noFill/>
        </p:spPr>
        <p:txBody>
          <a:bodyPr wrap="square" anchor="t" lIns="36576" rIns="36576" tIns="18288" bIns="18288">
            <a:spAutoFit/>
          </a:bodyPr>
          <a:lstStyle/>
          <a:p>
            <a:pPr algn="ctr"/>
            <a:r>
              <a:rPr sz="1200" b="0" i="1">
                <a:solidFill>
                  <a:srgbClr val="665480"/>
                </a:solidFill>
                <a:latin typeface="Calibri"/>
              </a:rPr>
              <a:t>Sensor LM35 pegado al motor, 1 lectura por segundo</a:t>
            </a:r>
          </a:p>
        </p:txBody>
      </p:sp>
      <p:sp>
        <p:nvSpPr>
          <p:cNvPr id="17" name="Rounded Rectangle 16"/>
          <p:cNvSpPr/>
          <p:nvPr/>
        </p:nvSpPr>
        <p:spPr>
          <a:xfrm>
            <a:off x="7863840" y="1645920"/>
            <a:ext cx="3566160" cy="1325880"/>
          </a:xfrm>
          <a:prstGeom prst="roundRect">
            <a:avLst>
              <a:gd name="adj" fmla="val 3000"/>
            </a:avLst>
          </a:prstGeom>
          <a:solidFill>
            <a:srgbClr val="FFFFFF"/>
          </a:solidFill>
          <a:ln w="19050">
            <a:solidFill>
              <a:srgbClr val="F43F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0" y="1691640"/>
            <a:ext cx="3566160" cy="640080"/>
          </a:xfrm>
          <a:prstGeom prst="rect">
            <a:avLst/>
          </a:prstGeom>
          <a:noFill/>
        </p:spPr>
        <p:txBody>
          <a:bodyPr wrap="square" anchor="t" lIns="36576" rIns="36576" tIns="18288" bIns="18288">
            <a:spAutoFit/>
          </a:bodyPr>
          <a:lstStyle/>
          <a:p>
            <a:pPr algn="ctr"/>
            <a:r>
              <a:rPr sz="5800" b="1" i="0">
                <a:solidFill>
                  <a:srgbClr val="F43F5E"/>
                </a:solidFill>
                <a:latin typeface="Calibri"/>
              </a:rPr>
              <a:t>64.8 °C</a:t>
            </a:r>
          </a:p>
        </p:txBody>
      </p:sp>
      <p:sp>
        <p:nvSpPr>
          <p:cNvPr id="19" name="TextBox 18"/>
          <p:cNvSpPr txBox="1"/>
          <p:nvPr/>
        </p:nvSpPr>
        <p:spPr>
          <a:xfrm>
            <a:off x="8046720" y="2331720"/>
            <a:ext cx="3200400" cy="502920"/>
          </a:xfrm>
          <a:prstGeom prst="rect">
            <a:avLst/>
          </a:prstGeom>
          <a:noFill/>
        </p:spPr>
        <p:txBody>
          <a:bodyPr wrap="square" anchor="t" lIns="36576" rIns="36576" tIns="18288" bIns="18288">
            <a:spAutoFit/>
          </a:bodyPr>
          <a:lstStyle/>
          <a:p>
            <a:pPr algn="ctr"/>
            <a:r>
              <a:rPr sz="1700" b="0" i="0">
                <a:solidFill>
                  <a:srgbClr val="665480"/>
                </a:solidFill>
                <a:latin typeface="Calibri"/>
              </a:rPr>
              <a:t>a los 226 s (engrane forzado)</a:t>
            </a:r>
          </a:p>
        </p:txBody>
      </p:sp>
      <p:sp>
        <p:nvSpPr>
          <p:cNvPr id="20" name="Rounded Rectangle 19"/>
          <p:cNvSpPr/>
          <p:nvPr/>
        </p:nvSpPr>
        <p:spPr>
          <a:xfrm>
            <a:off x="7863840" y="3108960"/>
            <a:ext cx="3566160" cy="1417320"/>
          </a:xfrm>
          <a:prstGeom prst="roundRect">
            <a:avLst>
              <a:gd name="adj" fmla="val 3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0" y="3200400"/>
            <a:ext cx="3200400" cy="594360"/>
          </a:xfrm>
          <a:prstGeom prst="rect">
            <a:avLst/>
          </a:prstGeom>
          <a:noFill/>
        </p:spPr>
        <p:txBody>
          <a:bodyPr wrap="square" anchor="t" lIns="36576" rIns="36576" tIns="18288" bIns="18288">
            <a:spAutoFit/>
          </a:bodyPr>
          <a:lstStyle/>
          <a:p>
            <a:pPr algn="l"/>
            <a:r>
              <a:rPr sz="1900" b="1" i="0">
                <a:solidFill>
                  <a:srgbClr val="F43F5E"/>
                </a:solidFill>
                <a:latin typeface="Calibri"/>
              </a:rPr>
              <a:t>Atorado sube ~13 °C por minuto</a:t>
            </a:r>
          </a:p>
        </p:txBody>
      </p:sp>
      <p:sp>
        <p:nvSpPr>
          <p:cNvPr id="22" name="TextBox 21"/>
          <p:cNvSpPr txBox="1"/>
          <p:nvPr/>
        </p:nvSpPr>
        <p:spPr>
          <a:xfrm>
            <a:off x="8046720" y="3840480"/>
            <a:ext cx="3200400" cy="548640"/>
          </a:xfrm>
          <a:prstGeom prst="rect">
            <a:avLst/>
          </a:prstGeom>
          <a:noFill/>
        </p:spPr>
        <p:txBody>
          <a:bodyPr wrap="square" anchor="t" lIns="36576" rIns="36576" tIns="18288" bIns="18288">
            <a:spAutoFit/>
          </a:bodyPr>
          <a:lstStyle/>
          <a:p>
            <a:pPr algn="l"/>
            <a:r>
              <a:rPr sz="1800" b="0" i="0">
                <a:solidFill>
                  <a:srgbClr val="181824"/>
                </a:solidFill>
                <a:latin typeface="Calibri"/>
              </a:rPr>
              <a:t>Sin carga: no se calienta.</a:t>
            </a:r>
          </a:p>
        </p:txBody>
      </p:sp>
      <p:sp>
        <p:nvSpPr>
          <p:cNvPr id="23" name="Rounded Rectangle 22"/>
          <p:cNvSpPr/>
          <p:nvPr/>
        </p:nvSpPr>
        <p:spPr>
          <a:xfrm>
            <a:off x="7863840" y="4663440"/>
            <a:ext cx="3566160" cy="1417320"/>
          </a:xfrm>
          <a:prstGeom prst="roundRect">
            <a:avLst>
              <a:gd name="adj" fmla="val 3000"/>
            </a:avLst>
          </a:prstGeom>
          <a:solidFill>
            <a:srgbClr val="FDE8F5"/>
          </a:solidFill>
          <a:ln w="19050">
            <a:solidFill>
              <a:srgbClr val="E02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0" y="4754880"/>
            <a:ext cx="3200400" cy="594360"/>
          </a:xfrm>
          <a:prstGeom prst="rect">
            <a:avLst/>
          </a:prstGeom>
          <a:noFill/>
        </p:spPr>
        <p:txBody>
          <a:bodyPr wrap="square" anchor="t" lIns="36576" rIns="36576" tIns="18288" bIns="18288">
            <a:spAutoFit/>
          </a:bodyPr>
          <a:lstStyle/>
          <a:p>
            <a:pPr algn="l"/>
            <a:r>
              <a:rPr sz="1900" b="1" i="0">
                <a:solidFill>
                  <a:srgbClr val="C026D3"/>
                </a:solidFill>
                <a:latin typeface="Calibri"/>
              </a:rPr>
              <a:t>Con corte a 15 s: sube solo ~3 °C</a:t>
            </a:r>
          </a:p>
        </p:txBody>
      </p:sp>
      <p:sp>
        <p:nvSpPr>
          <p:cNvPr id="25" name="TextBox 24"/>
          <p:cNvSpPr txBox="1"/>
          <p:nvPr/>
        </p:nvSpPr>
        <p:spPr>
          <a:xfrm>
            <a:off x="8046720" y="5394960"/>
            <a:ext cx="3200400" cy="548640"/>
          </a:xfrm>
          <a:prstGeom prst="rect">
            <a:avLst/>
          </a:prstGeom>
          <a:noFill/>
        </p:spPr>
        <p:txBody>
          <a:bodyPr wrap="square" anchor="t" lIns="36576" rIns="36576" tIns="18288" bIns="18288">
            <a:spAutoFit/>
          </a:bodyPr>
          <a:lstStyle/>
          <a:p>
            <a:pPr algn="l"/>
            <a:r>
              <a:rPr sz="1600" b="0" i="0">
                <a:solidFill>
                  <a:srgbClr val="665480"/>
                </a:solidFill>
                <a:latin typeface="Calibri"/>
              </a:rPr>
              <a:t>Protege engranes y plástico PLA.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9FC"/>
        </a:solidFill>
        <a:effectLst/>
      </p:bgPr>
    </p:bg>
    <p:spTree>
      <p:nvGrpSpPr>
        <p:cNvPr id="1" name=""/>
        <p:cNvGrpSpPr/>
        <p:nvPr/>
      </p:nvGrpSpPr>
      <p:grpSpPr/>
      <p:sp>
        <p:nvSpPr>
          <p:cNvPr id="2" name="Rounded Rectangle 1"/>
          <p:cNvSpPr/>
          <p:nvPr/>
        </p:nvSpPr>
        <p:spPr>
          <a:xfrm>
            <a:off x="731520" y="292608"/>
            <a:ext cx="1554480" cy="292608"/>
          </a:xfrm>
          <a:prstGeom prst="roundRect">
            <a:avLst>
              <a:gd name="adj" fmla="val 25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554480" cy="292608"/>
          </a:xfrm>
          <a:prstGeom prst="rect">
            <a:avLst/>
          </a:prstGeom>
          <a:noFill/>
        </p:spPr>
        <p:txBody>
          <a:bodyPr wrap="square" anchor="t" lIns="36576" rIns="36576" tIns="18288" bIns="18288">
            <a:spAutoFit/>
          </a:bodyPr>
          <a:lstStyle/>
          <a:p>
            <a:pPr algn="ctr"/>
            <a:r>
              <a:rPr sz="1200" b="0" i="0">
                <a:solidFill>
                  <a:srgbClr val="665480"/>
                </a:solidFill>
                <a:latin typeface="Calibri"/>
              </a:rPr>
              <a:t>PLANTEAMIENTO</a:t>
            </a:r>
          </a:p>
        </p:txBody>
      </p:sp>
      <p:sp>
        <p:nvSpPr>
          <p:cNvPr id="4" name="Rounded Rectangle 3"/>
          <p:cNvSpPr/>
          <p:nvPr/>
        </p:nvSpPr>
        <p:spPr>
          <a:xfrm>
            <a:off x="2395728" y="292608"/>
            <a:ext cx="1554480" cy="292608"/>
          </a:xfrm>
          <a:prstGeom prst="roundRect">
            <a:avLst>
              <a:gd name="adj" fmla="val 25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395728" y="320040"/>
            <a:ext cx="1554480" cy="292608"/>
          </a:xfrm>
          <a:prstGeom prst="rect">
            <a:avLst/>
          </a:prstGeom>
          <a:noFill/>
        </p:spPr>
        <p:txBody>
          <a:bodyPr wrap="square" anchor="t" lIns="36576" rIns="36576" tIns="18288" bIns="18288">
            <a:spAutoFit/>
          </a:bodyPr>
          <a:lstStyle/>
          <a:p>
            <a:pPr algn="ctr"/>
            <a:r>
              <a:rPr sz="1200" b="0" i="0">
                <a:solidFill>
                  <a:srgbClr val="665480"/>
                </a:solidFill>
                <a:latin typeface="Calibri"/>
              </a:rPr>
              <a:t>DISEÑO</a:t>
            </a:r>
          </a:p>
        </p:txBody>
      </p:sp>
      <p:sp>
        <p:nvSpPr>
          <p:cNvPr id="6" name="Rounded Rectangle 5"/>
          <p:cNvSpPr/>
          <p:nvPr/>
        </p:nvSpPr>
        <p:spPr>
          <a:xfrm>
            <a:off x="4059936" y="292608"/>
            <a:ext cx="1554480" cy="292608"/>
          </a:xfrm>
          <a:prstGeom prst="roundRect">
            <a:avLst>
              <a:gd name="adj" fmla="val 25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59936" y="320040"/>
            <a:ext cx="1554480" cy="292608"/>
          </a:xfrm>
          <a:prstGeom prst="rect">
            <a:avLst/>
          </a:prstGeom>
          <a:noFill/>
        </p:spPr>
        <p:txBody>
          <a:bodyPr wrap="square" anchor="t" lIns="36576" rIns="36576" tIns="18288" bIns="18288">
            <a:spAutoFit/>
          </a:bodyPr>
          <a:lstStyle/>
          <a:p>
            <a:pPr algn="ctr"/>
            <a:r>
              <a:rPr sz="1200" b="0" i="0">
                <a:solidFill>
                  <a:srgbClr val="665480"/>
                </a:solidFill>
                <a:latin typeface="Calibri"/>
              </a:rPr>
              <a:t>RESULTADOS</a:t>
            </a:r>
          </a:p>
        </p:txBody>
      </p:sp>
      <p:sp>
        <p:nvSpPr>
          <p:cNvPr id="8" name="Rounded Rectangle 7"/>
          <p:cNvSpPr/>
          <p:nvPr/>
        </p:nvSpPr>
        <p:spPr>
          <a:xfrm>
            <a:off x="5724144" y="292608"/>
            <a:ext cx="1554480" cy="292608"/>
          </a:xfrm>
          <a:prstGeom prst="roundRect">
            <a:avLst>
              <a:gd name="adj" fmla="val 25000"/>
            </a:avLst>
          </a:prstGeom>
          <a:solidFill>
            <a:srgbClr val="FDE8F5"/>
          </a:solidFill>
          <a:ln w="19050">
            <a:solidFill>
              <a:srgbClr val="E02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24144" y="320040"/>
            <a:ext cx="1554480" cy="292608"/>
          </a:xfrm>
          <a:prstGeom prst="rect">
            <a:avLst/>
          </a:prstGeom>
          <a:noFill/>
        </p:spPr>
        <p:txBody>
          <a:bodyPr wrap="square" anchor="t" lIns="36576" rIns="36576" tIns="18288" bIns="18288">
            <a:spAutoFit/>
          </a:bodyPr>
          <a:lstStyle/>
          <a:p>
            <a:pPr algn="ctr"/>
            <a:r>
              <a:rPr sz="1200" b="1" i="0">
                <a:solidFill>
                  <a:srgbClr val="C026D3"/>
                </a:solidFill>
                <a:latin typeface="Calibri"/>
              </a:rPr>
              <a:t>BRECHA</a:t>
            </a:r>
          </a:p>
        </p:txBody>
      </p:sp>
      <p:sp>
        <p:nvSpPr>
          <p:cNvPr id="10" name="Rounded Rectangle 9"/>
          <p:cNvSpPr/>
          <p:nvPr/>
        </p:nvSpPr>
        <p:spPr>
          <a:xfrm>
            <a:off x="7388352" y="292608"/>
            <a:ext cx="1554480" cy="292608"/>
          </a:xfrm>
          <a:prstGeom prst="roundRect">
            <a:avLst>
              <a:gd name="adj" fmla="val 25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88352" y="320040"/>
            <a:ext cx="1554480" cy="292608"/>
          </a:xfrm>
          <a:prstGeom prst="rect">
            <a:avLst/>
          </a:prstGeom>
          <a:noFill/>
        </p:spPr>
        <p:txBody>
          <a:bodyPr wrap="square" anchor="t" lIns="36576" rIns="36576" tIns="18288" bIns="18288">
            <a:spAutoFit/>
          </a:bodyPr>
          <a:lstStyle/>
          <a:p>
            <a:pPr algn="ctr"/>
            <a:r>
              <a:rPr sz="1200" b="0" i="0">
                <a:solidFill>
                  <a:srgbClr val="665480"/>
                </a:solidFill>
                <a:latin typeface="Calibri"/>
              </a:rPr>
              <a:t>SIGUIENTES</a:t>
            </a:r>
          </a:p>
        </p:txBody>
      </p:sp>
      <p:sp>
        <p:nvSpPr>
          <p:cNvPr id="12" name="TextBox 11"/>
          <p:cNvSpPr txBox="1"/>
          <p:nvPr/>
        </p:nvSpPr>
        <p:spPr>
          <a:xfrm>
            <a:off x="10972800" y="6446520"/>
            <a:ext cx="731520" cy="274320"/>
          </a:xfrm>
          <a:prstGeom prst="rect">
            <a:avLst/>
          </a:prstGeom>
          <a:noFill/>
        </p:spPr>
        <p:txBody>
          <a:bodyPr wrap="square" anchor="t" lIns="36576" rIns="36576" tIns="18288" bIns="18288">
            <a:spAutoFit/>
          </a:bodyPr>
          <a:lstStyle/>
          <a:p>
            <a:pPr algn="r"/>
            <a:r>
              <a:rPr sz="1300" b="0" i="0">
                <a:solidFill>
                  <a:srgbClr val="665480"/>
                </a:solidFill>
                <a:latin typeface="Calibri"/>
              </a:rPr>
              <a:t>8/10</a:t>
            </a:r>
          </a:p>
        </p:txBody>
      </p:sp>
      <p:sp>
        <p:nvSpPr>
          <p:cNvPr id="13" name="TextBox 12"/>
          <p:cNvSpPr txBox="1"/>
          <p:nvPr/>
        </p:nvSpPr>
        <p:spPr>
          <a:xfrm>
            <a:off x="731520" y="685800"/>
            <a:ext cx="10698480" cy="777240"/>
          </a:xfrm>
          <a:prstGeom prst="rect">
            <a:avLst/>
          </a:prstGeom>
          <a:noFill/>
        </p:spPr>
        <p:txBody>
          <a:bodyPr wrap="square" anchor="t" lIns="36576" rIns="36576" tIns="18288" bIns="18288">
            <a:spAutoFit/>
          </a:bodyPr>
          <a:lstStyle/>
          <a:p>
            <a:pPr algn="l"/>
            <a:r>
              <a:rPr sz="4000" b="1" i="0">
                <a:solidFill>
                  <a:srgbClr val="181824"/>
                </a:solidFill>
                <a:latin typeface="Calibri"/>
              </a:rPr>
              <a:t>Un laboratorio no es un museo: gente y entorno</a:t>
            </a:r>
          </a:p>
        </p:txBody>
      </p:sp>
      <p:sp>
        <p:nvSpPr>
          <p:cNvPr id="14" name="Rounded Rectangle 13"/>
          <p:cNvSpPr/>
          <p:nvPr/>
        </p:nvSpPr>
        <p:spPr>
          <a:xfrm>
            <a:off x="731520" y="1645920"/>
            <a:ext cx="3108960" cy="365760"/>
          </a:xfrm>
          <a:prstGeom prst="roundRect">
            <a:avLst>
              <a:gd name="adj" fmla="val 10000"/>
            </a:avLst>
          </a:prstGeom>
          <a:solidFill>
            <a:srgbClr val="FD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700784"/>
            <a:ext cx="3108960" cy="274320"/>
          </a:xfrm>
          <a:prstGeom prst="rect">
            <a:avLst/>
          </a:prstGeom>
          <a:noFill/>
        </p:spPr>
        <p:txBody>
          <a:bodyPr wrap="square" anchor="t" lIns="36576" rIns="36576" tIns="18288" bIns="18288">
            <a:spAutoFit/>
          </a:bodyPr>
          <a:lstStyle/>
          <a:p>
            <a:pPr algn="ctr"/>
            <a:r>
              <a:rPr sz="1300" b="1" i="0">
                <a:solidFill>
                  <a:srgbClr val="C026D3"/>
                </a:solidFill>
                <a:latin typeface="Calibri"/>
              </a:rPr>
              <a:t>LO QUE PROBAMOS</a:t>
            </a:r>
          </a:p>
        </p:txBody>
      </p:sp>
      <p:sp>
        <p:nvSpPr>
          <p:cNvPr id="16" name="Rounded Rectangle 15"/>
          <p:cNvSpPr/>
          <p:nvPr/>
        </p:nvSpPr>
        <p:spPr>
          <a:xfrm>
            <a:off x="3840480" y="1645920"/>
            <a:ext cx="4023360" cy="365760"/>
          </a:xfrm>
          <a:prstGeom prst="roundRect">
            <a:avLst>
              <a:gd name="adj" fmla="val 10000"/>
            </a:avLst>
          </a:prstGeom>
          <a:solidFill>
            <a:srgbClr val="FD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40480" y="1700784"/>
            <a:ext cx="4023360" cy="274320"/>
          </a:xfrm>
          <a:prstGeom prst="rect">
            <a:avLst/>
          </a:prstGeom>
          <a:noFill/>
        </p:spPr>
        <p:txBody>
          <a:bodyPr wrap="square" anchor="t" lIns="36576" rIns="36576" tIns="18288" bIns="18288">
            <a:spAutoFit/>
          </a:bodyPr>
          <a:lstStyle/>
          <a:p>
            <a:pPr algn="ctr"/>
            <a:r>
              <a:rPr sz="1300" b="1" i="0">
                <a:solidFill>
                  <a:srgbClr val="C026D3"/>
                </a:solidFill>
                <a:latin typeface="Calibri"/>
              </a:rPr>
              <a:t>LO QUE EXIGE UN MUSEO</a:t>
            </a:r>
          </a:p>
        </p:txBody>
      </p:sp>
      <p:sp>
        <p:nvSpPr>
          <p:cNvPr id="18" name="Rounded Rectangle 17"/>
          <p:cNvSpPr/>
          <p:nvPr/>
        </p:nvSpPr>
        <p:spPr>
          <a:xfrm>
            <a:off x="7863840" y="1645920"/>
            <a:ext cx="3566160" cy="365760"/>
          </a:xfrm>
          <a:prstGeom prst="roundRect">
            <a:avLst>
              <a:gd name="adj" fmla="val 10000"/>
            </a:avLst>
          </a:prstGeom>
          <a:solidFill>
            <a:srgbClr val="FD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1700784"/>
            <a:ext cx="3566160" cy="274320"/>
          </a:xfrm>
          <a:prstGeom prst="rect">
            <a:avLst/>
          </a:prstGeom>
          <a:noFill/>
        </p:spPr>
        <p:txBody>
          <a:bodyPr wrap="square" anchor="t" lIns="36576" rIns="36576" tIns="18288" bIns="18288">
            <a:spAutoFit/>
          </a:bodyPr>
          <a:lstStyle/>
          <a:p>
            <a:pPr algn="ctr"/>
            <a:r>
              <a:rPr sz="1300" b="1" i="0">
                <a:solidFill>
                  <a:srgbClr val="C026D3"/>
                </a:solidFill>
                <a:latin typeface="Calibri"/>
              </a:rPr>
              <a:t>POR QUÉ IMPORTA</a:t>
            </a:r>
          </a:p>
        </p:txBody>
      </p:sp>
      <p:sp>
        <p:nvSpPr>
          <p:cNvPr id="20" name="Rounded Rectangle 19"/>
          <p:cNvSpPr/>
          <p:nvPr/>
        </p:nvSpPr>
        <p:spPr>
          <a:xfrm>
            <a:off x="731520" y="2148840"/>
            <a:ext cx="10698480" cy="868680"/>
          </a:xfrm>
          <a:prstGeom prst="roundRect">
            <a:avLst>
              <a:gd name="adj" fmla="val 3000"/>
            </a:avLst>
          </a:prstGeom>
          <a:solidFill>
            <a:srgbClr val="FFFFFF"/>
          </a:solidFill>
          <a:ln w="19050">
            <a:solidFill>
              <a:srgbClr val="6654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2377440"/>
            <a:ext cx="2834640" cy="457200"/>
          </a:xfrm>
          <a:prstGeom prst="rect">
            <a:avLst/>
          </a:prstGeom>
          <a:noFill/>
        </p:spPr>
        <p:txBody>
          <a:bodyPr wrap="square" anchor="t" lIns="36576" rIns="36576" tIns="18288" bIns="18288">
            <a:spAutoFit/>
          </a:bodyPr>
          <a:lstStyle/>
          <a:p>
            <a:pPr algn="l"/>
            <a:r>
              <a:rPr sz="2000" b="1" i="0">
                <a:solidFill>
                  <a:srgbClr val="181824"/>
                </a:solidFill>
                <a:latin typeface="Calibri"/>
              </a:rPr>
              <a:t>👤 1 persona sola</a:t>
            </a:r>
          </a:p>
        </p:txBody>
      </p:sp>
      <p:sp>
        <p:nvSpPr>
          <p:cNvPr id="22" name="TextBox 21"/>
          <p:cNvSpPr txBox="1"/>
          <p:nvPr/>
        </p:nvSpPr>
        <p:spPr>
          <a:xfrm>
            <a:off x="3931920" y="2377440"/>
            <a:ext cx="3749039" cy="457200"/>
          </a:xfrm>
          <a:prstGeom prst="rect">
            <a:avLst/>
          </a:prstGeom>
          <a:noFill/>
        </p:spPr>
        <p:txBody>
          <a:bodyPr wrap="square" anchor="t" lIns="36576" rIns="36576" tIns="18288" bIns="18288">
            <a:spAutoFit/>
          </a:bodyPr>
          <a:lstStyle/>
          <a:p>
            <a:pPr algn="l"/>
            <a:r>
              <a:rPr sz="2000" b="0" i="0">
                <a:solidFill>
                  <a:srgbClr val="181824"/>
                </a:solidFill>
                <a:latin typeface="Calibri"/>
              </a:rPr>
              <a:t>👥 Multitud, manos cruzadas</a:t>
            </a:r>
          </a:p>
        </p:txBody>
      </p:sp>
      <p:sp>
        <p:nvSpPr>
          <p:cNvPr id="23" name="TextBox 22"/>
          <p:cNvSpPr txBox="1"/>
          <p:nvPr/>
        </p:nvSpPr>
        <p:spPr>
          <a:xfrm>
            <a:off x="7955279" y="2377440"/>
            <a:ext cx="3291840" cy="457200"/>
          </a:xfrm>
          <a:prstGeom prst="rect">
            <a:avLst/>
          </a:prstGeom>
          <a:noFill/>
        </p:spPr>
        <p:txBody>
          <a:bodyPr wrap="square" anchor="t" lIns="36576" rIns="36576" tIns="18288" bIns="18288">
            <a:spAutoFit/>
          </a:bodyPr>
          <a:lstStyle/>
          <a:p>
            <a:pPr algn="l"/>
            <a:r>
              <a:rPr sz="1800" b="1" i="0">
                <a:solidFill>
                  <a:srgbClr val="F59E0B"/>
                </a:solidFill>
                <a:latin typeface="Calibri"/>
              </a:rPr>
              <a:t>¿A quién sigue?</a:t>
            </a:r>
          </a:p>
        </p:txBody>
      </p:sp>
      <p:sp>
        <p:nvSpPr>
          <p:cNvPr id="24" name="Rounded Rectangle 23"/>
          <p:cNvSpPr/>
          <p:nvPr/>
        </p:nvSpPr>
        <p:spPr>
          <a:xfrm>
            <a:off x="731520" y="3154680"/>
            <a:ext cx="10698480" cy="868680"/>
          </a:xfrm>
          <a:prstGeom prst="roundRect">
            <a:avLst>
              <a:gd name="adj" fmla="val 3000"/>
            </a:avLst>
          </a:prstGeom>
          <a:solidFill>
            <a:srgbClr val="FFFFFF"/>
          </a:solidFill>
          <a:ln w="19050">
            <a:solidFill>
              <a:srgbClr val="6654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3383280"/>
            <a:ext cx="2834640" cy="457200"/>
          </a:xfrm>
          <a:prstGeom prst="rect">
            <a:avLst/>
          </a:prstGeom>
          <a:noFill/>
        </p:spPr>
        <p:txBody>
          <a:bodyPr wrap="square" anchor="t" lIns="36576" rIns="36576" tIns="18288" bIns="18288">
            <a:spAutoFit/>
          </a:bodyPr>
          <a:lstStyle/>
          <a:p>
            <a:pPr algn="l"/>
            <a:r>
              <a:rPr sz="2000" b="1" i="0">
                <a:solidFill>
                  <a:srgbClr val="181824"/>
                </a:solidFill>
                <a:latin typeface="Calibri"/>
              </a:rPr>
              <a:t>💡 Luz de laboratorio</a:t>
            </a:r>
          </a:p>
        </p:txBody>
      </p:sp>
      <p:sp>
        <p:nvSpPr>
          <p:cNvPr id="26" name="TextBox 25"/>
          <p:cNvSpPr txBox="1"/>
          <p:nvPr/>
        </p:nvSpPr>
        <p:spPr>
          <a:xfrm>
            <a:off x="3931920" y="3383280"/>
            <a:ext cx="3749039" cy="457200"/>
          </a:xfrm>
          <a:prstGeom prst="rect">
            <a:avLst/>
          </a:prstGeom>
          <a:noFill/>
        </p:spPr>
        <p:txBody>
          <a:bodyPr wrap="square" anchor="t" lIns="36576" rIns="36576" tIns="18288" bIns="18288">
            <a:spAutoFit/>
          </a:bodyPr>
          <a:lstStyle/>
          <a:p>
            <a:pPr algn="l"/>
            <a:r>
              <a:rPr sz="2000" b="0" i="0">
                <a:solidFill>
                  <a:srgbClr val="181824"/>
                </a:solidFill>
                <a:latin typeface="Calibri"/>
              </a:rPr>
              <a:t>☀️ Sol, reflejos y sombras</a:t>
            </a:r>
          </a:p>
        </p:txBody>
      </p:sp>
      <p:sp>
        <p:nvSpPr>
          <p:cNvPr id="27" name="TextBox 26"/>
          <p:cNvSpPr txBox="1"/>
          <p:nvPr/>
        </p:nvSpPr>
        <p:spPr>
          <a:xfrm>
            <a:off x="7955279" y="3383280"/>
            <a:ext cx="3291840" cy="457200"/>
          </a:xfrm>
          <a:prstGeom prst="rect">
            <a:avLst/>
          </a:prstGeom>
          <a:noFill/>
        </p:spPr>
        <p:txBody>
          <a:bodyPr wrap="square" anchor="t" lIns="36576" rIns="36576" tIns="18288" bIns="18288">
            <a:spAutoFit/>
          </a:bodyPr>
          <a:lstStyle/>
          <a:p>
            <a:pPr algn="l"/>
            <a:r>
              <a:rPr sz="1800" b="1" i="0">
                <a:solidFill>
                  <a:srgbClr val="F59E0B"/>
                </a:solidFill>
                <a:latin typeface="Calibri"/>
              </a:rPr>
              <a:t>Confunde a la cámara</a:t>
            </a:r>
          </a:p>
        </p:txBody>
      </p:sp>
      <p:sp>
        <p:nvSpPr>
          <p:cNvPr id="28" name="Rounded Rectangle 27"/>
          <p:cNvSpPr/>
          <p:nvPr/>
        </p:nvSpPr>
        <p:spPr>
          <a:xfrm>
            <a:off x="731520" y="4160520"/>
            <a:ext cx="10698480" cy="868680"/>
          </a:xfrm>
          <a:prstGeom prst="roundRect">
            <a:avLst>
              <a:gd name="adj" fmla="val 3000"/>
            </a:avLst>
          </a:prstGeom>
          <a:solidFill>
            <a:srgbClr val="FFFFFF"/>
          </a:solidFill>
          <a:ln w="19050">
            <a:solidFill>
              <a:srgbClr val="6654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4389120"/>
            <a:ext cx="2834640" cy="457200"/>
          </a:xfrm>
          <a:prstGeom prst="rect">
            <a:avLst/>
          </a:prstGeom>
          <a:noFill/>
        </p:spPr>
        <p:txBody>
          <a:bodyPr wrap="square" anchor="t" lIns="36576" rIns="36576" tIns="18288" bIns="18288">
            <a:spAutoFit/>
          </a:bodyPr>
          <a:lstStyle/>
          <a:p>
            <a:pPr algn="l"/>
            <a:r>
              <a:rPr sz="2000" b="1" i="0">
                <a:solidFill>
                  <a:srgbClr val="181824"/>
                </a:solidFill>
                <a:latin typeface="Calibri"/>
              </a:rPr>
              <a:t>📏 Distancia de 1 m</a:t>
            </a:r>
          </a:p>
        </p:txBody>
      </p:sp>
      <p:sp>
        <p:nvSpPr>
          <p:cNvPr id="30" name="TextBox 29"/>
          <p:cNvSpPr txBox="1"/>
          <p:nvPr/>
        </p:nvSpPr>
        <p:spPr>
          <a:xfrm>
            <a:off x="3931920" y="4389120"/>
            <a:ext cx="3749039" cy="457200"/>
          </a:xfrm>
          <a:prstGeom prst="rect">
            <a:avLst/>
          </a:prstGeom>
          <a:noFill/>
        </p:spPr>
        <p:txBody>
          <a:bodyPr wrap="square" anchor="t" lIns="36576" rIns="36576" tIns="18288" bIns="18288">
            <a:spAutoFit/>
          </a:bodyPr>
          <a:lstStyle/>
          <a:p>
            <a:pPr algn="l"/>
            <a:r>
              <a:rPr sz="2000" b="0" i="0">
                <a:solidFill>
                  <a:srgbClr val="181824"/>
                </a:solidFill>
                <a:latin typeface="Calibri"/>
              </a:rPr>
              <a:t>📐 Público a 3–5 m</a:t>
            </a:r>
          </a:p>
        </p:txBody>
      </p:sp>
      <p:sp>
        <p:nvSpPr>
          <p:cNvPr id="31" name="TextBox 30"/>
          <p:cNvSpPr txBox="1"/>
          <p:nvPr/>
        </p:nvSpPr>
        <p:spPr>
          <a:xfrm>
            <a:off x="7955279" y="4389120"/>
            <a:ext cx="3291840" cy="457200"/>
          </a:xfrm>
          <a:prstGeom prst="rect">
            <a:avLst/>
          </a:prstGeom>
          <a:noFill/>
        </p:spPr>
        <p:txBody>
          <a:bodyPr wrap="square" anchor="t" lIns="36576" rIns="36576" tIns="18288" bIns="18288">
            <a:spAutoFit/>
          </a:bodyPr>
          <a:lstStyle/>
          <a:p>
            <a:pPr algn="l"/>
            <a:r>
              <a:rPr sz="1800" b="1" i="0">
                <a:solidFill>
                  <a:srgbClr val="F59E0B"/>
                </a:solidFill>
                <a:latin typeface="Calibri"/>
              </a:rPr>
              <a:t>La mano se ve 3 a 5× más chica</a:t>
            </a:r>
          </a:p>
        </p:txBody>
      </p:sp>
      <p:sp>
        <p:nvSpPr>
          <p:cNvPr id="32" name="Rounded Rectangle 31"/>
          <p:cNvSpPr/>
          <p:nvPr/>
        </p:nvSpPr>
        <p:spPr>
          <a:xfrm>
            <a:off x="731520" y="5166360"/>
            <a:ext cx="10698480" cy="868680"/>
          </a:xfrm>
          <a:prstGeom prst="roundRect">
            <a:avLst>
              <a:gd name="adj" fmla="val 3000"/>
            </a:avLst>
          </a:prstGeom>
          <a:solidFill>
            <a:srgbClr val="FFFFFF"/>
          </a:solidFill>
          <a:ln w="19050">
            <a:solidFill>
              <a:srgbClr val="6654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394960"/>
            <a:ext cx="2834640" cy="457200"/>
          </a:xfrm>
          <a:prstGeom prst="rect">
            <a:avLst/>
          </a:prstGeom>
          <a:noFill/>
        </p:spPr>
        <p:txBody>
          <a:bodyPr wrap="square" anchor="t" lIns="36576" rIns="36576" tIns="18288" bIns="18288">
            <a:spAutoFit/>
          </a:bodyPr>
          <a:lstStyle/>
          <a:p>
            <a:pPr algn="l"/>
            <a:r>
              <a:rPr sz="2000" b="1" i="0">
                <a:solidFill>
                  <a:srgbClr val="181824"/>
                </a:solidFill>
                <a:latin typeface="Calibri"/>
              </a:rPr>
              <a:t>💻 Laptop con cables</a:t>
            </a:r>
          </a:p>
        </p:txBody>
      </p:sp>
      <p:sp>
        <p:nvSpPr>
          <p:cNvPr id="34" name="TextBox 33"/>
          <p:cNvSpPr txBox="1"/>
          <p:nvPr/>
        </p:nvSpPr>
        <p:spPr>
          <a:xfrm>
            <a:off x="3931920" y="5394960"/>
            <a:ext cx="3749039" cy="457200"/>
          </a:xfrm>
          <a:prstGeom prst="rect">
            <a:avLst/>
          </a:prstGeom>
          <a:noFill/>
        </p:spPr>
        <p:txBody>
          <a:bodyPr wrap="square" anchor="t" lIns="36576" rIns="36576" tIns="18288" bIns="18288">
            <a:spAutoFit/>
          </a:bodyPr>
          <a:lstStyle/>
          <a:p>
            <a:pPr algn="l"/>
            <a:r>
              <a:rPr sz="2000" b="0" i="0">
                <a:solidFill>
                  <a:srgbClr val="181824"/>
                </a:solidFill>
                <a:latin typeface="Calibri"/>
              </a:rPr>
              <a:t>📦 Sistema oculto en el marco</a:t>
            </a:r>
          </a:p>
        </p:txBody>
      </p:sp>
      <p:sp>
        <p:nvSpPr>
          <p:cNvPr id="35" name="TextBox 34"/>
          <p:cNvSpPr txBox="1"/>
          <p:nvPr/>
        </p:nvSpPr>
        <p:spPr>
          <a:xfrm>
            <a:off x="7955279" y="5394960"/>
            <a:ext cx="3291840" cy="457200"/>
          </a:xfrm>
          <a:prstGeom prst="rect">
            <a:avLst/>
          </a:prstGeom>
          <a:noFill/>
        </p:spPr>
        <p:txBody>
          <a:bodyPr wrap="square" anchor="t" lIns="36576" rIns="36576" tIns="18288" bIns="18288">
            <a:spAutoFit/>
          </a:bodyPr>
          <a:lstStyle/>
          <a:p>
            <a:pPr algn="l"/>
            <a:r>
              <a:rPr sz="1800" b="1" i="0">
                <a:solidFill>
                  <a:srgbClr val="F59E0B"/>
                </a:solidFill>
                <a:latin typeface="Calibri"/>
              </a:rPr>
              <a:t>Sin intervención humana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9FC"/>
        </a:solidFill>
        <a:effectLst/>
      </p:bgPr>
    </p:bg>
    <p:spTree>
      <p:nvGrpSpPr>
        <p:cNvPr id="1" name=""/>
        <p:cNvGrpSpPr/>
        <p:nvPr/>
      </p:nvGrpSpPr>
      <p:grpSpPr/>
      <p:sp>
        <p:nvSpPr>
          <p:cNvPr id="2" name="Rounded Rectangle 1"/>
          <p:cNvSpPr/>
          <p:nvPr/>
        </p:nvSpPr>
        <p:spPr>
          <a:xfrm>
            <a:off x="731520" y="292608"/>
            <a:ext cx="1554480" cy="292608"/>
          </a:xfrm>
          <a:prstGeom prst="roundRect">
            <a:avLst>
              <a:gd name="adj" fmla="val 25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554480" cy="292608"/>
          </a:xfrm>
          <a:prstGeom prst="rect">
            <a:avLst/>
          </a:prstGeom>
          <a:noFill/>
        </p:spPr>
        <p:txBody>
          <a:bodyPr wrap="square" anchor="t" lIns="36576" rIns="36576" tIns="18288" bIns="18288">
            <a:spAutoFit/>
          </a:bodyPr>
          <a:lstStyle/>
          <a:p>
            <a:pPr algn="ctr"/>
            <a:r>
              <a:rPr sz="1200" b="0" i="0">
                <a:solidFill>
                  <a:srgbClr val="665480"/>
                </a:solidFill>
                <a:latin typeface="Calibri"/>
              </a:rPr>
              <a:t>PLANTEAMIENTO</a:t>
            </a:r>
          </a:p>
        </p:txBody>
      </p:sp>
      <p:sp>
        <p:nvSpPr>
          <p:cNvPr id="4" name="Rounded Rectangle 3"/>
          <p:cNvSpPr/>
          <p:nvPr/>
        </p:nvSpPr>
        <p:spPr>
          <a:xfrm>
            <a:off x="2395728" y="292608"/>
            <a:ext cx="1554480" cy="292608"/>
          </a:xfrm>
          <a:prstGeom prst="roundRect">
            <a:avLst>
              <a:gd name="adj" fmla="val 25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395728" y="320040"/>
            <a:ext cx="1554480" cy="292608"/>
          </a:xfrm>
          <a:prstGeom prst="rect">
            <a:avLst/>
          </a:prstGeom>
          <a:noFill/>
        </p:spPr>
        <p:txBody>
          <a:bodyPr wrap="square" anchor="t" lIns="36576" rIns="36576" tIns="18288" bIns="18288">
            <a:spAutoFit/>
          </a:bodyPr>
          <a:lstStyle/>
          <a:p>
            <a:pPr algn="ctr"/>
            <a:r>
              <a:rPr sz="1200" b="0" i="0">
                <a:solidFill>
                  <a:srgbClr val="665480"/>
                </a:solidFill>
                <a:latin typeface="Calibri"/>
              </a:rPr>
              <a:t>DISEÑO</a:t>
            </a:r>
          </a:p>
        </p:txBody>
      </p:sp>
      <p:sp>
        <p:nvSpPr>
          <p:cNvPr id="6" name="Rounded Rectangle 5"/>
          <p:cNvSpPr/>
          <p:nvPr/>
        </p:nvSpPr>
        <p:spPr>
          <a:xfrm>
            <a:off x="4059936" y="292608"/>
            <a:ext cx="1554480" cy="292608"/>
          </a:xfrm>
          <a:prstGeom prst="roundRect">
            <a:avLst>
              <a:gd name="adj" fmla="val 25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59936" y="320040"/>
            <a:ext cx="1554480" cy="292608"/>
          </a:xfrm>
          <a:prstGeom prst="rect">
            <a:avLst/>
          </a:prstGeom>
          <a:noFill/>
        </p:spPr>
        <p:txBody>
          <a:bodyPr wrap="square" anchor="t" lIns="36576" rIns="36576" tIns="18288" bIns="18288">
            <a:spAutoFit/>
          </a:bodyPr>
          <a:lstStyle/>
          <a:p>
            <a:pPr algn="ctr"/>
            <a:r>
              <a:rPr sz="1200" b="0" i="0">
                <a:solidFill>
                  <a:srgbClr val="665480"/>
                </a:solidFill>
                <a:latin typeface="Calibri"/>
              </a:rPr>
              <a:t>RESULTADOS</a:t>
            </a:r>
          </a:p>
        </p:txBody>
      </p:sp>
      <p:sp>
        <p:nvSpPr>
          <p:cNvPr id="8" name="Rounded Rectangle 7"/>
          <p:cNvSpPr/>
          <p:nvPr/>
        </p:nvSpPr>
        <p:spPr>
          <a:xfrm>
            <a:off x="5724144" y="292608"/>
            <a:ext cx="1554480" cy="292608"/>
          </a:xfrm>
          <a:prstGeom prst="roundRect">
            <a:avLst>
              <a:gd name="adj" fmla="val 25000"/>
            </a:avLst>
          </a:prstGeom>
          <a:solidFill>
            <a:srgbClr val="FDE8F5"/>
          </a:solidFill>
          <a:ln w="19050">
            <a:solidFill>
              <a:srgbClr val="E02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24144" y="320040"/>
            <a:ext cx="1554480" cy="292608"/>
          </a:xfrm>
          <a:prstGeom prst="rect">
            <a:avLst/>
          </a:prstGeom>
          <a:noFill/>
        </p:spPr>
        <p:txBody>
          <a:bodyPr wrap="square" anchor="t" lIns="36576" rIns="36576" tIns="18288" bIns="18288">
            <a:spAutoFit/>
          </a:bodyPr>
          <a:lstStyle/>
          <a:p>
            <a:pPr algn="ctr"/>
            <a:r>
              <a:rPr sz="1200" b="1" i="0">
                <a:solidFill>
                  <a:srgbClr val="C026D3"/>
                </a:solidFill>
                <a:latin typeface="Calibri"/>
              </a:rPr>
              <a:t>BRECHA</a:t>
            </a:r>
          </a:p>
        </p:txBody>
      </p:sp>
      <p:sp>
        <p:nvSpPr>
          <p:cNvPr id="10" name="Rounded Rectangle 9"/>
          <p:cNvSpPr/>
          <p:nvPr/>
        </p:nvSpPr>
        <p:spPr>
          <a:xfrm>
            <a:off x="7388352" y="292608"/>
            <a:ext cx="1554480" cy="292608"/>
          </a:xfrm>
          <a:prstGeom prst="roundRect">
            <a:avLst>
              <a:gd name="adj" fmla="val 25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88352" y="320040"/>
            <a:ext cx="1554480" cy="292608"/>
          </a:xfrm>
          <a:prstGeom prst="rect">
            <a:avLst/>
          </a:prstGeom>
          <a:noFill/>
        </p:spPr>
        <p:txBody>
          <a:bodyPr wrap="square" anchor="t" lIns="36576" rIns="36576" tIns="18288" bIns="18288">
            <a:spAutoFit/>
          </a:bodyPr>
          <a:lstStyle/>
          <a:p>
            <a:pPr algn="ctr"/>
            <a:r>
              <a:rPr sz="1200" b="0" i="0">
                <a:solidFill>
                  <a:srgbClr val="665480"/>
                </a:solidFill>
                <a:latin typeface="Calibri"/>
              </a:rPr>
              <a:t>SIGUIENTES</a:t>
            </a:r>
          </a:p>
        </p:txBody>
      </p:sp>
      <p:sp>
        <p:nvSpPr>
          <p:cNvPr id="12" name="TextBox 11"/>
          <p:cNvSpPr txBox="1"/>
          <p:nvPr/>
        </p:nvSpPr>
        <p:spPr>
          <a:xfrm>
            <a:off x="10972800" y="6446520"/>
            <a:ext cx="731520" cy="274320"/>
          </a:xfrm>
          <a:prstGeom prst="rect">
            <a:avLst/>
          </a:prstGeom>
          <a:noFill/>
        </p:spPr>
        <p:txBody>
          <a:bodyPr wrap="square" anchor="t" lIns="36576" rIns="36576" tIns="18288" bIns="18288">
            <a:spAutoFit/>
          </a:bodyPr>
          <a:lstStyle/>
          <a:p>
            <a:pPr algn="r"/>
            <a:r>
              <a:rPr sz="1300" b="0" i="0">
                <a:solidFill>
                  <a:srgbClr val="665480"/>
                </a:solidFill>
                <a:latin typeface="Calibri"/>
              </a:rPr>
              <a:t>9/10</a:t>
            </a:r>
          </a:p>
        </p:txBody>
      </p:sp>
      <p:sp>
        <p:nvSpPr>
          <p:cNvPr id="13" name="TextBox 12"/>
          <p:cNvSpPr txBox="1"/>
          <p:nvPr/>
        </p:nvSpPr>
        <p:spPr>
          <a:xfrm>
            <a:off x="731520" y="685800"/>
            <a:ext cx="10698480" cy="777240"/>
          </a:xfrm>
          <a:prstGeom prst="rect">
            <a:avLst/>
          </a:prstGeom>
          <a:noFill/>
        </p:spPr>
        <p:txBody>
          <a:bodyPr wrap="square" anchor="t" lIns="36576" rIns="36576" tIns="18288" bIns="18288">
            <a:spAutoFit/>
          </a:bodyPr>
          <a:lstStyle/>
          <a:p>
            <a:pPr algn="l"/>
            <a:r>
              <a:rPr sz="4000" b="1" i="0">
                <a:solidFill>
                  <a:srgbClr val="181824"/>
                </a:solidFill>
                <a:latin typeface="Calibri"/>
              </a:rPr>
              <a:t>10 minutos vs 12 horas</a:t>
            </a:r>
          </a:p>
        </p:txBody>
      </p:sp>
      <p:sp>
        <p:nvSpPr>
          <p:cNvPr id="14" name="Rounded Rectangle 13"/>
          <p:cNvSpPr/>
          <p:nvPr/>
        </p:nvSpPr>
        <p:spPr>
          <a:xfrm>
            <a:off x="731520" y="1600200"/>
            <a:ext cx="10698480" cy="822960"/>
          </a:xfrm>
          <a:prstGeom prst="roundRect">
            <a:avLst>
              <a:gd name="adj" fmla="val 3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1645920"/>
            <a:ext cx="2926080" cy="685800"/>
          </a:xfrm>
          <a:prstGeom prst="rect">
            <a:avLst/>
          </a:prstGeom>
          <a:noFill/>
        </p:spPr>
        <p:txBody>
          <a:bodyPr wrap="square" anchor="t" lIns="36576" rIns="36576" tIns="18288" bIns="18288">
            <a:spAutoFit/>
          </a:bodyPr>
          <a:lstStyle/>
          <a:p>
            <a:pPr algn="l"/>
            <a:r>
              <a:rPr sz="6200" b="1" i="0">
                <a:solidFill>
                  <a:srgbClr val="F59E0B"/>
                </a:solidFill>
                <a:latin typeface="Calibri"/>
              </a:rPr>
              <a:t>50–70×</a:t>
            </a:r>
          </a:p>
        </p:txBody>
      </p:sp>
      <p:sp>
        <p:nvSpPr>
          <p:cNvPr id="16" name="TextBox 15"/>
          <p:cNvSpPr txBox="1"/>
          <p:nvPr/>
        </p:nvSpPr>
        <p:spPr>
          <a:xfrm>
            <a:off x="4114800" y="1783080"/>
            <a:ext cx="6858000" cy="502920"/>
          </a:xfrm>
          <a:prstGeom prst="rect">
            <a:avLst/>
          </a:prstGeom>
          <a:noFill/>
        </p:spPr>
        <p:txBody>
          <a:bodyPr wrap="square" anchor="t" lIns="36576" rIns="36576" tIns="18288" bIns="18288">
            <a:spAutoFit/>
          </a:bodyPr>
          <a:lstStyle/>
          <a:p>
            <a:pPr algn="l"/>
            <a:r>
              <a:rPr sz="2000" b="1" i="0">
                <a:solidFill>
                  <a:srgbClr val="181824"/>
                </a:solidFill>
                <a:latin typeface="Calibri"/>
              </a:rPr>
              <a:t>más tiempo de operación diaria en un museo frente a nuestras pruebas</a:t>
            </a:r>
          </a:p>
        </p:txBody>
      </p:sp>
      <p:sp>
        <p:nvSpPr>
          <p:cNvPr id="17" name="Rounded Rectangle 16"/>
          <p:cNvSpPr/>
          <p:nvPr/>
        </p:nvSpPr>
        <p:spPr>
          <a:xfrm>
            <a:off x="731520" y="2542032"/>
            <a:ext cx="10698480" cy="640080"/>
          </a:xfrm>
          <a:prstGeom prst="roundRect">
            <a:avLst>
              <a:gd name="adj" fmla="val 3000"/>
            </a:avLst>
          </a:prstGeom>
          <a:solidFill>
            <a:srgbClr val="FFFFFF"/>
          </a:solidFill>
          <a:ln w="19050">
            <a:solidFill>
              <a:srgbClr val="6654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2679192"/>
            <a:ext cx="2560320" cy="365760"/>
          </a:xfrm>
          <a:prstGeom prst="rect">
            <a:avLst/>
          </a:prstGeom>
          <a:noFill/>
        </p:spPr>
        <p:txBody>
          <a:bodyPr wrap="square" anchor="t" lIns="36576" rIns="36576" tIns="18288" bIns="18288">
            <a:spAutoFit/>
          </a:bodyPr>
          <a:lstStyle/>
          <a:p>
            <a:pPr algn="l"/>
            <a:r>
              <a:rPr sz="1800" b="1" i="0">
                <a:solidFill>
                  <a:srgbClr val="181824"/>
                </a:solidFill>
                <a:latin typeface="Calibri"/>
              </a:rPr>
              <a:t>Pruebas de 10 min</a:t>
            </a:r>
          </a:p>
        </p:txBody>
      </p:sp>
      <p:sp>
        <p:nvSpPr>
          <p:cNvPr id="19" name="TextBox 18"/>
          <p:cNvSpPr txBox="1"/>
          <p:nvPr/>
        </p:nvSpPr>
        <p:spPr>
          <a:xfrm>
            <a:off x="3657600" y="2679192"/>
            <a:ext cx="3840480" cy="365760"/>
          </a:xfrm>
          <a:prstGeom prst="rect">
            <a:avLst/>
          </a:prstGeom>
          <a:noFill/>
        </p:spPr>
        <p:txBody>
          <a:bodyPr wrap="square" anchor="t" lIns="36576" rIns="36576" tIns="18288" bIns="18288">
            <a:spAutoFit/>
          </a:bodyPr>
          <a:lstStyle/>
          <a:p>
            <a:pPr algn="l"/>
            <a:r>
              <a:rPr sz="1800" b="0" i="0">
                <a:solidFill>
                  <a:srgbClr val="181824"/>
                </a:solidFill>
                <a:latin typeface="Calibri"/>
              </a:rPr>
              <a:t>8 a 12 h cada día</a:t>
            </a:r>
          </a:p>
        </p:txBody>
      </p:sp>
      <p:sp>
        <p:nvSpPr>
          <p:cNvPr id="20" name="TextBox 19"/>
          <p:cNvSpPr txBox="1"/>
          <p:nvPr/>
        </p:nvSpPr>
        <p:spPr>
          <a:xfrm>
            <a:off x="7680960" y="2679192"/>
            <a:ext cx="3566160" cy="365760"/>
          </a:xfrm>
          <a:prstGeom prst="rect">
            <a:avLst/>
          </a:prstGeom>
          <a:noFill/>
        </p:spPr>
        <p:txBody>
          <a:bodyPr wrap="square" anchor="t" lIns="36576" rIns="36576" tIns="18288" bIns="18288">
            <a:spAutoFit/>
          </a:bodyPr>
          <a:lstStyle/>
          <a:p>
            <a:pPr algn="l"/>
            <a:r>
              <a:rPr sz="1600" b="1" i="0">
                <a:solidFill>
                  <a:srgbClr val="F43F5E"/>
                </a:solidFill>
                <a:latin typeface="Calibri"/>
              </a:rPr>
              <a:t>Calor acumulado</a:t>
            </a:r>
          </a:p>
        </p:txBody>
      </p:sp>
      <p:sp>
        <p:nvSpPr>
          <p:cNvPr id="21" name="Rounded Rectangle 20"/>
          <p:cNvSpPr/>
          <p:nvPr/>
        </p:nvSpPr>
        <p:spPr>
          <a:xfrm>
            <a:off x="731520" y="3255263"/>
            <a:ext cx="10698480" cy="640080"/>
          </a:xfrm>
          <a:prstGeom prst="roundRect">
            <a:avLst>
              <a:gd name="adj" fmla="val 3000"/>
            </a:avLst>
          </a:prstGeom>
          <a:solidFill>
            <a:srgbClr val="FFFFFF"/>
          </a:solidFill>
          <a:ln w="19050">
            <a:solidFill>
              <a:srgbClr val="6654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3392423"/>
            <a:ext cx="2560320" cy="365760"/>
          </a:xfrm>
          <a:prstGeom prst="rect">
            <a:avLst/>
          </a:prstGeom>
          <a:noFill/>
        </p:spPr>
        <p:txBody>
          <a:bodyPr wrap="square" anchor="t" lIns="36576" rIns="36576" tIns="18288" bIns="18288">
            <a:spAutoFit/>
          </a:bodyPr>
          <a:lstStyle/>
          <a:p>
            <a:pPr algn="l"/>
            <a:r>
              <a:rPr sz="1800" b="1" i="0">
                <a:solidFill>
                  <a:srgbClr val="181824"/>
                </a:solidFill>
                <a:latin typeface="Calibri"/>
              </a:rPr>
              <a:t>Nadie la toca</a:t>
            </a:r>
          </a:p>
        </p:txBody>
      </p:sp>
      <p:sp>
        <p:nvSpPr>
          <p:cNvPr id="23" name="TextBox 22"/>
          <p:cNvSpPr txBox="1"/>
          <p:nvPr/>
        </p:nvSpPr>
        <p:spPr>
          <a:xfrm>
            <a:off x="3657600" y="3392423"/>
            <a:ext cx="3840480" cy="365760"/>
          </a:xfrm>
          <a:prstGeom prst="rect">
            <a:avLst/>
          </a:prstGeom>
          <a:noFill/>
        </p:spPr>
        <p:txBody>
          <a:bodyPr wrap="square" anchor="t" lIns="36576" rIns="36576" tIns="18288" bIns="18288">
            <a:spAutoFit/>
          </a:bodyPr>
          <a:lstStyle/>
          <a:p>
            <a:pPr algn="l"/>
            <a:r>
              <a:rPr sz="1800" b="0" i="0">
                <a:solidFill>
                  <a:srgbClr val="181824"/>
                </a:solidFill>
                <a:latin typeface="Calibri"/>
              </a:rPr>
              <a:t>Niños sujetando pétalos</a:t>
            </a:r>
          </a:p>
        </p:txBody>
      </p:sp>
      <p:sp>
        <p:nvSpPr>
          <p:cNvPr id="24" name="TextBox 23"/>
          <p:cNvSpPr txBox="1"/>
          <p:nvPr/>
        </p:nvSpPr>
        <p:spPr>
          <a:xfrm>
            <a:off x="7680960" y="3392423"/>
            <a:ext cx="3566160" cy="365760"/>
          </a:xfrm>
          <a:prstGeom prst="rect">
            <a:avLst/>
          </a:prstGeom>
          <a:noFill/>
        </p:spPr>
        <p:txBody>
          <a:bodyPr wrap="square" anchor="t" lIns="36576" rIns="36576" tIns="18288" bIns="18288">
            <a:spAutoFit/>
          </a:bodyPr>
          <a:lstStyle/>
          <a:p>
            <a:pPr algn="l"/>
            <a:r>
              <a:rPr sz="1600" b="1" i="0">
                <a:solidFill>
                  <a:srgbClr val="F43F5E"/>
                </a:solidFill>
                <a:latin typeface="Calibri"/>
              </a:rPr>
              <a:t>Es nuestro ensayo de atasco: 0.9 A y 4.6 W de calor por motor</a:t>
            </a:r>
          </a:p>
        </p:txBody>
      </p:sp>
      <p:sp>
        <p:nvSpPr>
          <p:cNvPr id="25" name="Rounded Rectangle 24"/>
          <p:cNvSpPr/>
          <p:nvPr/>
        </p:nvSpPr>
        <p:spPr>
          <a:xfrm>
            <a:off x="731520" y="3968496"/>
            <a:ext cx="10698480" cy="640080"/>
          </a:xfrm>
          <a:prstGeom prst="roundRect">
            <a:avLst>
              <a:gd name="adj" fmla="val 3000"/>
            </a:avLst>
          </a:prstGeom>
          <a:solidFill>
            <a:srgbClr val="FFFFFF"/>
          </a:solidFill>
          <a:ln w="19050">
            <a:solidFill>
              <a:srgbClr val="6654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105656"/>
            <a:ext cx="2560320" cy="365760"/>
          </a:xfrm>
          <a:prstGeom prst="rect">
            <a:avLst/>
          </a:prstGeom>
          <a:noFill/>
        </p:spPr>
        <p:txBody>
          <a:bodyPr wrap="square" anchor="t" lIns="36576" rIns="36576" tIns="18288" bIns="18288">
            <a:spAutoFit/>
          </a:bodyPr>
          <a:lstStyle/>
          <a:p>
            <a:pPr algn="l"/>
            <a:r>
              <a:rPr sz="1800" b="1" i="0">
                <a:solidFill>
                  <a:srgbClr val="181824"/>
                </a:solidFill>
                <a:latin typeface="Calibri"/>
              </a:rPr>
              <a:t>1 módulo en banco</a:t>
            </a:r>
          </a:p>
        </p:txBody>
      </p:sp>
      <p:sp>
        <p:nvSpPr>
          <p:cNvPr id="27" name="TextBox 26"/>
          <p:cNvSpPr txBox="1"/>
          <p:nvPr/>
        </p:nvSpPr>
        <p:spPr>
          <a:xfrm>
            <a:off x="3657600" y="4105656"/>
            <a:ext cx="3840480" cy="365760"/>
          </a:xfrm>
          <a:prstGeom prst="rect">
            <a:avLst/>
          </a:prstGeom>
          <a:noFill/>
        </p:spPr>
        <p:txBody>
          <a:bodyPr wrap="square" anchor="t" lIns="36576" rIns="36576" tIns="18288" bIns="18288">
            <a:spAutoFit/>
          </a:bodyPr>
          <a:lstStyle/>
          <a:p>
            <a:pPr algn="l"/>
            <a:r>
              <a:rPr sz="1800" b="0" i="0">
                <a:solidFill>
                  <a:srgbClr val="181824"/>
                </a:solidFill>
                <a:latin typeface="Calibri"/>
              </a:rPr>
              <a:t>32 motores: ~23 A al arrancar juntos</a:t>
            </a:r>
          </a:p>
        </p:txBody>
      </p:sp>
      <p:sp>
        <p:nvSpPr>
          <p:cNvPr id="28" name="TextBox 27"/>
          <p:cNvSpPr txBox="1"/>
          <p:nvPr/>
        </p:nvSpPr>
        <p:spPr>
          <a:xfrm>
            <a:off x="7680960" y="4105656"/>
            <a:ext cx="3566160" cy="365760"/>
          </a:xfrm>
          <a:prstGeom prst="rect">
            <a:avLst/>
          </a:prstGeom>
          <a:noFill/>
        </p:spPr>
        <p:txBody>
          <a:bodyPr wrap="square" anchor="t" lIns="36576" rIns="36576" tIns="18288" bIns="18288">
            <a:spAutoFit/>
          </a:bodyPr>
          <a:lstStyle/>
          <a:p>
            <a:pPr algn="l"/>
            <a:r>
              <a:rPr sz="1600" b="1" i="0">
                <a:solidFill>
                  <a:srgbClr val="F43F5E"/>
                </a:solidFill>
                <a:latin typeface="Calibri"/>
              </a:rPr>
              <a:t>Fuente 5 V y 25 A</a:t>
            </a:r>
          </a:p>
        </p:txBody>
      </p:sp>
      <p:sp>
        <p:nvSpPr>
          <p:cNvPr id="29" name="Rounded Rectangle 28"/>
          <p:cNvSpPr/>
          <p:nvPr/>
        </p:nvSpPr>
        <p:spPr>
          <a:xfrm>
            <a:off x="731520" y="4681727"/>
            <a:ext cx="10698480" cy="640080"/>
          </a:xfrm>
          <a:prstGeom prst="roundRect">
            <a:avLst>
              <a:gd name="adj" fmla="val 3000"/>
            </a:avLst>
          </a:prstGeom>
          <a:solidFill>
            <a:srgbClr val="FFFFFF"/>
          </a:solidFill>
          <a:ln w="19050">
            <a:solidFill>
              <a:srgbClr val="6654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818887"/>
            <a:ext cx="2560320" cy="365760"/>
          </a:xfrm>
          <a:prstGeom prst="rect">
            <a:avLst/>
          </a:prstGeom>
          <a:noFill/>
        </p:spPr>
        <p:txBody>
          <a:bodyPr wrap="square" anchor="t" lIns="36576" rIns="36576" tIns="18288" bIns="18288">
            <a:spAutoFit/>
          </a:bodyPr>
          <a:lstStyle/>
          <a:p>
            <a:pPr algn="l"/>
            <a:r>
              <a:rPr sz="1800" b="1" i="0">
                <a:solidFill>
                  <a:srgbClr val="181824"/>
                </a:solidFill>
                <a:latin typeface="Calibri"/>
              </a:rPr>
              <a:t>Reinicia un ingeniero</a:t>
            </a:r>
          </a:p>
        </p:txBody>
      </p:sp>
      <p:sp>
        <p:nvSpPr>
          <p:cNvPr id="31" name="TextBox 30"/>
          <p:cNvSpPr txBox="1"/>
          <p:nvPr/>
        </p:nvSpPr>
        <p:spPr>
          <a:xfrm>
            <a:off x="3657600" y="4818887"/>
            <a:ext cx="3840480" cy="365760"/>
          </a:xfrm>
          <a:prstGeom prst="rect">
            <a:avLst/>
          </a:prstGeom>
          <a:noFill/>
        </p:spPr>
        <p:txBody>
          <a:bodyPr wrap="square" anchor="t" lIns="36576" rIns="36576" tIns="18288" bIns="18288">
            <a:spAutoFit/>
          </a:bodyPr>
          <a:lstStyle/>
          <a:p>
            <a:pPr algn="l"/>
            <a:r>
              <a:rPr sz="1800" b="0" i="0">
                <a:solidFill>
                  <a:srgbClr val="181824"/>
                </a:solidFill>
                <a:latin typeface="Calibri"/>
              </a:rPr>
              <a:t>Se auto-recupera</a:t>
            </a:r>
          </a:p>
        </p:txBody>
      </p:sp>
      <p:sp>
        <p:nvSpPr>
          <p:cNvPr id="32" name="TextBox 31"/>
          <p:cNvSpPr txBox="1"/>
          <p:nvPr/>
        </p:nvSpPr>
        <p:spPr>
          <a:xfrm>
            <a:off x="7680960" y="4818887"/>
            <a:ext cx="3566160" cy="365760"/>
          </a:xfrm>
          <a:prstGeom prst="rect">
            <a:avLst/>
          </a:prstGeom>
          <a:noFill/>
        </p:spPr>
        <p:txBody>
          <a:bodyPr wrap="square" anchor="t" lIns="36576" rIns="36576" tIns="18288" bIns="18288">
            <a:spAutoFit/>
          </a:bodyPr>
          <a:lstStyle/>
          <a:p>
            <a:pPr algn="l"/>
            <a:r>
              <a:rPr sz="1600" b="1" i="0">
                <a:solidFill>
                  <a:srgbClr val="F43F5E"/>
                </a:solidFill>
                <a:latin typeface="Calibri"/>
              </a:rPr>
              <a:t>Un panel falla, la pared sigue</a:t>
            </a:r>
          </a:p>
        </p:txBody>
      </p:sp>
      <p:sp>
        <p:nvSpPr>
          <p:cNvPr id="33" name="Rounded Rectangle 32"/>
          <p:cNvSpPr/>
          <p:nvPr/>
        </p:nvSpPr>
        <p:spPr>
          <a:xfrm>
            <a:off x="731520" y="5486400"/>
            <a:ext cx="10058400" cy="777240"/>
          </a:xfrm>
          <a:prstGeom prst="roundRect">
            <a:avLst>
              <a:gd name="adj" fmla="val 3000"/>
            </a:avLst>
          </a:prstGeom>
          <a:solidFill>
            <a:srgbClr val="FDE8F5"/>
          </a:solidFill>
          <a:ln w="19050">
            <a:solidFill>
              <a:srgbClr val="E02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5559552"/>
            <a:ext cx="9692640" cy="640080"/>
          </a:xfrm>
          <a:prstGeom prst="rect">
            <a:avLst/>
          </a:prstGeom>
          <a:noFill/>
        </p:spPr>
        <p:txBody>
          <a:bodyPr wrap="square" anchor="t" lIns="36576" rIns="36576" tIns="18288" bIns="18288">
            <a:spAutoFit/>
          </a:bodyPr>
          <a:lstStyle/>
          <a:p>
            <a:pPr algn="ctr"/>
            <a:r>
              <a:rPr sz="1500" b="1" i="0">
                <a:solidFill>
                  <a:srgbClr val="C026D3"/>
                </a:solidFill>
                <a:latin typeface="Calibri"/>
              </a:rPr>
              <a:t>Aun sin público, los pétalos vecinos se rozan por tolerancias de impresión (±0.4 mm).
Falta un acople mecánico que ceda sin romper engranes ni lastimar dedos.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016"/>
        </a:solidFill>
        <a:effectLst/>
      </p:bgPr>
    </p:bg>
    <p:spTree>
      <p:nvGrpSpPr>
        <p:cNvPr id="1" name=""/>
        <p:cNvGrpSpPr/>
        <p:nvPr/>
      </p:nvGrpSpPr>
      <p:grpSpPr/>
      <p:sp>
        <p:nvSpPr>
          <p:cNvPr id="2" name="Rounded Rectangle 1"/>
          <p:cNvSpPr/>
          <p:nvPr/>
        </p:nvSpPr>
        <p:spPr>
          <a:xfrm>
            <a:off x="731520" y="292608"/>
            <a:ext cx="1554480" cy="292608"/>
          </a:xfrm>
          <a:prstGeom prst="roundRect">
            <a:avLst>
              <a:gd name="adj" fmla="val 25000"/>
            </a:avLst>
          </a:prstGeom>
          <a:solidFill>
            <a:srgbClr val="1718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554480" cy="292608"/>
          </a:xfrm>
          <a:prstGeom prst="rect">
            <a:avLst/>
          </a:prstGeom>
          <a:noFill/>
        </p:spPr>
        <p:txBody>
          <a:bodyPr wrap="square" anchor="t" lIns="36576" rIns="36576" tIns="18288" bIns="18288">
            <a:spAutoFit/>
          </a:bodyPr>
          <a:lstStyle/>
          <a:p>
            <a:pPr algn="ctr"/>
            <a:r>
              <a:rPr sz="1200" b="0" i="0">
                <a:solidFill>
                  <a:srgbClr val="C4B5FD"/>
                </a:solidFill>
                <a:latin typeface="Calibri"/>
              </a:rPr>
              <a:t>PLANTEAMIENTO</a:t>
            </a:r>
          </a:p>
        </p:txBody>
      </p:sp>
      <p:sp>
        <p:nvSpPr>
          <p:cNvPr id="4" name="Rounded Rectangle 3"/>
          <p:cNvSpPr/>
          <p:nvPr/>
        </p:nvSpPr>
        <p:spPr>
          <a:xfrm>
            <a:off x="2395728" y="292608"/>
            <a:ext cx="1554480" cy="292608"/>
          </a:xfrm>
          <a:prstGeom prst="roundRect">
            <a:avLst>
              <a:gd name="adj" fmla="val 25000"/>
            </a:avLst>
          </a:prstGeom>
          <a:solidFill>
            <a:srgbClr val="1718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395728" y="320040"/>
            <a:ext cx="1554480" cy="292608"/>
          </a:xfrm>
          <a:prstGeom prst="rect">
            <a:avLst/>
          </a:prstGeom>
          <a:noFill/>
        </p:spPr>
        <p:txBody>
          <a:bodyPr wrap="square" anchor="t" lIns="36576" rIns="36576" tIns="18288" bIns="18288">
            <a:spAutoFit/>
          </a:bodyPr>
          <a:lstStyle/>
          <a:p>
            <a:pPr algn="ctr"/>
            <a:r>
              <a:rPr sz="1200" b="0" i="0">
                <a:solidFill>
                  <a:srgbClr val="C4B5FD"/>
                </a:solidFill>
                <a:latin typeface="Calibri"/>
              </a:rPr>
              <a:t>DISEÑO</a:t>
            </a:r>
          </a:p>
        </p:txBody>
      </p:sp>
      <p:sp>
        <p:nvSpPr>
          <p:cNvPr id="6" name="Rounded Rectangle 5"/>
          <p:cNvSpPr/>
          <p:nvPr/>
        </p:nvSpPr>
        <p:spPr>
          <a:xfrm>
            <a:off x="4059936" y="292608"/>
            <a:ext cx="1554480" cy="292608"/>
          </a:xfrm>
          <a:prstGeom prst="roundRect">
            <a:avLst>
              <a:gd name="adj" fmla="val 25000"/>
            </a:avLst>
          </a:prstGeom>
          <a:solidFill>
            <a:srgbClr val="1718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59936" y="320040"/>
            <a:ext cx="1554480" cy="292608"/>
          </a:xfrm>
          <a:prstGeom prst="rect">
            <a:avLst/>
          </a:prstGeom>
          <a:noFill/>
        </p:spPr>
        <p:txBody>
          <a:bodyPr wrap="square" anchor="t" lIns="36576" rIns="36576" tIns="18288" bIns="18288">
            <a:spAutoFit/>
          </a:bodyPr>
          <a:lstStyle/>
          <a:p>
            <a:pPr algn="ctr"/>
            <a:r>
              <a:rPr sz="1200" b="0" i="0">
                <a:solidFill>
                  <a:srgbClr val="C4B5FD"/>
                </a:solidFill>
                <a:latin typeface="Calibri"/>
              </a:rPr>
              <a:t>RESULTADOS</a:t>
            </a:r>
          </a:p>
        </p:txBody>
      </p:sp>
      <p:sp>
        <p:nvSpPr>
          <p:cNvPr id="8" name="Rounded Rectangle 7"/>
          <p:cNvSpPr/>
          <p:nvPr/>
        </p:nvSpPr>
        <p:spPr>
          <a:xfrm>
            <a:off x="5724144" y="292608"/>
            <a:ext cx="1554480" cy="292608"/>
          </a:xfrm>
          <a:prstGeom prst="roundRect">
            <a:avLst>
              <a:gd name="adj" fmla="val 25000"/>
            </a:avLst>
          </a:prstGeom>
          <a:solidFill>
            <a:srgbClr val="1718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24144" y="320040"/>
            <a:ext cx="1554480" cy="292608"/>
          </a:xfrm>
          <a:prstGeom prst="rect">
            <a:avLst/>
          </a:prstGeom>
          <a:noFill/>
        </p:spPr>
        <p:txBody>
          <a:bodyPr wrap="square" anchor="t" lIns="36576" rIns="36576" tIns="18288" bIns="18288">
            <a:spAutoFit/>
          </a:bodyPr>
          <a:lstStyle/>
          <a:p>
            <a:pPr algn="ctr"/>
            <a:r>
              <a:rPr sz="1200" b="0" i="0">
                <a:solidFill>
                  <a:srgbClr val="C4B5FD"/>
                </a:solidFill>
                <a:latin typeface="Calibri"/>
              </a:rPr>
              <a:t>BRECHA</a:t>
            </a:r>
          </a:p>
        </p:txBody>
      </p:sp>
      <p:sp>
        <p:nvSpPr>
          <p:cNvPr id="10" name="Rounded Rectangle 9"/>
          <p:cNvSpPr/>
          <p:nvPr/>
        </p:nvSpPr>
        <p:spPr>
          <a:xfrm>
            <a:off x="7388352" y="292608"/>
            <a:ext cx="1554480" cy="292608"/>
          </a:xfrm>
          <a:prstGeom prst="roundRect">
            <a:avLst>
              <a:gd name="adj" fmla="val 25000"/>
            </a:avLst>
          </a:prstGeom>
          <a:solidFill>
            <a:srgbClr val="E024A5"/>
          </a:solidFill>
          <a:ln w="19050">
            <a:solidFill>
              <a:srgbClr val="E02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88352" y="320040"/>
            <a:ext cx="1554480" cy="292608"/>
          </a:xfrm>
          <a:prstGeom prst="rect">
            <a:avLst/>
          </a:prstGeom>
          <a:noFill/>
        </p:spPr>
        <p:txBody>
          <a:bodyPr wrap="square" anchor="t" lIns="36576" rIns="36576" tIns="18288" bIns="18288">
            <a:spAutoFit/>
          </a:bodyPr>
          <a:lstStyle/>
          <a:p>
            <a:pPr algn="ctr"/>
            <a:r>
              <a:rPr sz="1200" b="1" i="0">
                <a:solidFill>
                  <a:srgbClr val="FFFFFF"/>
                </a:solidFill>
                <a:latin typeface="Calibri"/>
              </a:rPr>
              <a:t>SIGUIENTES</a:t>
            </a:r>
          </a:p>
        </p:txBody>
      </p:sp>
      <p:sp>
        <p:nvSpPr>
          <p:cNvPr id="12" name="TextBox 11"/>
          <p:cNvSpPr txBox="1"/>
          <p:nvPr/>
        </p:nvSpPr>
        <p:spPr>
          <a:xfrm>
            <a:off x="10972800" y="6446520"/>
            <a:ext cx="731520" cy="274320"/>
          </a:xfrm>
          <a:prstGeom prst="rect">
            <a:avLst/>
          </a:prstGeom>
          <a:noFill/>
        </p:spPr>
        <p:txBody>
          <a:bodyPr wrap="square" anchor="t" lIns="36576" rIns="36576" tIns="18288" bIns="18288">
            <a:spAutoFit/>
          </a:bodyPr>
          <a:lstStyle/>
          <a:p>
            <a:pPr algn="r"/>
            <a:r>
              <a:rPr sz="1300" b="0" i="0">
                <a:solidFill>
                  <a:srgbClr val="C4B5FD"/>
                </a:solidFill>
                <a:latin typeface="Calibri"/>
              </a:rPr>
              <a:t>10/10</a:t>
            </a:r>
          </a:p>
        </p:txBody>
      </p:sp>
      <p:sp>
        <p:nvSpPr>
          <p:cNvPr id="13" name="TextBox 12"/>
          <p:cNvSpPr txBox="1"/>
          <p:nvPr/>
        </p:nvSpPr>
        <p:spPr>
          <a:xfrm>
            <a:off x="731520" y="685800"/>
            <a:ext cx="10698480" cy="777240"/>
          </a:xfrm>
          <a:prstGeom prst="rect">
            <a:avLst/>
          </a:prstGeom>
          <a:noFill/>
        </p:spPr>
        <p:txBody>
          <a:bodyPr wrap="square" anchor="t" lIns="36576" rIns="36576" tIns="18288" bIns="18288">
            <a:spAutoFit/>
          </a:bodyPr>
          <a:lstStyle/>
          <a:p>
            <a:pPr algn="l"/>
            <a:r>
              <a:rPr sz="4000" b="1" i="0">
                <a:solidFill>
                  <a:srgbClr val="FFFFFF"/>
                </a:solidFill>
                <a:latin typeface="Calibri"/>
              </a:rPr>
              <a:t>De prototipo a pared completa</a:t>
            </a:r>
          </a:p>
        </p:txBody>
      </p:sp>
      <p:sp>
        <p:nvSpPr>
          <p:cNvPr id="14" name="Rounded Rectangle 13"/>
          <p:cNvSpPr/>
          <p:nvPr/>
        </p:nvSpPr>
        <p:spPr>
          <a:xfrm>
            <a:off x="731520" y="1645920"/>
            <a:ext cx="5212080" cy="3017520"/>
          </a:xfrm>
          <a:prstGeom prst="roundRect">
            <a:avLst>
              <a:gd name="adj" fmla="val 3000"/>
            </a:avLst>
          </a:prstGeom>
          <a:solidFill>
            <a:srgbClr val="171824"/>
          </a:solidFill>
          <a:ln w="19050">
            <a:solidFill>
              <a:srgbClr val="E02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1783080"/>
            <a:ext cx="4754880" cy="365760"/>
          </a:xfrm>
          <a:prstGeom prst="rect">
            <a:avLst/>
          </a:prstGeom>
          <a:noFill/>
        </p:spPr>
        <p:txBody>
          <a:bodyPr wrap="square" anchor="t" lIns="36576" rIns="36576" tIns="18288" bIns="18288">
            <a:spAutoFit/>
          </a:bodyPr>
          <a:lstStyle/>
          <a:p>
            <a:pPr algn="l"/>
            <a:r>
              <a:rPr sz="2400" b="1" i="0">
                <a:solidFill>
                  <a:srgbClr val="E024A5"/>
                </a:solidFill>
                <a:latin typeface="Calibri"/>
              </a:rPr>
              <a:t>Atendimos del Corte 1</a:t>
            </a:r>
          </a:p>
        </p:txBody>
      </p:sp>
      <p:sp>
        <p:nvSpPr>
          <p:cNvPr id="16" name="TextBox 15"/>
          <p:cNvSpPr txBox="1"/>
          <p:nvPr/>
        </p:nvSpPr>
        <p:spPr>
          <a:xfrm>
            <a:off x="960120" y="2331720"/>
            <a:ext cx="4754880" cy="548640"/>
          </a:xfrm>
          <a:prstGeom prst="rect">
            <a:avLst/>
          </a:prstGeom>
          <a:noFill/>
        </p:spPr>
        <p:txBody>
          <a:bodyPr wrap="square" anchor="t" lIns="36576" rIns="36576" tIns="18288" bIns="18288">
            <a:spAutoFit/>
          </a:bodyPr>
          <a:lstStyle/>
          <a:p>
            <a:pPr algn="l"/>
            <a:r>
              <a:rPr sz="1800" b="0" i="0">
                <a:solidFill>
                  <a:srgbClr val="FAF5FF"/>
                </a:solidFill>
                <a:latin typeface="Calibri"/>
              </a:rPr>
              <a:t>✓ Objetivos claros y delimitados (1 gen + 3 esp)</a:t>
            </a:r>
          </a:p>
        </p:txBody>
      </p:sp>
      <p:sp>
        <p:nvSpPr>
          <p:cNvPr id="17" name="TextBox 16"/>
          <p:cNvSpPr txBox="1"/>
          <p:nvPr/>
        </p:nvSpPr>
        <p:spPr>
          <a:xfrm>
            <a:off x="960120" y="2971800"/>
            <a:ext cx="4754880" cy="548640"/>
          </a:xfrm>
          <a:prstGeom prst="rect">
            <a:avLst/>
          </a:prstGeom>
          <a:noFill/>
        </p:spPr>
        <p:txBody>
          <a:bodyPr wrap="square" anchor="t" lIns="36576" rIns="36576" tIns="18288" bIns="18288">
            <a:spAutoFit/>
          </a:bodyPr>
          <a:lstStyle/>
          <a:p>
            <a:pPr algn="l"/>
            <a:r>
              <a:rPr sz="1800" b="0" i="0">
                <a:solidFill>
                  <a:srgbClr val="FAF5FF"/>
                </a:solidFill>
                <a:latin typeface="Calibri"/>
              </a:rPr>
              <a:t>✓ Mediciones reales: temperatura (682 lecturas) y corriente (0.9 A atorado)</a:t>
            </a:r>
          </a:p>
        </p:txBody>
      </p:sp>
      <p:sp>
        <p:nvSpPr>
          <p:cNvPr id="18" name="TextBox 17"/>
          <p:cNvSpPr txBox="1"/>
          <p:nvPr/>
        </p:nvSpPr>
        <p:spPr>
          <a:xfrm>
            <a:off x="960120" y="3611879"/>
            <a:ext cx="4754880" cy="548640"/>
          </a:xfrm>
          <a:prstGeom prst="rect">
            <a:avLst/>
          </a:prstGeom>
          <a:noFill/>
        </p:spPr>
        <p:txBody>
          <a:bodyPr wrap="square" anchor="t" lIns="36576" rIns="36576" tIns="18288" bIns="18288">
            <a:spAutoFit/>
          </a:bodyPr>
          <a:lstStyle/>
          <a:p>
            <a:pPr algn="l"/>
            <a:r>
              <a:rPr sz="1800" b="0" i="0">
                <a:solidFill>
                  <a:srgbClr val="FAF5FF"/>
                </a:solidFill>
                <a:latin typeface="Calibri"/>
              </a:rPr>
              <a:t>✓ Comparativa formal (MIT inFORM y comerciales)</a:t>
            </a:r>
          </a:p>
        </p:txBody>
      </p:sp>
      <p:sp>
        <p:nvSpPr>
          <p:cNvPr id="19" name="Rounded Rectangle 18"/>
          <p:cNvSpPr/>
          <p:nvPr/>
        </p:nvSpPr>
        <p:spPr>
          <a:xfrm>
            <a:off x="6217920" y="1645920"/>
            <a:ext cx="5212080" cy="3017520"/>
          </a:xfrm>
          <a:prstGeom prst="roundRect">
            <a:avLst>
              <a:gd name="adj" fmla="val 3000"/>
            </a:avLst>
          </a:prstGeom>
          <a:solidFill>
            <a:srgbClr val="171824"/>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1783080"/>
            <a:ext cx="4754880" cy="365760"/>
          </a:xfrm>
          <a:prstGeom prst="rect">
            <a:avLst/>
          </a:prstGeom>
          <a:noFill/>
        </p:spPr>
        <p:txBody>
          <a:bodyPr wrap="square" anchor="t" lIns="36576" rIns="36576" tIns="18288" bIns="18288">
            <a:spAutoFit/>
          </a:bodyPr>
          <a:lstStyle/>
          <a:p>
            <a:pPr algn="l"/>
            <a:r>
              <a:rPr sz="2400" b="1" i="0">
                <a:solidFill>
                  <a:srgbClr val="F59E0B"/>
                </a:solidFill>
                <a:latin typeface="Calibri"/>
              </a:rPr>
              <a:t>Para el Corte 3</a:t>
            </a:r>
          </a:p>
        </p:txBody>
      </p:sp>
      <p:sp>
        <p:nvSpPr>
          <p:cNvPr id="21" name="TextBox 20"/>
          <p:cNvSpPr txBox="1"/>
          <p:nvPr/>
        </p:nvSpPr>
        <p:spPr>
          <a:xfrm>
            <a:off x="6446520" y="2331720"/>
            <a:ext cx="4754880" cy="548640"/>
          </a:xfrm>
          <a:prstGeom prst="rect">
            <a:avLst/>
          </a:prstGeom>
          <a:noFill/>
        </p:spPr>
        <p:txBody>
          <a:bodyPr wrap="square" anchor="t" lIns="36576" rIns="36576" tIns="18288" bIns="18288">
            <a:spAutoFit/>
          </a:bodyPr>
          <a:lstStyle/>
          <a:p>
            <a:pPr algn="l"/>
            <a:r>
              <a:rPr sz="1800" b="1" i="0">
                <a:solidFill>
                  <a:srgbClr val="FAF5FF"/>
                </a:solidFill>
                <a:latin typeface="Calibri"/>
              </a:rPr>
              <a:t>1  PCB de potencia definitiva (25 A)</a:t>
            </a:r>
          </a:p>
        </p:txBody>
      </p:sp>
      <p:sp>
        <p:nvSpPr>
          <p:cNvPr id="22" name="TextBox 21"/>
          <p:cNvSpPr txBox="1"/>
          <p:nvPr/>
        </p:nvSpPr>
        <p:spPr>
          <a:xfrm>
            <a:off x="6446520" y="2971800"/>
            <a:ext cx="4754880" cy="548640"/>
          </a:xfrm>
          <a:prstGeom prst="rect">
            <a:avLst/>
          </a:prstGeom>
          <a:noFill/>
        </p:spPr>
        <p:txBody>
          <a:bodyPr wrap="square" anchor="t" lIns="36576" rIns="36576" tIns="18288" bIns="18288">
            <a:spAutoFit/>
          </a:bodyPr>
          <a:lstStyle/>
          <a:p>
            <a:pPr algn="l"/>
            <a:r>
              <a:rPr sz="1800" b="1" i="0">
                <a:solidFill>
                  <a:srgbClr val="FAF5FF"/>
                </a:solidFill>
                <a:latin typeface="Calibri"/>
              </a:rPr>
              <a:t>2  Apagado automático por software (&lt; 15 s)</a:t>
            </a:r>
          </a:p>
        </p:txBody>
      </p:sp>
      <p:sp>
        <p:nvSpPr>
          <p:cNvPr id="23" name="TextBox 22"/>
          <p:cNvSpPr txBox="1"/>
          <p:nvPr/>
        </p:nvSpPr>
        <p:spPr>
          <a:xfrm>
            <a:off x="6446520" y="3611879"/>
            <a:ext cx="4754880" cy="548640"/>
          </a:xfrm>
          <a:prstGeom prst="rect">
            <a:avLst/>
          </a:prstGeom>
          <a:noFill/>
        </p:spPr>
        <p:txBody>
          <a:bodyPr wrap="square" anchor="t" lIns="36576" rIns="36576" tIns="18288" bIns="18288">
            <a:spAutoFit/>
          </a:bodyPr>
          <a:lstStyle/>
          <a:p>
            <a:pPr algn="l"/>
            <a:r>
              <a:rPr sz="1800" b="1" i="0">
                <a:solidFill>
                  <a:srgbClr val="FAF5FF"/>
                </a:solidFill>
                <a:latin typeface="Calibri"/>
              </a:rPr>
              <a:t>3  Colmena completa de 16 paneles</a:t>
            </a:r>
          </a:p>
        </p:txBody>
      </p:sp>
      <p:sp>
        <p:nvSpPr>
          <p:cNvPr id="24" name="Rounded Rectangle 23"/>
          <p:cNvSpPr/>
          <p:nvPr/>
        </p:nvSpPr>
        <p:spPr>
          <a:xfrm>
            <a:off x="731520" y="4846320"/>
            <a:ext cx="10698480" cy="685800"/>
          </a:xfrm>
          <a:prstGeom prst="roundRect">
            <a:avLst>
              <a:gd name="adj" fmla="val 3000"/>
            </a:avLst>
          </a:prstGeom>
          <a:solidFill>
            <a:srgbClr val="171824"/>
          </a:solidFill>
          <a:ln w="19050">
            <a:solidFill>
              <a:srgbClr val="E02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983480"/>
            <a:ext cx="10332720" cy="411480"/>
          </a:xfrm>
          <a:prstGeom prst="rect">
            <a:avLst/>
          </a:prstGeom>
          <a:noFill/>
        </p:spPr>
        <p:txBody>
          <a:bodyPr wrap="square" anchor="t" lIns="36576" rIns="36576" tIns="18288" bIns="18288">
            <a:spAutoFit/>
          </a:bodyPr>
          <a:lstStyle/>
          <a:p>
            <a:pPr algn="ctr"/>
            <a:r>
              <a:rPr sz="2600" b="1" i="0">
                <a:solidFill>
                  <a:srgbClr val="E024A5"/>
                </a:solidFill>
                <a:latin typeface="Calibri"/>
              </a:rPr>
              <a:t>SOFÍA ya te mira. Falta que aguante todo el día.</a:t>
            </a:r>
          </a:p>
        </p:txBody>
      </p:sp>
      <p:pic>
        <p:nvPicPr>
          <p:cNvPr id="26" name="Picture 25" descr="qr_github.png"/>
          <p:cNvPicPr>
            <a:picLocks noChangeAspect="1"/>
          </p:cNvPicPr>
          <p:nvPr/>
        </p:nvPicPr>
        <p:blipFill>
          <a:blip r:embed="rId3"/>
          <a:stretch>
            <a:fillRect/>
          </a:stretch>
        </p:blipFill>
        <p:spPr>
          <a:xfrm>
            <a:off x="768096" y="5705856"/>
            <a:ext cx="795527" cy="795527"/>
          </a:xfrm>
          <a:prstGeom prst="rect">
            <a:avLst/>
          </a:prstGeom>
        </p:spPr>
      </p:pic>
      <p:sp>
        <p:nvSpPr>
          <p:cNvPr id="27" name="TextBox 26"/>
          <p:cNvSpPr txBox="1"/>
          <p:nvPr/>
        </p:nvSpPr>
        <p:spPr>
          <a:xfrm>
            <a:off x="1737360" y="5897880"/>
            <a:ext cx="6400800" cy="365760"/>
          </a:xfrm>
          <a:prstGeom prst="rect">
            <a:avLst/>
          </a:prstGeom>
          <a:noFill/>
        </p:spPr>
        <p:txBody>
          <a:bodyPr wrap="square" anchor="t" lIns="36576" rIns="36576" tIns="18288" bIns="18288">
            <a:spAutoFit/>
          </a:bodyPr>
          <a:lstStyle/>
          <a:p>
            <a:pPr algn="l"/>
            <a:r>
              <a:rPr sz="1800" b="1" i="0">
                <a:solidFill>
                  <a:srgbClr val="FFFFFF"/>
                </a:solidFill>
                <a:latin typeface="Calibri"/>
              </a:rPr>
              <a:t>github.com/PaolaCV14/IOT-SOFIA-2026</a:t>
            </a:r>
          </a:p>
        </p:txBody>
      </p:sp>
      <p:sp>
        <p:nvSpPr>
          <p:cNvPr id="28" name="TextBox 27"/>
          <p:cNvSpPr txBox="1"/>
          <p:nvPr/>
        </p:nvSpPr>
        <p:spPr>
          <a:xfrm>
            <a:off x="8686800" y="5806440"/>
            <a:ext cx="2743200" cy="457200"/>
          </a:xfrm>
          <a:prstGeom prst="rect">
            <a:avLst/>
          </a:prstGeom>
          <a:noFill/>
        </p:spPr>
        <p:txBody>
          <a:bodyPr wrap="square" anchor="t" lIns="36576" rIns="36576" tIns="18288" bIns="18288">
            <a:spAutoFit/>
          </a:bodyPr>
          <a:lstStyle/>
          <a:p>
            <a:pPr algn="r"/>
            <a:r>
              <a:rPr sz="2800" b="1" i="0">
                <a:solidFill>
                  <a:srgbClr val="E024A5"/>
                </a:solidFill>
                <a:latin typeface="Calibri"/>
              </a:rPr>
              <a:t>¿Preguntas?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FAF9FC"/>
        </a:solidFill>
        <a:effectLst/>
      </p:bgPr>
    </p:bg>
    <p:spTree>
      <p:nvGrpSpPr>
        <p:cNvPr id="1" name=""/>
        <p:cNvGrpSpPr/>
        <p:nvPr/>
      </p:nvGrpSpPr>
      <p:grpSpPr/>
      <p:sp>
        <p:nvSpPr>
          <p:cNvPr id="2" name="Rounded Rectangle 1"/>
          <p:cNvSpPr/>
          <p:nvPr/>
        </p:nvSpPr>
        <p:spPr>
          <a:xfrm>
            <a:off x="731520" y="292608"/>
            <a:ext cx="1645920" cy="320040"/>
          </a:xfrm>
          <a:prstGeom prst="roundRect">
            <a:avLst>
              <a:gd name="adj" fmla="val 2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645920" cy="274320"/>
          </a:xfrm>
          <a:prstGeom prst="rect">
            <a:avLst/>
          </a:prstGeom>
          <a:noFill/>
        </p:spPr>
        <p:txBody>
          <a:bodyPr wrap="square" anchor="t" lIns="36576" rIns="36576" tIns="18288" bIns="18288">
            <a:spAutoFit/>
          </a:bodyPr>
          <a:lstStyle/>
          <a:p>
            <a:pPr algn="ctr"/>
            <a:r>
              <a:rPr sz="1300" b="1" i="0">
                <a:solidFill>
                  <a:srgbClr val="FFFFFF"/>
                </a:solidFill>
                <a:latin typeface="Calibri"/>
              </a:rPr>
              <a:t>RESPALDO</a:t>
            </a:r>
          </a:p>
        </p:txBody>
      </p:sp>
      <p:sp>
        <p:nvSpPr>
          <p:cNvPr id="4" name="TextBox 3"/>
          <p:cNvSpPr txBox="1"/>
          <p:nvPr/>
        </p:nvSpPr>
        <p:spPr>
          <a:xfrm>
            <a:off x="10241280" y="6446520"/>
            <a:ext cx="1188720" cy="274320"/>
          </a:xfrm>
          <a:prstGeom prst="rect">
            <a:avLst/>
          </a:prstGeom>
          <a:noFill/>
        </p:spPr>
        <p:txBody>
          <a:bodyPr wrap="square" anchor="t" lIns="36576" rIns="36576" tIns="18288" bIns="18288">
            <a:spAutoFit/>
          </a:bodyPr>
          <a:lstStyle/>
          <a:p>
            <a:pPr algn="r"/>
            <a:r>
              <a:rPr sz="1300" b="1" i="0">
                <a:solidFill>
                  <a:srgbClr val="665480"/>
                </a:solidFill>
                <a:latin typeface="Calibri"/>
              </a:rPr>
              <a:t>RESPALDO</a:t>
            </a:r>
          </a:p>
        </p:txBody>
      </p:sp>
      <p:sp>
        <p:nvSpPr>
          <p:cNvPr id="5" name="TextBox 4"/>
          <p:cNvSpPr txBox="1"/>
          <p:nvPr/>
        </p:nvSpPr>
        <p:spPr>
          <a:xfrm>
            <a:off x="731520" y="685800"/>
            <a:ext cx="10698480" cy="777240"/>
          </a:xfrm>
          <a:prstGeom prst="rect">
            <a:avLst/>
          </a:prstGeom>
          <a:noFill/>
        </p:spPr>
        <p:txBody>
          <a:bodyPr wrap="square" anchor="t" lIns="36576" rIns="36576" tIns="18288" bIns="18288">
            <a:spAutoFit/>
          </a:bodyPr>
          <a:lstStyle/>
          <a:p>
            <a:pPr algn="l"/>
            <a:r>
              <a:rPr sz="4000" b="1" i="0">
                <a:solidFill>
                  <a:srgbClr val="181824"/>
                </a:solidFill>
                <a:latin typeface="Calibri"/>
              </a:rPr>
              <a:t>Por dentro de SOFÍA: Arquitectura y Componentes</a:t>
            </a:r>
          </a:p>
        </p:txBody>
      </p:sp>
      <p:sp>
        <p:nvSpPr>
          <p:cNvPr id="6" name="Rounded Rectangle 5"/>
          <p:cNvSpPr/>
          <p:nvPr/>
        </p:nvSpPr>
        <p:spPr>
          <a:xfrm>
            <a:off x="731520" y="1645920"/>
            <a:ext cx="10698480" cy="1005840"/>
          </a:xfrm>
          <a:prstGeom prst="roundRect">
            <a:avLst>
              <a:gd name="adj" fmla="val 3000"/>
            </a:avLst>
          </a:prstGeom>
          <a:solidFill>
            <a:srgbClr val="F5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10332720" cy="274320"/>
          </a:xfrm>
          <a:prstGeom prst="rect">
            <a:avLst/>
          </a:prstGeom>
          <a:noFill/>
        </p:spPr>
        <p:txBody>
          <a:bodyPr wrap="square" anchor="t" lIns="36576" rIns="36576" tIns="18288" bIns="18288">
            <a:spAutoFit/>
          </a:bodyPr>
          <a:lstStyle/>
          <a:p>
            <a:pPr algn="l"/>
            <a:r>
              <a:rPr sz="1500" b="1" i="0">
                <a:solidFill>
                  <a:srgbClr val="181824"/>
                </a:solidFill>
                <a:latin typeface="Calibri"/>
              </a:rPr>
              <a:t>Diagrama de señales y buses:</a:t>
            </a:r>
          </a:p>
        </p:txBody>
      </p:sp>
      <p:sp>
        <p:nvSpPr>
          <p:cNvPr id="8" name="TextBox 7"/>
          <p:cNvSpPr txBox="1"/>
          <p:nvPr/>
        </p:nvSpPr>
        <p:spPr>
          <a:xfrm>
            <a:off x="914400" y="2103120"/>
            <a:ext cx="10332720" cy="365760"/>
          </a:xfrm>
          <a:prstGeom prst="rect">
            <a:avLst/>
          </a:prstGeom>
          <a:noFill/>
        </p:spPr>
        <p:txBody>
          <a:bodyPr wrap="square" anchor="t" lIns="36576" rIns="36576" tIns="18288" bIns="18288">
            <a:spAutoFit/>
          </a:bodyPr>
          <a:lstStyle/>
          <a:p>
            <a:pPr algn="ctr"/>
            <a:r>
              <a:rPr sz="1800" b="1" i="0">
                <a:solidFill>
                  <a:srgbClr val="C026D3"/>
                </a:solidFill>
                <a:latin typeface="Calibri"/>
              </a:rPr>
              <a:t>Cámara web  ➔  PC (Python + MediaPipe)  ➔  BLE  ➔  ESP32-C3  ➔  2x PCA9685 (I²C)  ➔  32 servos MG90S</a:t>
            </a:r>
          </a:p>
        </p:txBody>
      </p:sp>
      <p:sp>
        <p:nvSpPr>
          <p:cNvPr id="9" name="Rounded Rectangle 8"/>
          <p:cNvSpPr/>
          <p:nvPr/>
        </p:nvSpPr>
        <p:spPr>
          <a:xfrm>
            <a:off x="731520" y="2834640"/>
            <a:ext cx="5943600" cy="3474720"/>
          </a:xfrm>
          <a:prstGeom prst="roundRect">
            <a:avLst>
              <a:gd name="adj" fmla="val 3000"/>
            </a:avLst>
          </a:prstGeom>
          <a:solidFill>
            <a:srgbClr val="FFFFFF"/>
          </a:solidFill>
          <a:ln w="19050">
            <a:solidFill>
              <a:srgbClr val="6654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971800"/>
            <a:ext cx="5577840" cy="365760"/>
          </a:xfrm>
          <a:prstGeom prst="rect">
            <a:avLst/>
          </a:prstGeom>
          <a:noFill/>
        </p:spPr>
        <p:txBody>
          <a:bodyPr wrap="square" anchor="t" lIns="36576" rIns="36576" tIns="18288" bIns="18288">
            <a:spAutoFit/>
          </a:bodyPr>
          <a:lstStyle/>
          <a:p>
            <a:pPr algn="l"/>
            <a:r>
              <a:rPr sz="2000" b="1" i="0">
                <a:solidFill>
                  <a:srgbClr val="181824"/>
                </a:solidFill>
                <a:latin typeface="Calibri"/>
              </a:rPr>
              <a:t>Lista de Materiales (BOM 16 Módulos)</a:t>
            </a:r>
          </a:p>
        </p:txBody>
      </p:sp>
      <p:sp>
        <p:nvSpPr>
          <p:cNvPr id="11" name="TextBox 10"/>
          <p:cNvSpPr txBox="1"/>
          <p:nvPr/>
        </p:nvSpPr>
        <p:spPr>
          <a:xfrm>
            <a:off x="914400" y="3429000"/>
            <a:ext cx="5577840" cy="365760"/>
          </a:xfrm>
          <a:prstGeom prst="rect">
            <a:avLst/>
          </a:prstGeom>
          <a:noFill/>
        </p:spPr>
        <p:txBody>
          <a:bodyPr wrap="square" anchor="t" lIns="36576" rIns="36576" tIns="18288" bIns="18288">
            <a:spAutoFit/>
          </a:bodyPr>
          <a:lstStyle/>
          <a:p>
            <a:pPr algn="l"/>
            <a:r>
              <a:rPr sz="1800" b="0" i="0">
                <a:solidFill>
                  <a:srgbClr val="665480"/>
                </a:solidFill>
                <a:latin typeface="Calibri"/>
              </a:rPr>
              <a:t>• 16 módulos panal PLA (diseño custom SOFIA003)</a:t>
            </a:r>
          </a:p>
        </p:txBody>
      </p:sp>
      <p:sp>
        <p:nvSpPr>
          <p:cNvPr id="12" name="TextBox 11"/>
          <p:cNvSpPr txBox="1"/>
          <p:nvPr/>
        </p:nvSpPr>
        <p:spPr>
          <a:xfrm>
            <a:off x="914400" y="3867912"/>
            <a:ext cx="5577840" cy="365760"/>
          </a:xfrm>
          <a:prstGeom prst="rect">
            <a:avLst/>
          </a:prstGeom>
          <a:noFill/>
        </p:spPr>
        <p:txBody>
          <a:bodyPr wrap="square" anchor="t" lIns="36576" rIns="36576" tIns="18288" bIns="18288">
            <a:spAutoFit/>
          </a:bodyPr>
          <a:lstStyle/>
          <a:p>
            <a:pPr algn="l"/>
            <a:r>
              <a:rPr sz="1800" b="0" i="0">
                <a:solidFill>
                  <a:srgbClr val="665480"/>
                </a:solidFill>
                <a:latin typeface="Calibri"/>
              </a:rPr>
              <a:t>• 32 servomotores metálicos MG90S (TowerPro)</a:t>
            </a:r>
          </a:p>
        </p:txBody>
      </p:sp>
      <p:sp>
        <p:nvSpPr>
          <p:cNvPr id="13" name="TextBox 12"/>
          <p:cNvSpPr txBox="1"/>
          <p:nvPr/>
        </p:nvSpPr>
        <p:spPr>
          <a:xfrm>
            <a:off x="914400" y="4306824"/>
            <a:ext cx="5577840" cy="365760"/>
          </a:xfrm>
          <a:prstGeom prst="rect">
            <a:avLst/>
          </a:prstGeom>
          <a:noFill/>
        </p:spPr>
        <p:txBody>
          <a:bodyPr wrap="square" anchor="t" lIns="36576" rIns="36576" tIns="18288" bIns="18288">
            <a:spAutoFit/>
          </a:bodyPr>
          <a:lstStyle/>
          <a:p>
            <a:pPr algn="l"/>
            <a:r>
              <a:rPr sz="1800" b="0" i="0">
                <a:solidFill>
                  <a:srgbClr val="665480"/>
                </a:solidFill>
                <a:latin typeface="Calibri"/>
              </a:rPr>
              <a:t>• 64 tornillos M3 × 10 mm (sujeción de servos y armazón)</a:t>
            </a:r>
          </a:p>
        </p:txBody>
      </p:sp>
      <p:sp>
        <p:nvSpPr>
          <p:cNvPr id="14" name="TextBox 13"/>
          <p:cNvSpPr txBox="1"/>
          <p:nvPr/>
        </p:nvSpPr>
        <p:spPr>
          <a:xfrm>
            <a:off x="914400" y="4745736"/>
            <a:ext cx="5577840" cy="365760"/>
          </a:xfrm>
          <a:prstGeom prst="rect">
            <a:avLst/>
          </a:prstGeom>
          <a:noFill/>
        </p:spPr>
        <p:txBody>
          <a:bodyPr wrap="square" anchor="t" lIns="36576" rIns="36576" tIns="18288" bIns="18288">
            <a:spAutoFit/>
          </a:bodyPr>
          <a:lstStyle/>
          <a:p>
            <a:pPr algn="l"/>
            <a:r>
              <a:rPr sz="1800" b="0" i="0">
                <a:solidFill>
                  <a:srgbClr val="665480"/>
                </a:solidFill>
                <a:latin typeface="Calibri"/>
              </a:rPr>
              <a:t>• 2 controladores PWM I²C PCA9685 de 16 canales</a:t>
            </a:r>
          </a:p>
        </p:txBody>
      </p:sp>
      <p:sp>
        <p:nvSpPr>
          <p:cNvPr id="15" name="TextBox 14"/>
          <p:cNvSpPr txBox="1"/>
          <p:nvPr/>
        </p:nvSpPr>
        <p:spPr>
          <a:xfrm>
            <a:off x="914400" y="5184648"/>
            <a:ext cx="5577840" cy="365760"/>
          </a:xfrm>
          <a:prstGeom prst="rect">
            <a:avLst/>
          </a:prstGeom>
          <a:noFill/>
        </p:spPr>
        <p:txBody>
          <a:bodyPr wrap="square" anchor="t" lIns="36576" rIns="36576" tIns="18288" bIns="18288">
            <a:spAutoFit/>
          </a:bodyPr>
          <a:lstStyle/>
          <a:p>
            <a:pPr algn="l"/>
            <a:r>
              <a:rPr sz="1800" b="0" i="0">
                <a:solidFill>
                  <a:srgbClr val="665480"/>
                </a:solidFill>
                <a:latin typeface="Calibri"/>
              </a:rPr>
              <a:t>• 1 microcontrolador ESP32-C3 Master (Wi-Fi / BLE)</a:t>
            </a:r>
          </a:p>
        </p:txBody>
      </p:sp>
      <p:sp>
        <p:nvSpPr>
          <p:cNvPr id="16" name="TextBox 15"/>
          <p:cNvSpPr txBox="1"/>
          <p:nvPr/>
        </p:nvSpPr>
        <p:spPr>
          <a:xfrm>
            <a:off x="914400" y="5623560"/>
            <a:ext cx="5577840" cy="365760"/>
          </a:xfrm>
          <a:prstGeom prst="rect">
            <a:avLst/>
          </a:prstGeom>
          <a:noFill/>
        </p:spPr>
        <p:txBody>
          <a:bodyPr wrap="square" anchor="t" lIns="36576" rIns="36576" tIns="18288" bIns="18288">
            <a:spAutoFit/>
          </a:bodyPr>
          <a:lstStyle/>
          <a:p>
            <a:pPr algn="l"/>
            <a:r>
              <a:rPr sz="1800" b="0" i="0">
                <a:solidFill>
                  <a:srgbClr val="665480"/>
                </a:solidFill>
                <a:latin typeface="Calibri"/>
              </a:rPr>
              <a:t>• Instrumentación de prueba: sensor LM35 + sensor INA219</a:t>
            </a:r>
          </a:p>
        </p:txBody>
      </p:sp>
      <p:sp>
        <p:nvSpPr>
          <p:cNvPr id="17" name="Rounded Rectangle 16"/>
          <p:cNvSpPr/>
          <p:nvPr/>
        </p:nvSpPr>
        <p:spPr>
          <a:xfrm>
            <a:off x="6858000" y="2834640"/>
            <a:ext cx="4572000" cy="3474720"/>
          </a:xfrm>
          <a:prstGeom prst="roundRect">
            <a:avLst>
              <a:gd name="adj" fmla="val 2000"/>
            </a:avLst>
          </a:prstGeom>
          <a:solidFill>
            <a:srgbClr val="FFFFFF"/>
          </a:solidFill>
          <a:ln w="19050">
            <a:solidFill>
              <a:srgbClr val="6654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PCB1.png"/>
          <p:cNvPicPr>
            <a:picLocks noChangeAspect="1"/>
          </p:cNvPicPr>
          <p:nvPr/>
        </p:nvPicPr>
        <p:blipFill>
          <a:blip r:embed="rId3"/>
          <a:stretch>
            <a:fillRect/>
          </a:stretch>
        </p:blipFill>
        <p:spPr>
          <a:xfrm>
            <a:off x="6894576" y="3013493"/>
            <a:ext cx="4498848" cy="3117013"/>
          </a:xfrm>
          <a:prstGeom prst="rect">
            <a:avLst/>
          </a:prstGeom>
        </p:spPr>
      </p:pic>
      <p:sp>
        <p:nvSpPr>
          <p:cNvPr id="19" name="TextBox 18"/>
          <p:cNvSpPr txBox="1"/>
          <p:nvPr/>
        </p:nvSpPr>
        <p:spPr>
          <a:xfrm>
            <a:off x="6858000" y="6345936"/>
            <a:ext cx="4572000" cy="237744"/>
          </a:xfrm>
          <a:prstGeom prst="rect">
            <a:avLst/>
          </a:prstGeom>
          <a:noFill/>
        </p:spPr>
        <p:txBody>
          <a:bodyPr wrap="square" anchor="t" lIns="36576" rIns="36576" tIns="18288" bIns="18288">
            <a:spAutoFit/>
          </a:bodyPr>
          <a:lstStyle/>
          <a:p>
            <a:pPr algn="ctr"/>
            <a:r>
              <a:rPr sz="1200" b="0" i="1">
                <a:solidFill>
                  <a:srgbClr val="665480"/>
                </a:solidFill>
                <a:latin typeface="Calibri"/>
              </a:rPr>
              <a:t>Diseño PCB de potencia para 32 motores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FAF9FC"/>
        </a:solidFill>
        <a:effectLst/>
      </p:bgPr>
    </p:bg>
    <p:spTree>
      <p:nvGrpSpPr>
        <p:cNvPr id="1" name=""/>
        <p:cNvGrpSpPr/>
        <p:nvPr/>
      </p:nvGrpSpPr>
      <p:grpSpPr/>
      <p:sp>
        <p:nvSpPr>
          <p:cNvPr id="2" name="Rounded Rectangle 1"/>
          <p:cNvSpPr/>
          <p:nvPr/>
        </p:nvSpPr>
        <p:spPr>
          <a:xfrm>
            <a:off x="731520" y="292608"/>
            <a:ext cx="1645920" cy="320040"/>
          </a:xfrm>
          <a:prstGeom prst="roundRect">
            <a:avLst>
              <a:gd name="adj" fmla="val 2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645920" cy="274320"/>
          </a:xfrm>
          <a:prstGeom prst="rect">
            <a:avLst/>
          </a:prstGeom>
          <a:noFill/>
        </p:spPr>
        <p:txBody>
          <a:bodyPr wrap="square" anchor="t" lIns="36576" rIns="36576" tIns="18288" bIns="18288">
            <a:spAutoFit/>
          </a:bodyPr>
          <a:lstStyle/>
          <a:p>
            <a:pPr algn="ctr"/>
            <a:r>
              <a:rPr sz="1300" b="1" i="0">
                <a:solidFill>
                  <a:srgbClr val="FFFFFF"/>
                </a:solidFill>
                <a:latin typeface="Calibri"/>
              </a:rPr>
              <a:t>RESPALDO</a:t>
            </a:r>
          </a:p>
        </p:txBody>
      </p:sp>
      <p:sp>
        <p:nvSpPr>
          <p:cNvPr id="4" name="TextBox 3"/>
          <p:cNvSpPr txBox="1"/>
          <p:nvPr/>
        </p:nvSpPr>
        <p:spPr>
          <a:xfrm>
            <a:off x="10241280" y="6446520"/>
            <a:ext cx="1188720" cy="274320"/>
          </a:xfrm>
          <a:prstGeom prst="rect">
            <a:avLst/>
          </a:prstGeom>
          <a:noFill/>
        </p:spPr>
        <p:txBody>
          <a:bodyPr wrap="square" anchor="t" lIns="36576" rIns="36576" tIns="18288" bIns="18288">
            <a:spAutoFit/>
          </a:bodyPr>
          <a:lstStyle/>
          <a:p>
            <a:pPr algn="r"/>
            <a:r>
              <a:rPr sz="1300" b="1" i="0">
                <a:solidFill>
                  <a:srgbClr val="665480"/>
                </a:solidFill>
                <a:latin typeface="Calibri"/>
              </a:rPr>
              <a:t>RESPALDO</a:t>
            </a:r>
          </a:p>
        </p:txBody>
      </p:sp>
      <p:sp>
        <p:nvSpPr>
          <p:cNvPr id="5" name="TextBox 4"/>
          <p:cNvSpPr txBox="1"/>
          <p:nvPr/>
        </p:nvSpPr>
        <p:spPr>
          <a:xfrm>
            <a:off x="731520" y="685800"/>
            <a:ext cx="10698480" cy="777240"/>
          </a:xfrm>
          <a:prstGeom prst="rect">
            <a:avLst/>
          </a:prstGeom>
          <a:noFill/>
        </p:spPr>
        <p:txBody>
          <a:bodyPr wrap="square" anchor="t" lIns="36576" rIns="36576" tIns="18288" bIns="18288">
            <a:spAutoFit/>
          </a:bodyPr>
          <a:lstStyle/>
          <a:p>
            <a:pPr algn="l"/>
            <a:r>
              <a:rPr sz="4000" b="1" i="0">
                <a:solidFill>
                  <a:srgbClr val="181824"/>
                </a:solidFill>
                <a:latin typeface="Calibri"/>
              </a:rPr>
              <a:t>Preguntas probables de los jueces</a:t>
            </a:r>
          </a:p>
        </p:txBody>
      </p:sp>
      <p:sp>
        <p:nvSpPr>
          <p:cNvPr id="6" name="Rounded Rectangle 5"/>
          <p:cNvSpPr/>
          <p:nvPr/>
        </p:nvSpPr>
        <p:spPr>
          <a:xfrm>
            <a:off x="731520" y="1645920"/>
            <a:ext cx="5212080" cy="1325880"/>
          </a:xfrm>
          <a:prstGeom prst="roundRect">
            <a:avLst>
              <a:gd name="adj" fmla="val 3000"/>
            </a:avLst>
          </a:prstGeom>
          <a:solidFill>
            <a:srgbClr val="FFFFFF"/>
          </a:solidFill>
          <a:ln w="19050">
            <a:solidFill>
              <a:srgbClr val="E02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55648"/>
            <a:ext cx="4846320" cy="365760"/>
          </a:xfrm>
          <a:prstGeom prst="rect">
            <a:avLst/>
          </a:prstGeom>
          <a:noFill/>
        </p:spPr>
        <p:txBody>
          <a:bodyPr wrap="square" anchor="t" lIns="36576" rIns="36576" tIns="18288" bIns="18288">
            <a:spAutoFit/>
          </a:bodyPr>
          <a:lstStyle/>
          <a:p>
            <a:pPr algn="l"/>
            <a:r>
              <a:rPr sz="2000" b="1" i="0">
                <a:solidFill>
                  <a:srgbClr val="C026D3"/>
                </a:solidFill>
                <a:latin typeface="Calibri"/>
              </a:rPr>
              <a:t>¿Por qué MG90S?</a:t>
            </a:r>
          </a:p>
        </p:txBody>
      </p:sp>
      <p:sp>
        <p:nvSpPr>
          <p:cNvPr id="8" name="TextBox 7"/>
          <p:cNvSpPr txBox="1"/>
          <p:nvPr/>
        </p:nvSpPr>
        <p:spPr>
          <a:xfrm>
            <a:off x="914400" y="2148840"/>
            <a:ext cx="4846320" cy="731520"/>
          </a:xfrm>
          <a:prstGeom prst="rect">
            <a:avLst/>
          </a:prstGeom>
          <a:noFill/>
        </p:spPr>
        <p:txBody>
          <a:bodyPr wrap="square" anchor="t" lIns="36576" rIns="36576" tIns="18288" bIns="18288">
            <a:spAutoFit/>
          </a:bodyPr>
          <a:lstStyle/>
          <a:p>
            <a:pPr algn="l"/>
            <a:r>
              <a:rPr sz="1800" b="0" i="0">
                <a:solidFill>
                  <a:srgbClr val="181824"/>
                </a:solidFill>
                <a:latin typeface="Calibri"/>
              </a:rPr>
              <a:t>Engranes metálicos, bajo costo y fácil de conseguir en volumen.</a:t>
            </a:r>
          </a:p>
        </p:txBody>
      </p:sp>
      <p:sp>
        <p:nvSpPr>
          <p:cNvPr id="9" name="Rounded Rectangle 8"/>
          <p:cNvSpPr/>
          <p:nvPr/>
        </p:nvSpPr>
        <p:spPr>
          <a:xfrm>
            <a:off x="731520" y="3108960"/>
            <a:ext cx="5212080" cy="1325880"/>
          </a:xfrm>
          <a:prstGeom prst="roundRect">
            <a:avLst>
              <a:gd name="adj" fmla="val 3000"/>
            </a:avLst>
          </a:prstGeom>
          <a:solidFill>
            <a:srgbClr val="FFFFFF"/>
          </a:solidFill>
          <a:ln w="19050">
            <a:solidFill>
              <a:srgbClr val="E02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218688"/>
            <a:ext cx="4846320" cy="365760"/>
          </a:xfrm>
          <a:prstGeom prst="rect">
            <a:avLst/>
          </a:prstGeom>
          <a:noFill/>
        </p:spPr>
        <p:txBody>
          <a:bodyPr wrap="square" anchor="t" lIns="36576" rIns="36576" tIns="18288" bIns="18288">
            <a:spAutoFit/>
          </a:bodyPr>
          <a:lstStyle/>
          <a:p>
            <a:pPr algn="l"/>
            <a:r>
              <a:rPr sz="2000" b="1" i="0">
                <a:solidFill>
                  <a:srgbClr val="C026D3"/>
                </a:solidFill>
                <a:latin typeface="Calibri"/>
              </a:rPr>
              <a:t>¿Cómo detectan el atasco?</a:t>
            </a:r>
          </a:p>
        </p:txBody>
      </p:sp>
      <p:sp>
        <p:nvSpPr>
          <p:cNvPr id="11" name="TextBox 10"/>
          <p:cNvSpPr txBox="1"/>
          <p:nvPr/>
        </p:nvSpPr>
        <p:spPr>
          <a:xfrm>
            <a:off x="914400" y="3611880"/>
            <a:ext cx="4846320" cy="731520"/>
          </a:xfrm>
          <a:prstGeom prst="rect">
            <a:avLst/>
          </a:prstGeom>
          <a:noFill/>
        </p:spPr>
        <p:txBody>
          <a:bodyPr wrap="square" anchor="t" lIns="36576" rIns="36576" tIns="18288" bIns="18288">
            <a:spAutoFit/>
          </a:bodyPr>
          <a:lstStyle/>
          <a:p>
            <a:pPr algn="l"/>
            <a:r>
              <a:rPr sz="1800" b="0" i="0">
                <a:solidFill>
                  <a:srgbClr val="181824"/>
                </a:solidFill>
                <a:latin typeface="Calibri"/>
              </a:rPr>
              <a:t>Con el sensor de corriente (más de 450 mA sostenido) o un temporizador de 15 s.</a:t>
            </a:r>
          </a:p>
        </p:txBody>
      </p:sp>
      <p:sp>
        <p:nvSpPr>
          <p:cNvPr id="12" name="Rounded Rectangle 11"/>
          <p:cNvSpPr/>
          <p:nvPr/>
        </p:nvSpPr>
        <p:spPr>
          <a:xfrm>
            <a:off x="731520" y="4572000"/>
            <a:ext cx="5212080" cy="1325880"/>
          </a:xfrm>
          <a:prstGeom prst="roundRect">
            <a:avLst>
              <a:gd name="adj" fmla="val 3000"/>
            </a:avLst>
          </a:prstGeom>
          <a:solidFill>
            <a:srgbClr val="FFFFFF"/>
          </a:solidFill>
          <a:ln w="19050">
            <a:solidFill>
              <a:srgbClr val="E02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681728"/>
            <a:ext cx="4846320" cy="365760"/>
          </a:xfrm>
          <a:prstGeom prst="rect">
            <a:avLst/>
          </a:prstGeom>
          <a:noFill/>
        </p:spPr>
        <p:txBody>
          <a:bodyPr wrap="square" anchor="t" lIns="36576" rIns="36576" tIns="18288" bIns="18288">
            <a:spAutoFit/>
          </a:bodyPr>
          <a:lstStyle/>
          <a:p>
            <a:pPr algn="l"/>
            <a:r>
              <a:rPr sz="2000" b="1" i="0">
                <a:solidFill>
                  <a:srgbClr val="C026D3"/>
                </a:solidFill>
                <a:latin typeface="Calibri"/>
              </a:rPr>
              <a:t>¿Por qué 15 segundos?</a:t>
            </a:r>
          </a:p>
        </p:txBody>
      </p:sp>
      <p:sp>
        <p:nvSpPr>
          <p:cNvPr id="14" name="TextBox 13"/>
          <p:cNvSpPr txBox="1"/>
          <p:nvPr/>
        </p:nvSpPr>
        <p:spPr>
          <a:xfrm>
            <a:off x="914400" y="5074920"/>
            <a:ext cx="4846320" cy="731520"/>
          </a:xfrm>
          <a:prstGeom prst="rect">
            <a:avLst/>
          </a:prstGeom>
          <a:noFill/>
        </p:spPr>
        <p:txBody>
          <a:bodyPr wrap="square" anchor="t" lIns="36576" rIns="36576" tIns="18288" bIns="18288">
            <a:spAutoFit/>
          </a:bodyPr>
          <a:lstStyle/>
          <a:p>
            <a:pPr algn="l"/>
            <a:r>
              <a:rPr sz="1800" b="0" i="0">
                <a:solidFill>
                  <a:srgbClr val="181824"/>
                </a:solidFill>
                <a:latin typeface="Calibri"/>
              </a:rPr>
              <a:t>A 0.2 °C por segundo, en 15 s solo sube ~3 °C; llegar al límite seguro de 55 °C toma unos 3 minutos.</a:t>
            </a:r>
          </a:p>
        </p:txBody>
      </p:sp>
      <p:sp>
        <p:nvSpPr>
          <p:cNvPr id="15" name="Rounded Rectangle 14"/>
          <p:cNvSpPr/>
          <p:nvPr/>
        </p:nvSpPr>
        <p:spPr>
          <a:xfrm>
            <a:off x="6217920" y="1645920"/>
            <a:ext cx="5212080" cy="1325880"/>
          </a:xfrm>
          <a:prstGeom prst="roundRect">
            <a:avLst>
              <a:gd name="adj" fmla="val 3000"/>
            </a:avLst>
          </a:prstGeom>
          <a:solidFill>
            <a:srgbClr val="FFFFFF"/>
          </a:solidFill>
          <a:ln w="19050">
            <a:solidFill>
              <a:srgbClr val="E02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755648"/>
            <a:ext cx="4846320" cy="365760"/>
          </a:xfrm>
          <a:prstGeom prst="rect">
            <a:avLst/>
          </a:prstGeom>
          <a:noFill/>
        </p:spPr>
        <p:txBody>
          <a:bodyPr wrap="square" anchor="t" lIns="36576" rIns="36576" tIns="18288" bIns="18288">
            <a:spAutoFit/>
          </a:bodyPr>
          <a:lstStyle/>
          <a:p>
            <a:pPr algn="l"/>
            <a:r>
              <a:rPr sz="2000" b="1" i="0">
                <a:solidFill>
                  <a:srgbClr val="C026D3"/>
                </a:solidFill>
                <a:latin typeface="Calibri"/>
              </a:rPr>
              <a:t>¿Qué pasa con varias personas?</a:t>
            </a:r>
          </a:p>
        </p:txBody>
      </p:sp>
      <p:sp>
        <p:nvSpPr>
          <p:cNvPr id="17" name="TextBox 16"/>
          <p:cNvSpPr txBox="1"/>
          <p:nvPr/>
        </p:nvSpPr>
        <p:spPr>
          <a:xfrm>
            <a:off x="6400800" y="2148840"/>
            <a:ext cx="4846320" cy="731520"/>
          </a:xfrm>
          <a:prstGeom prst="rect">
            <a:avLst/>
          </a:prstGeom>
          <a:noFill/>
        </p:spPr>
        <p:txBody>
          <a:bodyPr wrap="square" anchor="t" lIns="36576" rIns="36576" tIns="18288" bIns="18288">
            <a:spAutoFit/>
          </a:bodyPr>
          <a:lstStyle/>
          <a:p>
            <a:pPr algn="l"/>
            <a:r>
              <a:rPr sz="1800" b="0" i="0">
                <a:solidFill>
                  <a:srgbClr val="181824"/>
                </a:solidFill>
                <a:latin typeface="Calibri"/>
              </a:rPr>
              <a:t>Es la brecha número 1 que identificamos; hoy probamos con una.</a:t>
            </a:r>
          </a:p>
        </p:txBody>
      </p:sp>
      <p:sp>
        <p:nvSpPr>
          <p:cNvPr id="18" name="Rounded Rectangle 17"/>
          <p:cNvSpPr/>
          <p:nvPr/>
        </p:nvSpPr>
        <p:spPr>
          <a:xfrm>
            <a:off x="6217920" y="3108960"/>
            <a:ext cx="5212080" cy="1325880"/>
          </a:xfrm>
          <a:prstGeom prst="roundRect">
            <a:avLst>
              <a:gd name="adj" fmla="val 3000"/>
            </a:avLst>
          </a:prstGeom>
          <a:solidFill>
            <a:srgbClr val="FFFFFF"/>
          </a:solidFill>
          <a:ln w="19050">
            <a:solidFill>
              <a:srgbClr val="E02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3218688"/>
            <a:ext cx="4846320" cy="365760"/>
          </a:xfrm>
          <a:prstGeom prst="rect">
            <a:avLst/>
          </a:prstGeom>
          <a:noFill/>
        </p:spPr>
        <p:txBody>
          <a:bodyPr wrap="square" anchor="t" lIns="36576" rIns="36576" tIns="18288" bIns="18288">
            <a:spAutoFit/>
          </a:bodyPr>
          <a:lstStyle/>
          <a:p>
            <a:pPr algn="l"/>
            <a:r>
              <a:rPr sz="2000" b="1" i="0">
                <a:solidFill>
                  <a:srgbClr val="C026D3"/>
                </a:solidFill>
                <a:latin typeface="Calibri"/>
              </a:rPr>
              <a:t>¿Cuánto cuesta vs comercial?</a:t>
            </a:r>
          </a:p>
        </p:txBody>
      </p:sp>
      <p:sp>
        <p:nvSpPr>
          <p:cNvPr id="20" name="TextBox 19"/>
          <p:cNvSpPr txBox="1"/>
          <p:nvPr/>
        </p:nvSpPr>
        <p:spPr>
          <a:xfrm>
            <a:off x="6400800" y="3611880"/>
            <a:ext cx="4846320" cy="731520"/>
          </a:xfrm>
          <a:prstGeom prst="rect">
            <a:avLst/>
          </a:prstGeom>
          <a:noFill/>
        </p:spPr>
        <p:txBody>
          <a:bodyPr wrap="square" anchor="t" lIns="36576" rIns="36576" tIns="18288" bIns="18288">
            <a:spAutoFit/>
          </a:bodyPr>
          <a:lstStyle/>
          <a:p>
            <a:pPr algn="l"/>
            <a:r>
              <a:rPr sz="1800" b="0" i="0">
                <a:solidFill>
                  <a:srgbClr val="181824"/>
                </a:solidFill>
                <a:latin typeface="Calibri"/>
              </a:rPr>
              <a:t>Aún no tenemos costeo final; usamos piezas comerciales de bajo costo (servo, ESP32, PLA).</a:t>
            </a:r>
          </a:p>
        </p:txBody>
      </p:sp>
      <p:sp>
        <p:nvSpPr>
          <p:cNvPr id="21" name="Rounded Rectangle 20"/>
          <p:cNvSpPr/>
          <p:nvPr/>
        </p:nvSpPr>
        <p:spPr>
          <a:xfrm>
            <a:off x="6217920" y="4572000"/>
            <a:ext cx="5212080" cy="1325880"/>
          </a:xfrm>
          <a:prstGeom prst="roundRect">
            <a:avLst>
              <a:gd name="adj" fmla="val 3000"/>
            </a:avLst>
          </a:prstGeom>
          <a:solidFill>
            <a:srgbClr val="FFFFFF"/>
          </a:solidFill>
          <a:ln w="19050">
            <a:solidFill>
              <a:srgbClr val="E024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4681728"/>
            <a:ext cx="4846320" cy="365760"/>
          </a:xfrm>
          <a:prstGeom prst="rect">
            <a:avLst/>
          </a:prstGeom>
          <a:noFill/>
        </p:spPr>
        <p:txBody>
          <a:bodyPr wrap="square" anchor="t" lIns="36576" rIns="36576" tIns="18288" bIns="18288">
            <a:spAutoFit/>
          </a:bodyPr>
          <a:lstStyle/>
          <a:p>
            <a:pPr algn="l"/>
            <a:r>
              <a:rPr sz="2000" b="1" i="0">
                <a:solidFill>
                  <a:srgbClr val="C026D3"/>
                </a:solidFill>
                <a:latin typeface="Calibri"/>
              </a:rPr>
              <a:t>¿Cumplen menos de 100 ms?</a:t>
            </a:r>
          </a:p>
        </p:txBody>
      </p:sp>
      <p:sp>
        <p:nvSpPr>
          <p:cNvPr id="23" name="TextBox 22"/>
          <p:cNvSpPr txBox="1"/>
          <p:nvPr/>
        </p:nvSpPr>
        <p:spPr>
          <a:xfrm>
            <a:off x="6400800" y="5074920"/>
            <a:ext cx="4846320" cy="731520"/>
          </a:xfrm>
          <a:prstGeom prst="rect">
            <a:avLst/>
          </a:prstGeom>
          <a:noFill/>
        </p:spPr>
        <p:txBody>
          <a:bodyPr wrap="square" anchor="t" lIns="36576" rIns="36576" tIns="18288" bIns="18288">
            <a:spAutoFit/>
          </a:bodyPr>
          <a:lstStyle/>
          <a:p>
            <a:pPr algn="l"/>
            <a:r>
              <a:rPr sz="1800" b="0" i="0">
                <a:solidFill>
                  <a:srgbClr val="181824"/>
                </a:solidFill>
                <a:latin typeface="Calibri"/>
              </a:rPr>
              <a:t>Es el criterio de diseño; está en proceso de validación con video de alta velocidad.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