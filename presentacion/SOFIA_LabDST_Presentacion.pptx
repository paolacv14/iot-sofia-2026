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6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455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15 s</a:t>
            </a:r>
          </a:p>
          <a:p>
            <a:r>
              <a:t>Buenos días profesores y evaluadores. Presentamos SOFÍA: una pared robótica interactiva con paneles tipo panal que te siguen con la mirada y responden a tus gestos en vivo, junto con nuestras pruebas para operarla de forma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45 s</a:t>
            </a:r>
          </a:p>
          <a:p>
            <a:r>
              <a:t>Las paredes cinéticas en museos o aeropuertos cuestan millones de pesos y si alguien las toca se queman. Nuestro objetivo es crear una pared modular accesible que te siga con la mirada y se autoproteja de sobrecalentamientos.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40 s</a:t>
            </a:r>
          </a:p>
          <a:p>
            <a:r>
              <a:t>Las obras existentes como inFORM del MIT o las esculturas de aeropuertos son carísimas o solo repiten videos sin verte. SOFÍA te ve en vivo, es modular y accesible. Nuestro diferenciador clave es el estudio térmico: como el servomotor comercial NO tiene sensor interno de temperatura, medimos su calentamiento en laboratorio con termómetro láser y osciloscopio para diseñar su corte preventivo.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50 s</a:t>
            </a:r>
          </a:p>
          <a:p>
            <a:r>
              <a:t>Medimos velocidad de cámara, respuesta a gestos y calor del motor con termómetro láser, osciloscopio e instrumentos mecatrónicos. Nuestros criterios de aprobación son claros: más de 30 cuadros por segundo, respuesta en menos de 100 milisegundos y corte de seguridad en menos de 15 segundos si algo se atora.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45 s</a:t>
            </a:r>
          </a:p>
          <a:p>
            <a:r>
              <a:t>Nuestra estación de control procesa la mano a más de 30 cuadros por segundo en tiempo real. Reconoce gestos como saludos y corazones, y simulamos los 16 paneles en Unity para que se muevan coordinados sin chocar.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40 s</a:t>
            </a:r>
          </a:p>
          <a:p>
            <a:r>
              <a:t>Aquí vemos el prototipo físico real. Al detectar el saludo frente a la cámara, el panel físico responde por Bluetooth en menos de 100 milisegundos con una oscilación suave.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50 s</a:t>
            </a:r>
          </a:p>
          <a:p>
            <a:r>
              <a:t>Este es nuestro hallazgo experimental más importante: sin carga el motor no se calienta. Pero atorado con un tope, llegó a 64.8 grados en 226 segundos y a los 3 minutos supera los 60 grados, donde el plástico 3D empieza a aflojarse. Por eso diseñamos un corte automático a los 15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40 s</a:t>
            </a:r>
          </a:p>
          <a:p>
            <a:r>
              <a:t>¿Por qué SOFÍA todavía no puede operar en un museo? En el laboratorio probamos con 1 persona a 1 metro y luz controlada. En un museo hay multitud de personas cruzando manos, luz solar cambiante y se necesita un sistema embebido dentro del marco.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40 s</a:t>
            </a:r>
          </a:p>
          <a:p>
            <a:r>
              <a:t>La segunda brecha se basa en nuestros datos: un museo opera 12 horas seguidas, los niños van a jalar los pétalos requiriendo desacoples seguros, los 32 motores demandan hasta 25-30 amperes y la pared debe recuperarse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Tiempo: 40 s</a:t>
            </a:r>
          </a:p>
          <a:p>
            <a:r>
              <a:t>Atendimos las observaciones del Corte 1 con objetivos delimitados y mediciones reales de calor. Para el Corte 3 fabricaremos la PCB de potencia, el corte automático y montaremos los 16 paneles. Muchas gracias, abrimos la sesión de preguntas.</a:t>
            </a:r>
          </a:p>
          <a:p>
            <a:endParaRPr/>
          </a:p>
          <a:p>
            <a:r>
              <a:t>--- PREGUNTAS PROBABLES DE LOS JUECES Y RESPUESTAS BREVES ---</a:t>
            </a:r>
          </a:p>
          <a:p>
            <a:r>
              <a:t>1. ¿Por qué el servomotor MG90S?</a:t>
            </a:r>
          </a:p>
          <a:p>
            <a:r>
              <a:t>R: Por engranaje metálico, bajo costo comercial, accesibilidad y facilidad de reemplazo modular en 32 actuadores.</a:t>
            </a:r>
          </a:p>
          <a:p>
            <a:endParaRPr/>
          </a:p>
          <a:p>
            <a:r>
              <a:t>2. ¿Cómo detecta el atasco si el motor no tiene sensor de temperatura?</a:t>
            </a:r>
          </a:p>
          <a:p>
            <a:r>
              <a:t>R: El motor comercial NO tiene sensor térmico interno ni avisa que está forzado. En laboratorio caracterizamos su curva con termómetro láser y osciloscopio mecatrónico. En la pared final, la placa monitorea la corriente y el ESP32 corta la señal PWM tras 15 s para proteger la estructura de PLA.</a:t>
            </a:r>
          </a:p>
          <a:p>
            <a:endParaRPr/>
          </a:p>
          <a:p>
            <a:r>
              <a:t>3. ¿Cuánto cuesta frente a una pared comercial?</a:t>
            </a:r>
          </a:p>
          <a:p>
            <a:r>
              <a:t>R: Una instalación comercial cuesta cientos de miles de pesos; SOFÍA cuesta una fracción gracias a impresión 3D y componentes IoT accesibles.</a:t>
            </a:r>
          </a:p>
          <a:p>
            <a:endParaRPr/>
          </a:p>
          <a:p>
            <a:r>
              <a:t>4. ¿Qué pasa con varias personas frente a la cámara?</a:t>
            </a:r>
          </a:p>
          <a:p>
            <a:r>
              <a:t>R: Hoy prioriza a la persona más cercana al centro del encuadre; la siguiente etapa filtrará por usuario dominante.</a:t>
            </a:r>
          </a:p>
          <a:p>
            <a:endParaRPr/>
          </a:p>
          <a:p>
            <a:r>
              <a:t>5. ¿Cómo cierran la brecha hacia el espacio público real?</a:t>
            </a:r>
          </a:p>
          <a:p>
            <a:r>
              <a:t>R: Con la PCB de potencia para 25-30 A, acoples mecánicos de desacople seguro y firmware con auto-recuperación.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LABDST · ITESO · EVALUACIÓN DE SEGUNDO CORTE (OTOÑO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5400" b="1" i="0">
                <a:solidFill>
                  <a:srgbClr val="F8FAFC"/>
                </a:solidFill>
                <a:latin typeface="Calibri"/>
              </a:rPr>
              <a:t>SOFÍA: la pared que te mira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899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0" i="0">
                <a:solidFill>
                  <a:srgbClr val="94A3B8"/>
                </a:solidFill>
                <a:latin typeface="Calibri"/>
              </a:rPr>
              <a:t>Pared robótica interactiva de paneles que te siguen y hacen rutinas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5212080" cy="338328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ofia_sol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67" y="2843784"/>
            <a:ext cx="3412986" cy="3273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190488"/>
            <a:ext cx="5212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Diseño 3D de paneles móviles en panal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88920"/>
            <a:ext cx="5212080" cy="338328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odulo_fisi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3226471"/>
            <a:ext cx="5102352" cy="25081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6190488"/>
            <a:ext cx="52120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Prototipo físico montado y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Equipo 1 · Ingeniería ITESO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2DD4BF"/>
                </a:solidFill>
                <a:latin typeface="Calibri"/>
              </a:rPr>
              <a:t>RÚBRICA: PLANTEAMIENTO Y MARCO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1155680" cy="65248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 dirty="0">
                <a:solidFill>
                  <a:srgbClr val="F8FAFC"/>
                </a:solidFill>
                <a:latin typeface="Calibri"/>
              </a:rPr>
              <a:t>Las </a:t>
            </a:r>
            <a:r>
              <a:rPr sz="4000" b="1" i="0" dirty="0" err="1">
                <a:solidFill>
                  <a:srgbClr val="F8FAFC"/>
                </a:solidFill>
                <a:latin typeface="Calibri"/>
              </a:rPr>
              <a:t>paredes</a:t>
            </a:r>
            <a:r>
              <a:rPr sz="4000" b="1" i="0" dirty="0">
                <a:solidFill>
                  <a:srgbClr val="F8FAFC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8FAFC"/>
                </a:solidFill>
                <a:latin typeface="Calibri"/>
              </a:rPr>
              <a:t>interactivas</a:t>
            </a:r>
            <a:r>
              <a:rPr sz="4000" b="1" i="0" dirty="0">
                <a:solidFill>
                  <a:srgbClr val="F8FAFC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8FAFC"/>
                </a:solidFill>
                <a:latin typeface="Calibri"/>
              </a:rPr>
              <a:t>cuestan</a:t>
            </a:r>
            <a:r>
              <a:rPr sz="4000" b="1" i="0" dirty="0">
                <a:solidFill>
                  <a:srgbClr val="F8FAFC"/>
                </a:solidFill>
                <a:latin typeface="Calibri"/>
              </a:rPr>
              <a:t> </a:t>
            </a:r>
            <a:r>
              <a:rPr lang="es-419" sz="4000" b="1" i="0" dirty="0">
                <a:solidFill>
                  <a:srgbClr val="F8FAFC"/>
                </a:solidFill>
                <a:latin typeface="Calibri"/>
              </a:rPr>
              <a:t>miles</a:t>
            </a:r>
            <a:r>
              <a:rPr sz="4000" b="1" i="0" dirty="0">
                <a:solidFill>
                  <a:srgbClr val="F8FAFC"/>
                </a:solidFill>
                <a:latin typeface="Calibri"/>
              </a:rPr>
              <a:t> y se </a:t>
            </a:r>
            <a:r>
              <a:rPr sz="4000" b="1" i="0" dirty="0" err="1">
                <a:solidFill>
                  <a:srgbClr val="F8FAFC"/>
                </a:solidFill>
                <a:latin typeface="Calibri"/>
              </a:rPr>
              <a:t>queman</a:t>
            </a:r>
            <a:endParaRPr sz="4000" b="1" i="0" dirty="0">
              <a:solidFill>
                <a:srgbClr val="F8FAF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931920" cy="457200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ofia_expl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72" y="1655064"/>
            <a:ext cx="3408416" cy="4462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90488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Piezas impresas en 3D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600200"/>
            <a:ext cx="2103120" cy="109728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709928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 i="0">
                <a:solidFill>
                  <a:srgbClr val="F87171"/>
                </a:solidFill>
                <a:latin typeface="Calibri"/>
              </a:rPr>
              <a:t>💰 Carísimas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130552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Cuestan millones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00200"/>
            <a:ext cx="2103120" cy="109728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1709928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 i="0">
                <a:solidFill>
                  <a:srgbClr val="F87171"/>
                </a:solidFill>
                <a:latin typeface="Calibri"/>
              </a:rPr>
              <a:t>🔒 Motores cerrados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276856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0" i="0" dirty="0" err="1">
                <a:solidFill>
                  <a:srgbClr val="94A3B8"/>
                </a:solidFill>
                <a:latin typeface="Calibri"/>
              </a:rPr>
              <a:t>Mecánica</a:t>
            </a:r>
            <a:r>
              <a:rPr sz="15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94A3B8"/>
                </a:solidFill>
                <a:latin typeface="Calibri"/>
              </a:rPr>
              <a:t>inaccesible</a:t>
            </a:r>
            <a:endParaRPr sz="15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418320" y="1600200"/>
            <a:ext cx="2103120" cy="109728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709928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 i="0">
                <a:solidFill>
                  <a:srgbClr val="F87171"/>
                </a:solidFill>
                <a:latin typeface="Calibri"/>
              </a:rPr>
              <a:t>🔥 Se sobrecalientan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276856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Riesgo al detenerse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880360"/>
            <a:ext cx="6583680" cy="192024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2971800"/>
            <a:ext cx="61264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Calibri"/>
              </a:rPr>
              <a:t>Objetivo: crear una pared robótica accesible que te siga en tiempo real y sea segura.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703320"/>
            <a:ext cx="61264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2DD4BF"/>
                </a:solidFill>
                <a:latin typeface="Calibri"/>
              </a:rPr>
              <a:t>▸ Paneles modulares en 3D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4050791"/>
            <a:ext cx="61264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2DD4BF"/>
                </a:solidFill>
                <a:latin typeface="Calibri"/>
              </a:rPr>
              <a:t>▸ Sigan y reaccionen a gestos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398264"/>
            <a:ext cx="61264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2DD4BF"/>
                </a:solidFill>
                <a:latin typeface="Calibri"/>
              </a:rPr>
              <a:t>▸ Protegerse del sobrecalentamiento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4983480"/>
            <a:ext cx="6583680" cy="118872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5074920"/>
            <a:ext cx="6126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Corte 1: Diseño  ➔  Corte 2: Prototipo [ESTAMOS AQUÍ]  ➔  Corte 3: Pared completa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5532120"/>
            <a:ext cx="6126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Materiales: 16 módulos PLA SOFIA003, 32 servos MG90S, 64 tornillos M3, 2 PCA9685, 1 ESP32-C3 y cámara.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RÚBRICA: PLANTEAMIENTO Y MARCO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Hermosas, caras y sin 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3017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MIT inFORM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30175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  <a:latin typeface="Calibri"/>
              </a:rPr>
              <a:t>Mesas cinéticas motorizadas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3017520" cy="2743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▸ 900 barras móviles</a:t>
            </a:r>
          </a:p>
          <a:p>
            <a:pPr algn="l"/>
            <a:endParaRPr sz="22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▸ Millones de pesos en costo</a:t>
            </a:r>
          </a:p>
          <a:p>
            <a:pPr algn="l"/>
            <a:endParaRPr sz="22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▸ Atadas a un laboratorio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44805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3017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Calibri"/>
              </a:rPr>
              <a:t>Arte Comercial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30175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  <a:latin typeface="Calibri"/>
              </a:rPr>
              <a:t>Esculturas en aeropuertos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80"/>
            <a:ext cx="3017520" cy="2743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▸ Coreografía en bucle fijo</a:t>
            </a:r>
          </a:p>
          <a:p>
            <a:pPr algn="l"/>
            <a:endParaRPr sz="22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▸ Cero interacción viva</a:t>
            </a:r>
          </a:p>
          <a:p>
            <a:pPr algn="l"/>
            <a:endParaRPr sz="22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▸ No te ven ni te siguen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448056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17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000" b="1" i="0">
                <a:solidFill>
                  <a:srgbClr val="2DD4BF"/>
                </a:solidFill>
                <a:latin typeface="Calibri"/>
              </a:rPr>
              <a:t>SOFÍA (ITESO)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77440"/>
            <a:ext cx="30175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 i="1">
                <a:solidFill>
                  <a:srgbClr val="F59E0B"/>
                </a:solidFill>
                <a:latin typeface="Calibri"/>
              </a:rPr>
              <a:t>Pared interactiva inteligente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834640"/>
            <a:ext cx="301752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Calibri"/>
              </a:rPr>
              <a:t>⭐ Te ve y te sigue en vivo</a:t>
            </a:r>
          </a:p>
          <a:p>
            <a:pPr algn="l"/>
            <a:r>
              <a:rPr sz="1800" b="1" i="0">
                <a:solidFill>
                  <a:srgbClr val="F8FAFC"/>
                </a:solidFill>
                <a:latin typeface="Calibri"/>
              </a:rPr>
              <a:t>⭐ Modular en 3D (16 módulos)</a:t>
            </a:r>
          </a:p>
          <a:p>
            <a:pPr algn="l"/>
            <a:r>
              <a:rPr sz="1800" b="1" i="0">
                <a:solidFill>
                  <a:srgbClr val="F8FAFC"/>
                </a:solidFill>
                <a:latin typeface="Calibri"/>
              </a:rPr>
              <a:t>⭐ Sin sensor interno: medido con láser y osciloscopio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526280"/>
            <a:ext cx="2926080" cy="150876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ofia_sol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769" y="4581144"/>
            <a:ext cx="1458622" cy="1399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RÚBRICA: DISEÑO DE LA INVESTIGACIÓN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Tres cosas medidas, tres líneas rojas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📷 Cámara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Te ve en vivo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167127"/>
            <a:ext cx="274320" cy="0"/>
          </a:xfrm>
          <a:prstGeom prst="line">
            <a:avLst/>
          </a:prstGeom>
          <a:ln w="25400">
            <a:solidFill>
              <a:srgbClr val="2DD4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64592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1755648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💻 Software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176272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Detecta tu mano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37760" y="2167127"/>
            <a:ext cx="274320" cy="0"/>
          </a:xfrm>
          <a:prstGeom prst="line">
            <a:avLst/>
          </a:prstGeom>
          <a:ln w="25400">
            <a:solidFill>
              <a:srgbClr val="2DD4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164592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755648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📶 Bluetooth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76272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Sin cables 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8040" y="2167127"/>
            <a:ext cx="274320" cy="0"/>
          </a:xfrm>
          <a:prstGeom prst="line">
            <a:avLst/>
          </a:prstGeom>
          <a:ln w="25400">
            <a:solidFill>
              <a:srgbClr val="2DD4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52360" y="164592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1755648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⚡ ESP32 + 2x PCA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176272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Control 32 canales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18320" y="2167127"/>
            <a:ext cx="274320" cy="0"/>
          </a:xfrm>
          <a:prstGeom prst="line">
            <a:avLst/>
          </a:prstGeom>
          <a:ln w="25400">
            <a:solidFill>
              <a:srgbClr val="2DD4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92640" y="164592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1755648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🌸 16 Paneles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76272"/>
            <a:ext cx="1965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32 servos MG90S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9718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154680"/>
            <a:ext cx="3017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1. Qué medimos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749040"/>
            <a:ext cx="3017520" cy="2103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Calibri"/>
              </a:rPr>
              <a:t>▸ Velocidad de cámara</a:t>
            </a:r>
          </a:p>
          <a:p>
            <a:pPr algn="l"/>
            <a:endParaRPr sz="2200" b="0" i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94A3B8"/>
                </a:solidFill>
                <a:latin typeface="Calibri"/>
              </a:rPr>
              <a:t>▸ Respuesta al saludo</a:t>
            </a:r>
          </a:p>
          <a:p>
            <a:pPr algn="l"/>
            <a:endParaRPr sz="2200" b="0" i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94A3B8"/>
                </a:solidFill>
                <a:latin typeface="Calibri"/>
              </a:rPr>
              <a:t>▸ Calor del motor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29718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3154680"/>
            <a:ext cx="3017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Calibri"/>
              </a:rPr>
              <a:t>2. Con qué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749040"/>
            <a:ext cx="3017520" cy="2103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▸ Cámara web HD</a:t>
            </a:r>
          </a:p>
          <a:p>
            <a:pPr algn="l"/>
            <a:endParaRPr sz="1900" b="0" i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▸ Termómetro láser y osciloscopio</a:t>
            </a:r>
          </a:p>
          <a:p>
            <a:pPr algn="l"/>
            <a:endParaRPr sz="1900" b="0" i="0">
              <a:solidFill>
                <a:srgbClr val="94A3B8"/>
              </a:solidFill>
              <a:latin typeface="Calibri"/>
            </a:endParaRPr>
          </a:p>
          <a:p>
            <a:pPr algn="l"/>
            <a:r>
              <a:rPr sz="1900" b="0" i="0">
                <a:solidFill>
                  <a:srgbClr val="94A3B8"/>
                </a:solidFill>
                <a:latin typeface="Calibri"/>
              </a:rPr>
              <a:t>▸ Sin sensor en motor (banco con tope)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9718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3154680"/>
            <a:ext cx="3017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  <a:latin typeface="Calibri"/>
              </a:rPr>
              <a:t>3. Aprobamos 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749040"/>
            <a:ext cx="3017520" cy="2103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Calibri"/>
              </a:rPr>
              <a:t>⭐ &gt; 30 FPS y &lt; 100 ms</a:t>
            </a:r>
          </a:p>
          <a:p>
            <a:pPr algn="l"/>
            <a:endParaRPr sz="2200" b="1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200" b="1" i="0">
                <a:solidFill>
                  <a:srgbClr val="F8FAFC"/>
                </a:solidFill>
                <a:latin typeface="Calibri"/>
              </a:rPr>
              <a:t>⭐ Bajo 55 °C</a:t>
            </a:r>
          </a:p>
          <a:p>
            <a:pPr algn="l"/>
            <a:endParaRPr sz="2200" b="1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200" b="1" i="0">
                <a:solidFill>
                  <a:srgbClr val="F8FAFC"/>
                </a:solidFill>
                <a:latin typeface="Calibri"/>
              </a:rPr>
              <a:t>⭐ Corte antes de 15 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RÚBRICA: DESARROLLO Y RESULTADOS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Te sigue la mano a más de 30 cuadros por segundo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5/10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48056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ofia_g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5" y="1700784"/>
            <a:ext cx="6656089" cy="4370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44768"/>
            <a:ext cx="68580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Estación de control en tiempo real (PySide6)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737360"/>
            <a:ext cx="36576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6000" b="1" i="0">
                <a:solidFill>
                  <a:srgbClr val="2DD4BF"/>
                </a:solidFill>
                <a:latin typeface="Calibri"/>
              </a:rPr>
              <a:t>30+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60320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Visión fluida en tiempo real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291840"/>
            <a:ext cx="3657600" cy="12801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3401568"/>
            <a:ext cx="32918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Gestos reconocidos: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794760"/>
            <a:ext cx="32918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Calibri"/>
              </a:rPr>
              <a:t>👋 Saludo   ·   💖 Corazón   ·   👊 Puño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754880"/>
            <a:ext cx="1737360" cy="137160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ig_sim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5010255"/>
            <a:ext cx="1627632" cy="86084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784080" y="4754880"/>
            <a:ext cx="1737360" cy="137160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ig_sim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4" y="5011681"/>
            <a:ext cx="1627632" cy="857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RÚBRICA: DESARROLLO Y RESULTADOS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Saludas, y el panel te contesta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347472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dulo_fis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780958"/>
            <a:ext cx="2450592" cy="12046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138928"/>
            <a:ext cx="25603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1. Módulo físico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60320" cy="347472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ofia_salud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2693361"/>
            <a:ext cx="2450592" cy="13798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4720" y="5138928"/>
            <a:ext cx="25603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2. Gesto detectado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60320" cy="347472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5138928"/>
            <a:ext cx="25603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3. Panel oscilando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560320" cy="347472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ofia_salud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2729937"/>
            <a:ext cx="2450592" cy="13798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5138928"/>
            <a:ext cx="25603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4. Retorno a centro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80"/>
            <a:ext cx="10789920" cy="8229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 i="0">
                <a:solidFill>
                  <a:srgbClr val="F8FAFC"/>
                </a:solidFill>
                <a:latin typeface="Calibri"/>
              </a:rPr>
              <a:t>⚡ Enlace Bluetooth sin cables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62356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 i="0">
                <a:solidFill>
                  <a:srgbClr val="F8FAFC"/>
                </a:solidFill>
                <a:latin typeface="Calibri"/>
              </a:rPr>
              <a:t>⏱️ Respuesta en menos de 100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62356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 i="0">
                <a:solidFill>
                  <a:srgbClr val="F8FAFC"/>
                </a:solidFill>
                <a:latin typeface="Calibri"/>
              </a:rPr>
              <a:t>🔄 Movimiento suave y sincronizado</a:t>
            </a:r>
          </a:p>
        </p:txBody>
      </p:sp>
      <p:pic>
        <p:nvPicPr>
          <p:cNvPr id="13" name="Picture 12" descr="sofia_saludo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2734111"/>
            <a:ext cx="2450592" cy="13897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RÚBRICA: DESARROLLO Y RESULTADOS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Si un panel se atora, en 3 minutos se quema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48056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therm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634396"/>
            <a:ext cx="6748272" cy="2503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44768"/>
            <a:ext cx="68580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Medición en banco con termómetro láser y osciloscopio (el motor no tiene sensor interno)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737360"/>
            <a:ext cx="365760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6000" b="1" i="0">
                <a:solidFill>
                  <a:srgbClr val="F87171"/>
                </a:solidFill>
                <a:latin typeface="Calibri"/>
              </a:rPr>
              <a:t>64.8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14600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a los 226 s (engrane forzándose)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20040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3291840"/>
            <a:ext cx="365760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6000" b="1" i="0">
                <a:solidFill>
                  <a:srgbClr val="F59E0B"/>
                </a:solidFill>
                <a:latin typeface="Calibri"/>
              </a:rPr>
              <a:t>3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069080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pasa de 60 °C (plástico se afloja)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75488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4937760"/>
            <a:ext cx="329184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 i="0">
                <a:solidFill>
                  <a:srgbClr val="2DD4BF"/>
                </a:solidFill>
                <a:latin typeface="Calibri"/>
              </a:rPr>
              <a:t>Por eso diseñamos un corte automático a los 15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RÚBRICA: BRECHA CON EL ENTORNO REAL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El laboratorio es fácil. Un museo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54864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</a:rPr>
              <a:t>Hoy en Laboratorio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54864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212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Exigencia de un Museo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4754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👤 1 persona quieta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754880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F8FAFC"/>
                </a:solidFill>
                <a:latin typeface="Calibri"/>
              </a:rPr>
              <a:t>👥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Multitud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de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visitantes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cruzando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manos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60"/>
            <a:ext cx="4754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💡 Luz controlada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4754880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☀️ Sol directo, reflejos y sombras dinámicas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4754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📏 Distancia fija a 1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8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📐 Público pasando a 3 o 5 metros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5780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486400"/>
            <a:ext cx="4754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💻 Laptop con cables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25780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5486400"/>
            <a:ext cx="4754880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📦 Sistema embebido oculto en el marco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RÚBRICA: BRECHA CON EL ENTORNO REAL (20%)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10 minutos vs 12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54864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</a:rPr>
              <a:t>Nuestros Datos de Prueba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54864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212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 i="0">
                <a:solidFill>
                  <a:srgbClr val="F87171"/>
                </a:solidFill>
                <a:latin typeface="Calibri"/>
              </a:rPr>
              <a:t>Exigencia de un Museo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4754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⏱️ Pruebas de 10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754880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F8FAFC"/>
                </a:solidFill>
                <a:latin typeface="Calibri"/>
              </a:rPr>
              <a:t>⏳ 8 a 12 horas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diarias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ininterrumpidas</a:t>
            </a:r>
            <a:endParaRPr sz="2000" b="1" i="0" dirty="0">
              <a:solidFill>
                <a:srgbClr val="F8FAFC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60"/>
            <a:ext cx="4754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🚫 Nadie toca la pared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4754880" cy="65248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F8FAFC"/>
                </a:solidFill>
                <a:latin typeface="Calibri"/>
              </a:rPr>
              <a:t>👶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Niños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jalando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pétalos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(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acople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que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se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zafe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4754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🔌 1 módulo probado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8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754880" cy="65248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F8FAFC"/>
                </a:solidFill>
                <a:latin typeface="Calibri"/>
              </a:rPr>
              <a:t>⚡ 32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motores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hasta 25-30 A (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fuente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industrial)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5780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486400"/>
            <a:ext cx="4754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🛠️ Reinicia un ingeniero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25780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6492240" y="5486400"/>
            <a:ext cx="4754880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F8FAFC"/>
                </a:solidFill>
                <a:latin typeface="Calibri"/>
              </a:rPr>
              <a:t>🔄 Se auto-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recupera</a:t>
            </a:r>
            <a:r>
              <a:rPr sz="2000" b="1" i="0" dirty="0">
                <a:solidFill>
                  <a:srgbClr val="F8FAFC"/>
                </a:solidFill>
                <a:latin typeface="Calibri"/>
              </a:rPr>
              <a:t> sola ante </a:t>
            </a:r>
            <a:r>
              <a:rPr sz="2000" b="1" i="0" dirty="0" err="1">
                <a:solidFill>
                  <a:srgbClr val="F8FAFC"/>
                </a:solidFill>
                <a:latin typeface="Calibri"/>
              </a:rPr>
              <a:t>fallas</a:t>
            </a:r>
            <a:endParaRPr sz="2000" b="1" i="0" dirty="0">
              <a:solidFill>
                <a:srgbClr val="F8FAF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Calibri"/>
              </a:rPr>
              <a:t>RÚBRICA: REVISIÓN Y PASOS (10%)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Calibri"/>
              </a:rPr>
              <a:t>De prototipo a pared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Calibri"/>
              </a:rPr>
              <a:t>10/10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  <a:latin typeface="Calibri"/>
              </a:rPr>
              <a:t>Corregimos del Corte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663440" cy="2926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▸ Objetivos claros y delimitados</a:t>
            </a:r>
          </a:p>
          <a:p>
            <a:pPr algn="l"/>
            <a:endParaRPr sz="22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▸ Mediciones con termómetro láser y osciloscopio</a:t>
            </a:r>
          </a:p>
          <a:p>
            <a:pPr algn="l"/>
            <a:endParaRPr sz="2200" b="0" i="0">
              <a:solidFill>
                <a:srgbClr val="F8FAFC"/>
              </a:solidFill>
              <a:latin typeface="Calibri"/>
            </a:endParaRPr>
          </a:p>
          <a:p>
            <a:pPr algn="l"/>
            <a:r>
              <a:rPr sz="2200" b="0" i="0">
                <a:solidFill>
                  <a:srgbClr val="F8FAFC"/>
                </a:solidFill>
                <a:latin typeface="Calibri"/>
              </a:rPr>
              <a:t>▸ Comparativa internacional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24335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Para el Corte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66344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▸ PCB de potencia definitiva</a:t>
            </a:r>
          </a:p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▸ Apagado automático por software</a:t>
            </a:r>
          </a:p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▸ Colmena completa de 16 paneles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3840480"/>
            <a:ext cx="4480560" cy="1371600"/>
          </a:xfrm>
          <a:prstGeom prst="roundRect">
            <a:avLst>
              <a:gd name="adj" fmla="val 3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C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166" y="3895344"/>
            <a:ext cx="1821284" cy="12618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0528" y="5230368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1" dirty="0" err="1">
                <a:solidFill>
                  <a:srgbClr val="94A3B8"/>
                </a:solidFill>
                <a:latin typeface="Calibri"/>
              </a:rPr>
              <a:t>Diseño</a:t>
            </a:r>
            <a:r>
              <a:rPr sz="1300" b="0" i="1" dirty="0">
                <a:solidFill>
                  <a:srgbClr val="94A3B8"/>
                </a:solidFill>
                <a:latin typeface="Calibri"/>
              </a:rPr>
              <a:t> PCB de </a:t>
            </a:r>
            <a:r>
              <a:rPr sz="1300" b="0" i="1" dirty="0" err="1">
                <a:solidFill>
                  <a:srgbClr val="94A3B8"/>
                </a:solidFill>
                <a:latin typeface="Calibri"/>
              </a:rPr>
              <a:t>potencia</a:t>
            </a:r>
            <a:r>
              <a:rPr sz="1300" b="0" i="1" dirty="0">
                <a:solidFill>
                  <a:srgbClr val="94A3B8"/>
                </a:solidFill>
                <a:latin typeface="Calibri"/>
              </a:rPr>
              <a:t> para 32 </a:t>
            </a:r>
            <a:r>
              <a:rPr sz="1300" b="0" i="1" dirty="0" err="1">
                <a:solidFill>
                  <a:srgbClr val="94A3B8"/>
                </a:solidFill>
                <a:latin typeface="Calibri"/>
              </a:rPr>
              <a:t>motores</a:t>
            </a:r>
            <a:endParaRPr sz="1300" b="0" i="1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10698480" cy="64008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833872"/>
            <a:ext cx="7772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2DD4BF"/>
                </a:solidFill>
                <a:latin typeface="Calibri"/>
              </a:rPr>
              <a:t>github.com/PaolaCV14/IOT-SOFIA-2026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833872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2200" b="1" i="0">
                <a:solidFill>
                  <a:srgbClr val="F8FAFC"/>
                </a:solidFill>
                <a:latin typeface="Calibri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1461</Words>
  <Application>Microsoft Macintosh PowerPoint</Application>
  <PresentationFormat>Panorámica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OROZCO QUIRARTE, JUAN BERNARDO</cp:lastModifiedBy>
  <cp:revision>5</cp:revision>
  <dcterms:created xsi:type="dcterms:W3CDTF">2013-01-27T09:14:16Z</dcterms:created>
  <dcterms:modified xsi:type="dcterms:W3CDTF">2026-10-19T08:26:13Z</dcterms:modified>
  <cp:category/>
</cp:coreProperties>
</file>