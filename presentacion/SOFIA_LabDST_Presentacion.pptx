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Presentación (10 s): Somos el Equipo 1 de LabDST. Hoy presentamos SOFIA, una superficie cinética modular que responde a gestos humanos, y lo que descubrimos sobre sus servomotores.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(45 s) SOFIA son 16 módulos con 2 grados de libertad: 32 servos MG90S. El servo comercial trae su control interno encapsulado, no lo vemos. Si un módulo se atora, el error de posición persiste, el motor jala corriente máxima y se calienta. En un arreglo denso eso es riesgo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(45 s) Nuestra pregunta rectora: ¿el error de posición persistente en un MG90S produce una firma térmica identificable que limite el tiempo seguro de sostén? Para responderla tenemos 4 objetivos medibles.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(40 s) inFORM y Transform tienen cientos de actuadores lineales pero asumen que el actuador siempre llega a su posición. SOFIA es más pequeño pero se enfoca en lo que ellos ignoran: qué pasa cuando el actuador se atora y cuánta temperatura genera.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(60 s) Una cámara alimenta un pipeline en Python con MediaPipe. El software decide ángulos q1 y q2 y los manda por BLE a un ESP32-C3. El ESP32 comanda dos PCA9685 por I2C que generan los 32 PWM. Los servos van a un riel de 5 V con un INA219 midiendo corriente.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(30 s) Aquí el diseño mecánico: base, mecanismo central y tapa hexagonal; todo impreso en PLA. A la derecha, esquemático y layout de la PCB que integra potencia, comunicación y los 32 servos; ya está enviada a fabricación, falta validarla físicamente.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(50 s) MediaPipe extrae 33 puntos del cuerpo y 21 por mano. Normalizamos por el tamaño de la palma para no depender de la distancia. Un detector decide entre gestos estáticos, como corazón o piedra-papel-tijera, y dinámicos, como el saludo, que se detecta por inversiones laterales de la palma. La GUI muestra FPS y latencia.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(45 s) Cada módulo es una cadena de dos rotaciones: R = Rx(q1)·Ry(q2). Despejamos la cinemática inversa en forma cerrada, q2 = arcsin(ux) y q1 = atan2(-uy, uz), con saturación a los límites del servo. En Unity simulamos los 16 módulos apuntando hacia un objetivo móvil.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(60 s) Bloqueamos mecánicamente el servo y medimos temperatura con un LM35. Resultado: calentamiento casi lineal de 0.214 grados por segundo, con R cuadrada de 0.993. La corriente de bloqueo es de unos 918 mA, y la carcasa llegó a 70.2 grados. Al ritmo medido, en unos 205 s se cruza el umbral de 65 grados, donde el plástico empieza a ablandarse. Por eso proponemos un watchdog de 15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(50 s) La curva térmica sola no distingue bang-bang de proporcional saturado, porque ambos meten voltaje máximo al bloqueo. Por eso medimos corriente en tres condiciones: error de 5 grados, 90 grados y bloqueo. Con 5 grados hay un pico breve y vuelve a reposo en 3 mA; con 90 grados dura más; en bloqueo satura. Conclusión: es proporcional con zona muerta, que satura solo cuando algo lo traba.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(45 s) Ya integramos todo en el prototipo físico: la cámara detecta el gesto, la GUI manda por BLE al ESP32 y el módulo ejecuta. Aquí la rutina SALUDO en tres etapas. Los logs confirman conexión BLE, comandos de ángulos durante el tracking y envío de las rutinas SALUDO y CORAZÓN. Aclaramos que esto es evidencia cualitativa: falta medir precisión y latencia con cámara de alta velocidad.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(50 s) Con lo medido, proponemos protecciones: limitar ángulos al rango verificado, y un watchdog que, si hay bloqueo o desviación sostenida por más de 15 s, suspende el PWM de ese canal; el eje queda libre y deja de calentarse. El siguiente paso es el protocolo de seguimiento mano-servo: 10 repeticiones, error angular en grados, retardo en ms y ángulo real medido con video de alta velocidad.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(30 s) En resumen: SOFIA integra visión y robótica modular; el bloqueo calienta 0.214 grados por segundo; el servo es proporcional con zona muerta y no bang-bang; y ya tenemos prototipo físico respondiendo a gestos. Lo que sigue es cuantificar el seguimiento y escalar. Gracias; con gusto respondemos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y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0" y="0"/>
            <a:ext cx="4507992" cy="6858000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138160" y="640080"/>
            <a:ext cx="35661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ofia_sol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548" y="731520"/>
            <a:ext cx="3241384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38160" y="4114800"/>
            <a:ext cx="3566160" cy="1920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odulo_fisi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4243355"/>
            <a:ext cx="3383280" cy="166312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  <a:latin typeface="Calibri"/>
              </a:rPr>
              <a:t>LABDST · ITESO · AVANCES SEGUNDO CORTE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685800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0" b="1" i="0">
                <a:solidFill>
                  <a:srgbClr val="F1F5F9"/>
                </a:solidFill>
                <a:latin typeface="Calibri"/>
              </a:rPr>
              <a:t>SOFIA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676656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0">
                <a:solidFill>
                  <a:srgbClr val="F1F5F9"/>
                </a:solidFill>
                <a:latin typeface="Calibri"/>
              </a:rPr>
              <a:t>Superficie robótica cinética modular para interacción humano-robot y caracterización térmica de actuadores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931920"/>
            <a:ext cx="109728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6858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EQUIPO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685800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F1F5F9"/>
                </a:solidFill>
                <a:latin typeface="Calibri"/>
              </a:rPr>
              <a:t>Paola M. Covarrubias-Viveros · Lizeth A. Méndez-Ortiz</a:t>
            </a:r>
          </a:p>
          <a:p>
            <a:pPr algn="l"/>
            <a:r>
              <a:rPr sz="1700" b="0" i="0">
                <a:solidFill>
                  <a:srgbClr val="F1F5F9"/>
                </a:solidFill>
                <a:latin typeface="Calibri"/>
              </a:rPr>
              <a:t>Juan Bernardo Orozco-Quirarte · Karen I. Sánchez-García</a:t>
            </a:r>
          </a:p>
          <a:p>
            <a:pPr algn="l"/>
            <a:r>
              <a:rPr sz="1700" b="0" i="0">
                <a:solidFill>
                  <a:srgbClr val="F1F5F9"/>
                </a:solidFill>
                <a:latin typeface="Calibri"/>
              </a:rPr>
              <a:t>Alan E. Fuentes-Gutiérrez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760720"/>
            <a:ext cx="6858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Con: Jorge A. Lizarraga · Graciela Baca · Luis E. González-Jiménez · Luis F. Luque-Vega</a:t>
            </a:r>
          </a:p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Depto. de Procesos Tecnológicos e Industriales, ITESO · Otoño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  <a:latin typeface="Calibri"/>
              </a:rPr>
              <a:t>CONTEXTO Y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Una superficie que responde… hasta que se calienta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SOFIA · LabDST · ITESO · Otoño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2651760" cy="7543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2DD4BF"/>
                </a:solidFill>
                <a:latin typeface="Calibr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95728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50" b="0" i="0">
                <a:solidFill>
                  <a:srgbClr val="94A3B8"/>
                </a:solidFill>
                <a:latin typeface="Calibri"/>
              </a:rPr>
              <a:t>módulos en panal hexagonal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60020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691640"/>
            <a:ext cx="2651760" cy="7543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F59E0B"/>
                </a:solidFill>
                <a:latin typeface="Calibri"/>
              </a:rPr>
              <a:t>2 GDL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395728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50" b="0" i="0">
                <a:solidFill>
                  <a:srgbClr val="94A3B8"/>
                </a:solidFill>
                <a:latin typeface="Calibri"/>
              </a:rPr>
              <a:t>por módulo (cabeceo + giro)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0020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691640"/>
            <a:ext cx="2651760" cy="7543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2DD4B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395728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50" b="0" i="0">
                <a:solidFill>
                  <a:srgbClr val="94A3B8"/>
                </a:solidFill>
                <a:latin typeface="Calibri"/>
              </a:rPr>
              <a:t>servomotores MG90S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91840"/>
            <a:ext cx="84124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DD4BF"/>
                </a:solidFill>
                <a:latin typeface="Calibri"/>
              </a:rPr>
              <a:t>▸ </a:t>
            </a:r>
            <a:r>
              <a:rPr b="1" sz="1800">
                <a:solidFill>
                  <a:srgbClr val="F1F5F9"/>
                </a:solidFill>
                <a:latin typeface="Calibri"/>
              </a:rPr>
              <a:t>Control encapsulado: </a:t>
            </a:r>
            <a:r>
              <a:rPr sz="1800">
                <a:solidFill>
                  <a:srgbClr val="94A3B8"/>
                </a:solidFill>
                <a:latin typeface="Calibri"/>
              </a:rPr>
              <a:t>el lazo interno del servo comercial es inaccesible; solo vemos el PWM de 50 Hz.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DD4BF"/>
                </a:solidFill>
                <a:latin typeface="Calibri"/>
              </a:rPr>
              <a:t>▸ </a:t>
            </a:r>
            <a:r>
              <a:rPr b="1" sz="1800">
                <a:solidFill>
                  <a:srgbClr val="F1F5F9"/>
                </a:solidFill>
                <a:latin typeface="Calibri"/>
              </a:rPr>
              <a:t>Error persistente: </a:t>
            </a:r>
            <a:r>
              <a:rPr sz="1800">
                <a:solidFill>
                  <a:srgbClr val="94A3B8"/>
                </a:solidFill>
                <a:latin typeface="Calibri"/>
              </a:rPr>
              <a:t>tolerancias, choques entre módulos u obstáculos impiden llegar a la consigna.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DD4BF"/>
                </a:solidFill>
                <a:latin typeface="Calibri"/>
              </a:rPr>
              <a:t>▸ </a:t>
            </a:r>
            <a:r>
              <a:rPr b="1" sz="1800">
                <a:solidFill>
                  <a:srgbClr val="F1F5F9"/>
                </a:solidFill>
                <a:latin typeface="Calibri"/>
              </a:rPr>
              <a:t>Consecuencia: </a:t>
            </a:r>
            <a:r>
              <a:rPr sz="1800">
                <a:solidFill>
                  <a:srgbClr val="94A3B8"/>
                </a:solidFill>
                <a:latin typeface="Calibri"/>
              </a:rPr>
              <a:t>corriente de bloqueo, calentamiento y degradación (el PLA se ablanda ≈ 60 °C).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DD4BF"/>
                </a:solidFill>
                <a:latin typeface="Calibri"/>
              </a:rPr>
              <a:t>▸ </a:t>
            </a:r>
            <a:r>
              <a:rPr b="1" sz="1800">
                <a:solidFill>
                  <a:srgbClr val="F1F5F9"/>
                </a:solidFill>
                <a:latin typeface="Calibri"/>
              </a:rPr>
              <a:t>Pregunta clave: </a:t>
            </a:r>
            <a:r>
              <a:rPr sz="1800">
                <a:solidFill>
                  <a:srgbClr val="94A3B8"/>
                </a:solidFill>
                <a:latin typeface="Calibri"/>
              </a:rPr>
              <a:t>¿el servo se comporta como bang-bang o como control proporcional saturado?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60020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ofia_expl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509506"/>
            <a:ext cx="2103120" cy="27533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  <a:latin typeface="Calibri"/>
              </a:rPr>
              <a:t>QUÉ QUEREMOS DEMOSTRAR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Pregunta de investigación y objetivos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SOFIA · LabDST · ITESO · Otoño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1064240" cy="132588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27632"/>
            <a:ext cx="10515600" cy="11887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300" b="1" i="0">
                <a:solidFill>
                  <a:srgbClr val="F1F5F9"/>
                </a:solidFill>
                <a:latin typeface="Calibri"/>
              </a:rPr>
              <a:t>¿Un error de posición persistente en un servo MG90S produce una firma térmica identificable que acote el tiempo seguro de sostén de un módulo SOFIA?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5468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3154680"/>
            <a:ext cx="822960" cy="1417320"/>
          </a:xfrm>
          <a:prstGeom prst="roundRect">
            <a:avLst>
              <a:gd name="adj" fmla="val 1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154680"/>
            <a:ext cx="822960" cy="1417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000" b="1" i="0">
                <a:solidFill>
                  <a:srgbClr val="0B1220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264408"/>
            <a:ext cx="43891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Evaluar el actuador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703320"/>
            <a:ext cx="438912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50" b="0" i="0">
                <a:solidFill>
                  <a:srgbClr val="94A3B8"/>
                </a:solidFill>
                <a:latin typeface="Calibri"/>
              </a:rPr>
              <a:t>Rango angular 19.3°–70.2° y tiempos de asentamiento 75–180 ms (PWM 50 Hz)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15468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3154680"/>
            <a:ext cx="822960" cy="1417320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3154680"/>
            <a:ext cx="822960" cy="1417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000" b="1" i="0">
                <a:solidFill>
                  <a:srgbClr val="0B1220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264408"/>
            <a:ext cx="43891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Modelar la térmica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703320"/>
            <a:ext cx="438912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50" b="0" i="0">
                <a:solidFill>
                  <a:srgbClr val="94A3B8"/>
                </a:solidFill>
                <a:latin typeface="Calibri"/>
              </a:rPr>
              <a:t>Pendiente de calentamiento bajo bloqueo y límite seguro &gt; 65 °C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5488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4754880"/>
            <a:ext cx="822960" cy="1417320"/>
          </a:xfrm>
          <a:prstGeom prst="roundRect">
            <a:avLst>
              <a:gd name="adj" fmla="val 1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754880"/>
            <a:ext cx="822960" cy="1417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000" b="1" i="0">
                <a:solidFill>
                  <a:srgbClr val="0B1220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864608"/>
            <a:ext cx="43891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Validar la percepción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303520"/>
            <a:ext cx="438912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50" b="0" i="0">
                <a:solidFill>
                  <a:srgbClr val="94A3B8"/>
                </a:solidFill>
                <a:latin typeface="Calibri"/>
              </a:rPr>
              <a:t>Pose 3D + 21 puntos de mano con MediaPipe a ≥ 30 FPS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75488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72200" y="4754880"/>
            <a:ext cx="822960" cy="1417320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4754880"/>
            <a:ext cx="822960" cy="1417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000" b="1" i="0">
                <a:solidFill>
                  <a:srgbClr val="0B1220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4864608"/>
            <a:ext cx="43891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Simular la cinemática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5303520"/>
            <a:ext cx="438912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50" b="0" i="0">
                <a:solidFill>
                  <a:srgbClr val="94A3B8"/>
                </a:solidFill>
                <a:latin typeface="Calibri"/>
              </a:rPr>
              <a:t>Cinemática 2-GDL y seguimiento coordinado de los 16 módulos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  <a:latin typeface="Calibri"/>
              </a:rPr>
              <a:t>ESTADO DEL ARTE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Qué nos diferencia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SOFIA · LabDST · ITESO · Otoño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2240280" cy="5212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224028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B1220"/>
                </a:solidFill>
                <a:latin typeface="Calibri"/>
              </a:rPr>
              <a:t>Plataforma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1600200"/>
            <a:ext cx="1965960" cy="5212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600200"/>
            <a:ext cx="196596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B1220"/>
                </a:solidFill>
                <a:latin typeface="Calibri"/>
              </a:rPr>
              <a:t>Unidades (GDL)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46320" y="1600200"/>
            <a:ext cx="1965960" cy="5212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600200"/>
            <a:ext cx="196596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B1220"/>
                </a:solidFill>
                <a:latin typeface="Calibri"/>
              </a:rPr>
              <a:t>Rango / GDL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600200"/>
            <a:ext cx="2331720" cy="5212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1600200"/>
            <a:ext cx="233172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B1220"/>
                </a:solidFill>
                <a:latin typeface="Calibri"/>
              </a:rPr>
              <a:t>Actuador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35440" y="1600200"/>
            <a:ext cx="2331720" cy="5212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33172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B1220"/>
                </a:solidFill>
                <a:latin typeface="Calibri"/>
              </a:rPr>
              <a:t>Latencia / tasa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167128"/>
            <a:ext cx="2240280" cy="521208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167128"/>
            <a:ext cx="224028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F1F5F9"/>
                </a:solidFill>
                <a:latin typeface="Calibri"/>
              </a:rPr>
              <a:t>inFORM (MIT)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34640" y="2167128"/>
            <a:ext cx="1965960" cy="521208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34640" y="2167128"/>
            <a:ext cx="196596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F1F5F9"/>
                </a:solidFill>
                <a:latin typeface="Calibri"/>
              </a:rPr>
              <a:t>900 (1-GDL)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2167128"/>
            <a:ext cx="1965960" cy="521208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167128"/>
            <a:ext cx="196596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F1F5F9"/>
                </a:solidFill>
                <a:latin typeface="Calibri"/>
              </a:rPr>
              <a:t>100 mm lineal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0" y="2167128"/>
            <a:ext cx="2331720" cy="521208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167128"/>
            <a:ext cx="233172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F1F5F9"/>
                </a:solidFill>
                <a:latin typeface="Calibri"/>
              </a:rPr>
              <a:t>Pin motorizado DC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2167128"/>
            <a:ext cx="2331720" cy="521208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2167128"/>
            <a:ext cx="233172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F1F5F9"/>
                </a:solidFill>
                <a:latin typeface="Calibri"/>
              </a:rPr>
              <a:t>≈ 60 Hz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2734056"/>
            <a:ext cx="2240280" cy="521208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734056"/>
            <a:ext cx="224028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F1F5F9"/>
                </a:solidFill>
                <a:latin typeface="Calibri"/>
              </a:rPr>
              <a:t>Transform (MIT)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34640" y="2734056"/>
            <a:ext cx="1965960" cy="521208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34640" y="2734056"/>
            <a:ext cx="196596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F1F5F9"/>
                </a:solidFill>
                <a:latin typeface="Calibri"/>
              </a:rPr>
              <a:t>1,152 (1-GDL)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2734056"/>
            <a:ext cx="1965960" cy="521208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0" y="2734056"/>
            <a:ext cx="196596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F1F5F9"/>
                </a:solidFill>
                <a:latin typeface="Calibri"/>
              </a:rPr>
              <a:t>100 mm lineal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0" y="2734056"/>
            <a:ext cx="2331720" cy="521208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2734056"/>
            <a:ext cx="233172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F1F5F9"/>
                </a:solidFill>
                <a:latin typeface="Calibri"/>
              </a:rPr>
              <a:t>Gearmotor DC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35440" y="2734056"/>
            <a:ext cx="2331720" cy="521208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35440" y="2734056"/>
            <a:ext cx="233172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F1F5F9"/>
                </a:solidFill>
                <a:latin typeface="Calibri"/>
              </a:rPr>
              <a:t>≈ 30 Hz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300984"/>
            <a:ext cx="2240280" cy="521208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300984"/>
            <a:ext cx="224028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F1F5F9"/>
                </a:solidFill>
                <a:latin typeface="Calibri"/>
              </a:rPr>
              <a:t>Celdas modulares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34640" y="3300984"/>
            <a:ext cx="1965960" cy="521208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34640" y="3300984"/>
            <a:ext cx="196596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F1F5F9"/>
                </a:solidFill>
                <a:latin typeface="Calibri"/>
              </a:rPr>
              <a:t>Variable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46320" y="3300984"/>
            <a:ext cx="1965960" cy="521208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46320" y="3300984"/>
            <a:ext cx="196596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F1F5F9"/>
                </a:solidFill>
                <a:latin typeface="Calibri"/>
              </a:rPr>
              <a:t>Rotacional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0" y="3300984"/>
            <a:ext cx="2331720" cy="521208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0" y="3300984"/>
            <a:ext cx="233172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F1F5F9"/>
                </a:solidFill>
                <a:latin typeface="Calibri"/>
              </a:rPr>
              <a:t>Brushless / DC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35440" y="3300984"/>
            <a:ext cx="2331720" cy="521208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3300984"/>
            <a:ext cx="233172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F1F5F9"/>
                </a:solidFill>
                <a:latin typeface="Calibri"/>
              </a:rPr>
              <a:t>Bus distribuido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3867912"/>
            <a:ext cx="2240280" cy="521208"/>
          </a:xfrm>
          <a:prstGeom prst="rect">
            <a:avLst/>
          </a:prstGeom>
          <a:solidFill>
            <a:srgbClr val="1B2844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3867912"/>
            <a:ext cx="224028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1F5F9"/>
                </a:solidFill>
                <a:latin typeface="Calibri"/>
              </a:rPr>
              <a:t>SOFIA (nuestro)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34640" y="3867912"/>
            <a:ext cx="1965960" cy="521208"/>
          </a:xfrm>
          <a:prstGeom prst="rect">
            <a:avLst/>
          </a:prstGeom>
          <a:solidFill>
            <a:srgbClr val="1B2844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34640" y="3867912"/>
            <a:ext cx="196596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1F5F9"/>
                </a:solidFill>
                <a:latin typeface="Calibri"/>
              </a:rPr>
              <a:t>16 (2-GDL)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46320" y="3867912"/>
            <a:ext cx="1965960" cy="521208"/>
          </a:xfrm>
          <a:prstGeom prst="rect">
            <a:avLst/>
          </a:prstGeom>
          <a:solidFill>
            <a:srgbClr val="1B2844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46320" y="3867912"/>
            <a:ext cx="196596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1F5F9"/>
                </a:solidFill>
                <a:latin typeface="Calibri"/>
              </a:rPr>
              <a:t>19.3°–70.2°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8000" y="3867912"/>
            <a:ext cx="2331720" cy="521208"/>
          </a:xfrm>
          <a:prstGeom prst="rect">
            <a:avLst/>
          </a:prstGeom>
          <a:solidFill>
            <a:srgbClr val="1B2844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58000" y="3867912"/>
            <a:ext cx="233172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1F5F9"/>
                </a:solidFill>
                <a:latin typeface="Calibri"/>
              </a:rPr>
              <a:t>Metal MG90S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3867912"/>
            <a:ext cx="2331720" cy="521208"/>
          </a:xfrm>
          <a:prstGeom prst="rect">
            <a:avLst/>
          </a:prstGeom>
          <a:solidFill>
            <a:srgbClr val="1B2844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35440" y="3867912"/>
            <a:ext cx="2331720" cy="5212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1F5F9"/>
                </a:solidFill>
                <a:latin typeface="Calibri"/>
              </a:rPr>
              <a:t>≤ 33 ms (30 fps)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48640" y="4663440"/>
            <a:ext cx="11064240" cy="155448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960" y="475488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800" b="0" i="0">
                <a:solidFill>
                  <a:srgbClr val="F1F5F9"/>
                </a:solidFill>
                <a:latin typeface="Calibri"/>
              </a:rPr>
              <a:t>Brecha: las superficies cinéticas publicadas asumen que el actuador completa su trayectoria.</a:t>
            </a:r>
          </a:p>
          <a:p>
            <a:pPr algn="l"/>
            <a:r>
              <a:rPr sz="1800" b="0" i="0">
                <a:solidFill>
                  <a:srgbClr val="F1F5F9"/>
                </a:solidFill>
                <a:latin typeface="Calibri"/>
              </a:rPr>
              <a:t>SOFIA une visión de la mano (MediaPipe) con servos MG90S y mide experimentalmente qué pasa en bloqueo: corriente, temperatura y si la respuesta es bang-bang.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  <a:latin typeface="Calibri"/>
              </a:rPr>
              <a:t>DISEÑO E IMPLEMENTACIÓN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Arquitectura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SOFIA · LabDST · ITESO · Otoño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03120"/>
            <a:ext cx="1965960" cy="109728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76272"/>
            <a:ext cx="1965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2DD4BF"/>
                </a:solidFill>
                <a:latin typeface="Calibri"/>
              </a:rPr>
              <a:t>Cámara RGB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60320"/>
            <a:ext cx="1965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30 FPS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2103120"/>
            <a:ext cx="1965960" cy="109728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2176272"/>
            <a:ext cx="1965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2DD4BF"/>
                </a:solidFill>
                <a:latin typeface="Calibri"/>
              </a:rPr>
              <a:t>Python 3.11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560320"/>
            <a:ext cx="1965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MediaPipe + OpenCV</a:t>
            </a:r>
          </a:p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GUI PySide6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103120"/>
            <a:ext cx="1965960" cy="109728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176272"/>
            <a:ext cx="1965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F59E0B"/>
                </a:solidFill>
                <a:latin typeface="Calibri"/>
              </a:rPr>
              <a:t>BLE / UDP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560320"/>
            <a:ext cx="1965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ángulos (q1,q2)</a:t>
            </a:r>
          </a:p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60°–120°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59" y="2103120"/>
            <a:ext cx="1965960" cy="109728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59" y="2176272"/>
            <a:ext cx="1965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2DD4BF"/>
                </a:solidFill>
                <a:latin typeface="Calibri"/>
              </a:rPr>
              <a:t>ESP32-C3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59" y="2560320"/>
            <a:ext cx="1965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maestro · telemetría</a:t>
            </a:r>
          </a:p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rutinas en firmware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2103120"/>
            <a:ext cx="1965960" cy="109728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0" y="2176272"/>
            <a:ext cx="1965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2DD4BF"/>
                </a:solidFill>
                <a:latin typeface="Calibri"/>
              </a:rPr>
              <a:t>2× PCA9685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2560320"/>
            <a:ext cx="1965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I²C · 32 canales</a:t>
            </a:r>
          </a:p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PWM 50 Hz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423160" y="2651760"/>
            <a:ext cx="365760" cy="0"/>
          </a:xfrm>
          <a:prstGeom prst="line">
            <a:avLst/>
          </a:prstGeom>
          <a:ln w="28575">
            <a:solidFill>
              <a:srgbClr val="2DD4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754880" y="2651760"/>
            <a:ext cx="365760" cy="0"/>
          </a:xfrm>
          <a:prstGeom prst="line">
            <a:avLst/>
          </a:prstGeom>
          <a:ln w="28575">
            <a:solidFill>
              <a:srgbClr val="2DD4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86600" y="2651760"/>
            <a:ext cx="365759" cy="0"/>
          </a:xfrm>
          <a:prstGeom prst="line">
            <a:avLst/>
          </a:prstGeom>
          <a:ln w="28575">
            <a:solidFill>
              <a:srgbClr val="2DD4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418319" y="2651760"/>
            <a:ext cx="365761" cy="0"/>
          </a:xfrm>
          <a:prstGeom prst="line">
            <a:avLst/>
          </a:prstGeom>
          <a:ln w="28575">
            <a:solidFill>
              <a:srgbClr val="2DD4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784080" y="4206240"/>
            <a:ext cx="1965960" cy="109728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4279392"/>
            <a:ext cx="1965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F59E0B"/>
                </a:solidFill>
                <a:latin typeface="Calibri"/>
              </a:rPr>
              <a:t>32× MG90S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4663440"/>
            <a:ext cx="1965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16 módulos × 2 GDL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767060" y="3200400"/>
            <a:ext cx="0" cy="1005840"/>
          </a:xfrm>
          <a:prstGeom prst="line">
            <a:avLst/>
          </a:prstGeom>
          <a:ln w="28575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452359" y="4206240"/>
            <a:ext cx="1965960" cy="109728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587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52359" y="4279392"/>
            <a:ext cx="1965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F87171"/>
                </a:solidFill>
                <a:latin typeface="Calibri"/>
              </a:rPr>
              <a:t>Fuente 5 V / 20 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59" y="4663440"/>
            <a:ext cx="1965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riel de actuadores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418319" y="4754880"/>
            <a:ext cx="365761" cy="0"/>
          </a:xfrm>
          <a:prstGeom prst="line">
            <a:avLst/>
          </a:prstGeom>
          <a:ln w="28575">
            <a:solidFill>
              <a:srgbClr val="F8717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120640" y="4206240"/>
            <a:ext cx="1965960" cy="109728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0" y="4279392"/>
            <a:ext cx="1965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2DD4BF"/>
                </a:solidFill>
                <a:latin typeface="Calibri"/>
              </a:rPr>
              <a:t>INA219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4663440"/>
            <a:ext cx="19659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corriente (shunt high-side)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086600" y="4754880"/>
            <a:ext cx="365759" cy="0"/>
          </a:xfrm>
          <a:prstGeom prst="line">
            <a:avLst/>
          </a:prstGeom>
          <a:ln w="28575">
            <a:solidFill>
              <a:srgbClr val="2DD4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57200" y="4206240"/>
            <a:ext cx="429768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Gestos estáticos → ángulos directos</a:t>
            </a:r>
          </a:p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Gestos dinámicos → rutinas en el ESP32</a:t>
            </a:r>
          </a:p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Futuro: RS-485 / Modbus entre módulos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321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50">
                <a:solidFill>
                  <a:srgbClr val="2DD4BF"/>
                </a:solidFill>
                <a:latin typeface="Calibri"/>
              </a:rPr>
              <a:t>▸ </a:t>
            </a:r>
            <a:r>
              <a:rPr b="1" sz="1450">
                <a:solidFill>
                  <a:srgbClr val="F1F5F9"/>
                </a:solidFill>
                <a:latin typeface="Calibri"/>
              </a:rPr>
              <a:t>Etapa actual (Discover → Learn): </a:t>
            </a:r>
            <a:r>
              <a:rPr sz="1450">
                <a:solidFill>
                  <a:srgbClr val="94A3B8"/>
                </a:solidFill>
                <a:latin typeface="Calibri"/>
              </a:rPr>
              <a:t>validado con placas COTS en protoboard; PCB ya enviada a fabricación.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  <a:latin typeface="Calibri"/>
              </a:rPr>
              <a:t>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Diseño mecánico y electrónico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SOFIA · LabDST · ITESO · Otoño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274320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ofia_sol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43940"/>
            <a:ext cx="2560320" cy="2455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370832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Calibri"/>
              </a:rPr>
              <a:t>Ensamble 3D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600200"/>
            <a:ext cx="219456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ofia_expl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4176" y="1691640"/>
            <a:ext cx="1955648" cy="2560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74720" y="4370832"/>
            <a:ext cx="21945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Calibri"/>
              </a:rPr>
              <a:t>Vista explotada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1600200"/>
            <a:ext cx="27889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ofia_schemat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1729572"/>
            <a:ext cx="2606040" cy="157005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0" y="3456432"/>
            <a:ext cx="27889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Calibri"/>
              </a:rPr>
              <a:t>Esquemático PCB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600200"/>
            <a:ext cx="265176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ofia_pcb_layou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2915" y="1691640"/>
            <a:ext cx="2408169" cy="1645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61120" y="3456432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Calibri"/>
              </a:rPr>
              <a:t>Layout PCB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886200"/>
            <a:ext cx="5577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2DD4BF"/>
                </a:solidFill>
                <a:latin typeface="Calibri"/>
              </a:rPr>
              <a:t>▸ </a:t>
            </a:r>
            <a:r>
              <a:rPr sz="1600">
                <a:solidFill>
                  <a:srgbClr val="F1F5F9"/>
                </a:solidFill>
                <a:latin typeface="Calibri"/>
              </a:rPr>
              <a:t>Base estructural + soporte central + tapa hexagonal (PLA)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DD4BF"/>
                </a:solidFill>
                <a:latin typeface="Calibri"/>
              </a:rPr>
              <a:t>▸ </a:t>
            </a:r>
            <a:r>
              <a:rPr sz="1600">
                <a:solidFill>
                  <a:srgbClr val="F1F5F9"/>
                </a:solidFill>
                <a:latin typeface="Calibri"/>
              </a:rPr>
              <a:t>PCB: potencia, comunicación, PWM e interfaz para 32 servos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DD4BF"/>
                </a:solidFill>
                <a:latin typeface="Calibri"/>
              </a:rPr>
              <a:t>▸ </a:t>
            </a:r>
            <a:r>
              <a:rPr sz="1600">
                <a:solidFill>
                  <a:srgbClr val="F1F5F9"/>
                </a:solidFill>
                <a:latin typeface="Calibri"/>
              </a:rPr>
              <a:t>Estado: enviada a fabricación · validación pendiente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463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DD4BF"/>
                </a:solidFill>
                <a:latin typeface="Calibri"/>
              </a:rPr>
              <a:t>▸ </a:t>
            </a:r>
            <a:r>
              <a:rPr b="1" sz="1600">
                <a:solidFill>
                  <a:srgbClr val="F1F5F9"/>
                </a:solidFill>
                <a:latin typeface="Calibri"/>
              </a:rPr>
              <a:t>Mecanismo pan-tilt 2-GDL </a:t>
            </a:r>
            <a:r>
              <a:rPr sz="1600">
                <a:solidFill>
                  <a:srgbClr val="94A3B8"/>
                </a:solidFill>
                <a:latin typeface="Calibri"/>
              </a:rPr>
              <a:t>con dos MG90S ortogonales por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  <a:latin typeface="Calibri"/>
              </a:rPr>
              <a:t>PERCEPCIÓN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Visión por computadora y gestos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SOFIA · LabDST · ITESO · Otoño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6035040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ofia_g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561" y="1691640"/>
            <a:ext cx="5709197" cy="3749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55955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Calibri"/>
              </a:rPr>
              <a:t>Interfaz de SOFIA (PySide6): video, gesto, FPS, latencia, sliders y telemetría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002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2DD4BF"/>
                </a:solidFill>
                <a:latin typeface="Calibri"/>
              </a:rPr>
              <a:t>▸ </a:t>
            </a:r>
            <a:r>
              <a:rPr b="1" sz="1600">
                <a:solidFill>
                  <a:srgbClr val="F1F5F9"/>
                </a:solidFill>
                <a:latin typeface="Calibri"/>
              </a:rPr>
              <a:t>MediaPipe + OpenCV: </a:t>
            </a:r>
            <a:r>
              <a:rPr sz="1600">
                <a:solidFill>
                  <a:srgbClr val="94A3B8"/>
                </a:solidFill>
                <a:latin typeface="Calibri"/>
              </a:rPr>
              <a:t>33 puntos de pose y 2×21 de mano en 3D, ≥ 30 FPS en CPU.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DD4BF"/>
                </a:solidFill>
                <a:latin typeface="Calibri"/>
              </a:rPr>
              <a:t>▸ </a:t>
            </a:r>
            <a:r>
              <a:rPr b="1" sz="1600">
                <a:solidFill>
                  <a:srgbClr val="F1F5F9"/>
                </a:solidFill>
                <a:latin typeface="Calibri"/>
              </a:rPr>
              <a:t>Normalización: </a:t>
            </a:r>
            <a:r>
              <a:rPr sz="1600">
                <a:solidFill>
                  <a:srgbClr val="94A3B8"/>
                </a:solidFill>
                <a:latin typeface="Calibri"/>
              </a:rPr>
              <a:t>distancias por escala de palma → robusto a la distancia.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DD4BF"/>
                </a:solidFill>
                <a:latin typeface="Calibri"/>
              </a:rPr>
              <a:t>▸ </a:t>
            </a:r>
            <a:r>
              <a:rPr b="1" sz="1600">
                <a:solidFill>
                  <a:srgbClr val="F1F5F9"/>
                </a:solidFill>
                <a:latin typeface="Calibri"/>
              </a:rPr>
              <a:t>Saludo (wave): </a:t>
            </a:r>
            <a:r>
              <a:rPr sz="1600">
                <a:solidFill>
                  <a:srgbClr val="94A3B8"/>
                </a:solidFill>
                <a:latin typeface="Calibri"/>
              </a:rPr>
              <a:t>≥ 3 inversiones laterales con amplitud &gt; 0.05.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DD4BF"/>
                </a:solidFill>
                <a:latin typeface="Calibri"/>
              </a:rPr>
              <a:t>▸ </a:t>
            </a:r>
            <a:r>
              <a:rPr b="1" sz="1600">
                <a:solidFill>
                  <a:srgbClr val="F1F5F9"/>
                </a:solidFill>
                <a:latin typeface="Calibri"/>
              </a:rPr>
              <a:t>Piedra-papel-tijera: </a:t>
            </a:r>
            <a:r>
              <a:rPr sz="1600">
                <a:solidFill>
                  <a:srgbClr val="94A3B8"/>
                </a:solidFill>
                <a:latin typeface="Calibri"/>
              </a:rPr>
              <a:t>máquina de estados con histéresis de contacto.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DD4BF"/>
                </a:solidFill>
                <a:latin typeface="Calibri"/>
              </a:rPr>
              <a:t>▸ </a:t>
            </a:r>
            <a:r>
              <a:rPr b="1" sz="1600">
                <a:solidFill>
                  <a:srgbClr val="F1F5F9"/>
                </a:solidFill>
                <a:latin typeface="Calibri"/>
              </a:rPr>
              <a:t>Estáticos: </a:t>
            </a:r>
            <a:r>
              <a:rPr sz="1600">
                <a:solidFill>
                  <a:srgbClr val="94A3B8"/>
                </a:solidFill>
                <a:latin typeface="Calibri"/>
              </a:rPr>
              <a:t>corazón, palma abierta, victoria, puño.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DD4BF"/>
                </a:solidFill>
                <a:latin typeface="Calibri"/>
              </a:rPr>
              <a:t>▸ </a:t>
            </a:r>
            <a:r>
              <a:rPr b="1" sz="1600">
                <a:solidFill>
                  <a:srgbClr val="F1F5F9"/>
                </a:solidFill>
                <a:latin typeface="Calibri"/>
              </a:rPr>
              <a:t>Seguridad: </a:t>
            </a:r>
            <a:r>
              <a:rPr sz="1600">
                <a:solidFill>
                  <a:srgbClr val="94A3B8"/>
                </a:solidFill>
                <a:latin typeface="Calibri"/>
              </a:rPr>
              <a:t>tracking suspendido durante rutinas del ESP32.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  <a:latin typeface="Calibri"/>
              </a:rPr>
              <a:t>MODELO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Cinemática 2-GDL y simulación de 16 módulos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SOFIA · LabDST · ITESO · Otoño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4572000" cy="1874519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2DD4BF"/>
                </a:solidFill>
                <a:latin typeface="Calibri"/>
              </a:rPr>
              <a:t>Cinemática directa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42976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F1F5F9"/>
                </a:solidFill>
                <a:latin typeface="Calibri"/>
              </a:rPr>
              <a:t>R₁,₃(q₁,q₂) = Rₓ(q₁) · R_y(q₂)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51760"/>
            <a:ext cx="4297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Calibri"/>
              </a:rPr>
              <a:t>Normal de la faceta: r̂ = R₁,₃ [0 0 1]ᵀ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4572000" cy="18288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703320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  <a:latin typeface="Calibri"/>
              </a:rPr>
              <a:t>Cinemática inversa (forma cerrada)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69080"/>
            <a:ext cx="429768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 i="0">
                <a:solidFill>
                  <a:srgbClr val="F1F5F9"/>
                </a:solidFill>
                <a:latin typeface="Calibri"/>
              </a:rPr>
              <a:t>q₂ = arcsin(uₓ)</a:t>
            </a:r>
          </a:p>
          <a:p>
            <a:pPr algn="l"/>
            <a:r>
              <a:rPr sz="1700" b="1" i="0">
                <a:solidFill>
                  <a:srgbClr val="F1F5F9"/>
                </a:solidFill>
                <a:latin typeface="Calibri"/>
              </a:rPr>
              <a:t>q₁ = atan2(−u_y, u_z)</a:t>
            </a:r>
          </a:p>
          <a:p>
            <a:pPr algn="l"/>
            <a:r>
              <a:rPr sz="1700" b="1" i="0">
                <a:solidFill>
                  <a:srgbClr val="F1F5F9"/>
                </a:solidFill>
                <a:latin typeface="Calibri"/>
              </a:rPr>
              <a:t>+ saturación a los límites del servo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4572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50" b="0" i="0">
                <a:solidFill>
                  <a:srgbClr val="94A3B8"/>
                </a:solidFill>
                <a:latin typeface="Calibri"/>
              </a:rPr>
              <a:t>Simulación en Unity: 16 módulos orientándose hacia un objetivo p(t) en 3D.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1600200"/>
            <a:ext cx="3063240" cy="1508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g_sim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8860" y="1691640"/>
            <a:ext cx="2506879" cy="132588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595360" y="1600200"/>
            <a:ext cx="3063240" cy="1508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ig_sim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376" y="1691640"/>
            <a:ext cx="2515207" cy="132588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440680" y="3200400"/>
            <a:ext cx="3063240" cy="1508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ig_sim_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1927" y="3291840"/>
            <a:ext cx="2740745" cy="13258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8595360" y="3200400"/>
            <a:ext cx="3063240" cy="1508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ig_sim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150" y="3291840"/>
            <a:ext cx="2515659" cy="132588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5440680" y="4800600"/>
            <a:ext cx="3063240" cy="1508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fig_sim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8853" y="4892040"/>
            <a:ext cx="2726893" cy="132588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8595360" y="4800600"/>
            <a:ext cx="3063240" cy="1508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fig_sim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56458" y="4892040"/>
            <a:ext cx="2741044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  <a:latin typeface="Calibri"/>
              </a:rPr>
              <a:t>CARACTERIZACIÓN TÉRMICA DEL MG90S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Resultado clave: el bloqueo calienta rápido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SOFIA · LabDST · ITESO · Otoño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7498079" cy="4160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characterization_6pa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2788"/>
            <a:ext cx="7315199" cy="38039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742432"/>
            <a:ext cx="749807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Calibri"/>
              </a:rPr>
              <a:t>Caracterización electromecánica y térmica del MG90S bajo bloqueo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554480"/>
            <a:ext cx="3291840" cy="105156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645920"/>
            <a:ext cx="3291840" cy="57835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F59E0B"/>
                </a:solidFill>
                <a:latin typeface="Calibri"/>
              </a:rPr>
              <a:t>0.214 °C/s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164384"/>
            <a:ext cx="3108960" cy="4206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50" b="0" i="0">
                <a:solidFill>
                  <a:srgbClr val="94A3B8"/>
                </a:solidFill>
                <a:latin typeface="Calibri"/>
              </a:rPr>
              <a:t>pendiente de calentamiento (R² = 0.993)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2743200"/>
            <a:ext cx="3291840" cy="105156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587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834640"/>
            <a:ext cx="3291840" cy="57835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F87171"/>
                </a:solidFill>
                <a:latin typeface="Calibri"/>
              </a:rPr>
              <a:t>918 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53104"/>
            <a:ext cx="3108960" cy="4206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50" b="0" i="0">
                <a:solidFill>
                  <a:srgbClr val="94A3B8"/>
                </a:solidFill>
                <a:latin typeface="Calibri"/>
              </a:rPr>
              <a:t>corriente de bloqueo (≈ 4.4 W)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3931920"/>
            <a:ext cx="3291840" cy="105156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4023360"/>
            <a:ext cx="3291840" cy="57835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2DD4BF"/>
                </a:solidFill>
                <a:latin typeface="Calibri"/>
              </a:rPr>
              <a:t>70.21 °C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41824"/>
            <a:ext cx="3108960" cy="4206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50" b="0" i="0">
                <a:solidFill>
                  <a:srgbClr val="94A3B8"/>
                </a:solidFill>
                <a:latin typeface="Calibri"/>
              </a:rPr>
              <a:t>temperatura máx. de carcasa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5120640"/>
            <a:ext cx="3291840" cy="105156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5212080"/>
            <a:ext cx="3291840" cy="57835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F59E0B"/>
                </a:solidFill>
                <a:latin typeface="Calibri"/>
              </a:rPr>
              <a:t>≈ 205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5730544"/>
            <a:ext cx="3108960" cy="4206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50" b="0" i="0">
                <a:solidFill>
                  <a:srgbClr val="94A3B8"/>
                </a:solidFill>
                <a:latin typeface="Calibri"/>
              </a:rPr>
              <a:t>para superar 65 °C desde ambiente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897880"/>
            <a:ext cx="749807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50" b="0" i="1">
                <a:solidFill>
                  <a:srgbClr val="94A3B8"/>
                </a:solidFill>
                <a:latin typeface="Calibri"/>
              </a:rPr>
              <a:t>τ no es identificable con este registro → reportamos la pendiente (honestidad metodológica).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  <a:latin typeface="Calibri"/>
              </a:rPr>
              <a:t>CORRIENTE EN 3 CONDICIONES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¿Es bang-bang? Lo medimos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SOFIA · LabDST · ITESO · Otoño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106424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current_characteriz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461" y="1645920"/>
            <a:ext cx="10250598" cy="2926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690872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Calibri"/>
              </a:rPr>
              <a:t>Corriente del MG90S: (a) error 5°, (b) error 90°, (c) bloqueo sostenido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983480"/>
            <a:ext cx="2148840" cy="132588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029200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2DD4BF"/>
                </a:solidFill>
                <a:latin typeface="Calibri"/>
              </a:rPr>
              <a:t>Error 5°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40680"/>
            <a:ext cx="21488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50" b="0" i="0">
                <a:solidFill>
                  <a:srgbClr val="94A3B8"/>
                </a:solidFill>
                <a:latin typeface="Calibri"/>
              </a:rPr>
              <a:t>pico ≈ 583 mA &lt; 50 ms</a:t>
            </a:r>
          </a:p>
          <a:p>
            <a:pPr algn="ctr"/>
            <a:r>
              <a:rPr sz="1250" b="0" i="0">
                <a:solidFill>
                  <a:srgbClr val="94A3B8"/>
                </a:solidFill>
                <a:latin typeface="Calibri"/>
              </a:rPr>
              <a:t>reposo ≈ 3.1 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4983480"/>
            <a:ext cx="2148840" cy="132588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34640" y="5029200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2DD4BF"/>
                </a:solidFill>
                <a:latin typeface="Calibri"/>
              </a:rPr>
              <a:t>Error 90°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5440680"/>
            <a:ext cx="21488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50" b="0" i="0">
                <a:solidFill>
                  <a:srgbClr val="94A3B8"/>
                </a:solidFill>
                <a:latin typeface="Calibri"/>
              </a:rPr>
              <a:t>transitorio 150–180 ms</a:t>
            </a:r>
          </a:p>
          <a:p>
            <a:pPr algn="ctr"/>
            <a:r>
              <a:rPr sz="1250" b="0" i="0">
                <a:solidFill>
                  <a:srgbClr val="94A3B8"/>
                </a:solidFill>
                <a:latin typeface="Calibri"/>
              </a:rPr>
              <a:t>reposo ≈ 3.5 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4983480"/>
            <a:ext cx="2148840" cy="132588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587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5029200"/>
            <a:ext cx="2148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F87171"/>
                </a:solidFill>
                <a:latin typeface="Calibri"/>
              </a:rPr>
              <a:t>Bloqueo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5440680"/>
            <a:ext cx="21488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50" b="0" i="0">
                <a:solidFill>
                  <a:srgbClr val="94A3B8"/>
                </a:solidFill>
                <a:latin typeface="Calibri"/>
              </a:rPr>
              <a:t>saturación continua</a:t>
            </a:r>
          </a:p>
          <a:p>
            <a:pPr algn="ctr"/>
            <a:r>
              <a:rPr sz="1250" b="0" i="0">
                <a:solidFill>
                  <a:srgbClr val="94A3B8"/>
                </a:solidFill>
                <a:latin typeface="Calibri"/>
              </a:rPr>
              <a:t>≈ 918 mA (picos 1.8 A)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4983480"/>
            <a:ext cx="4114800" cy="132588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5029200"/>
            <a:ext cx="393192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Calibri"/>
              </a:rPr>
              <a:t>Conclusión: control proporcional por PWM con zona muerta; satura solo ante restricción física persistente.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  <a:latin typeface="Calibri"/>
              </a:rPr>
              <a:t>RESULTADOS FUNCIONALES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Validación en el prototipo físico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SOFIA · LabDST · ITESO · Otoño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931920" cy="2103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odulo_fis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0297"/>
            <a:ext cx="3749040" cy="18429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730752"/>
            <a:ext cx="39319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Calibri"/>
              </a:rPr>
              <a:t>Módulo físico con ESP32-C3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600200"/>
            <a:ext cx="219456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ofia_saludo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719649"/>
            <a:ext cx="2011680" cy="11327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54880" y="2999232"/>
            <a:ext cx="21945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Calibri"/>
              </a:rPr>
              <a:t>SALUDO · Inicio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1600200"/>
            <a:ext cx="219456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ofia_salud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1715569"/>
            <a:ext cx="2011680" cy="114086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40880" y="2999232"/>
            <a:ext cx="21945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Calibri"/>
              </a:rPr>
              <a:t>SALUDO · Intermedio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0" y="1600200"/>
            <a:ext cx="219456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ofia_saludo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1719649"/>
            <a:ext cx="2011680" cy="113270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326880" y="2999232"/>
            <a:ext cx="21945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94A3B8"/>
                </a:solidFill>
                <a:latin typeface="Calibri"/>
              </a:rPr>
              <a:t>SALUDO · Final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160520"/>
            <a:ext cx="5440680" cy="621792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45720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2DD4B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160520"/>
            <a:ext cx="484632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50" b="0" i="0">
                <a:solidFill>
                  <a:srgbClr val="F1F5F9"/>
                </a:solidFill>
                <a:latin typeface="Calibri"/>
              </a:rPr>
              <a:t>Arranque de visión: modelos cargados, cámara activa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160520"/>
            <a:ext cx="5440680" cy="621792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4160520"/>
            <a:ext cx="45720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2DD4B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160520"/>
            <a:ext cx="484632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50" b="0" i="0">
                <a:solidFill>
                  <a:srgbClr val="F1F5F9"/>
                </a:solidFill>
                <a:latin typeface="Calibri"/>
              </a:rPr>
              <a:t>Conexión BLE: conexión exitosa registrada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873752"/>
            <a:ext cx="5440680" cy="621792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873752"/>
            <a:ext cx="45720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2DD4B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873752"/>
            <a:ext cx="484632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50" b="0" i="0">
                <a:solidFill>
                  <a:srgbClr val="F1F5F9"/>
                </a:solidFill>
                <a:latin typeface="Calibri"/>
              </a:rPr>
              <a:t>Seguimiento de articulaciones: comandos de ángulo variables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873752"/>
            <a:ext cx="5440680" cy="621792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4873752"/>
            <a:ext cx="45720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2DD4B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4873752"/>
            <a:ext cx="484632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50" b="0" i="0">
                <a:solidFill>
                  <a:srgbClr val="F1F5F9"/>
                </a:solidFill>
                <a:latin typeface="Calibri"/>
              </a:rPr>
              <a:t>Rutinas dinámicas: SALUDO y CORAZÓN enviadas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586983"/>
            <a:ext cx="5440680" cy="621792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586983"/>
            <a:ext cx="45720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2DD4B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586983"/>
            <a:ext cx="484632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50" b="0" i="0">
                <a:solidFill>
                  <a:srgbClr val="F1F5F9"/>
                </a:solidFill>
                <a:latin typeface="Calibri"/>
              </a:rPr>
              <a:t>Coordinación: tracking se reanuda tras el temporizador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5586983"/>
            <a:ext cx="5440680" cy="621792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5586983"/>
            <a:ext cx="45720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2DD4B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586983"/>
            <a:ext cx="4846320" cy="62179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50" b="0" i="0">
                <a:solidFill>
                  <a:srgbClr val="F1F5F9"/>
                </a:solidFill>
                <a:latin typeface="Calibri"/>
              </a:rPr>
              <a:t>Apagado: cámara detenida, BLE cerrado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3246120"/>
            <a:ext cx="68580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50" b="0" i="1">
                <a:solidFill>
                  <a:srgbClr val="F59E0B"/>
                </a:solidFill>
                <a:latin typeface="Calibri"/>
              </a:rPr>
              <a:t>Evidencia cualitativa: los logs y fotos no cuantifican precisión, latencia ni repetibilidad (siguiente paso).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  <a:latin typeface="Calibri"/>
              </a:rPr>
              <a:t>QUÉ SIGUE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Protecciones y protocolo de validación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SOFIA · LabDST · ITESO · Otoño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40680" cy="46177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587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F87171"/>
                </a:solidFill>
                <a:latin typeface="Calibri"/>
              </a:rPr>
              <a:t>Protecciones propuestas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50">
                <a:solidFill>
                  <a:srgbClr val="F87171"/>
                </a:solidFill>
                <a:latin typeface="Calibri"/>
              </a:rPr>
              <a:t>▸ </a:t>
            </a:r>
            <a:r>
              <a:rPr b="1" sz="1550">
                <a:solidFill>
                  <a:srgbClr val="F1F5F9"/>
                </a:solidFill>
                <a:latin typeface="Calibri"/>
              </a:rPr>
              <a:t>Saturación de comandos: </a:t>
            </a:r>
            <a:r>
              <a:rPr sz="1550">
                <a:solidFill>
                  <a:srgbClr val="94A3B8"/>
                </a:solidFill>
                <a:latin typeface="Calibri"/>
              </a:rPr>
              <a:t>ángulos limitados al rango verificado.</a:t>
            </a:r>
          </a:p>
          <a:p>
            <a:pPr>
              <a:spcAft>
                <a:spcPts val="900"/>
              </a:spcAft>
            </a:pPr>
            <a:r>
              <a:rPr sz="1550">
                <a:solidFill>
                  <a:srgbClr val="F87171"/>
                </a:solidFill>
                <a:latin typeface="Calibri"/>
              </a:rPr>
              <a:t>▸ </a:t>
            </a:r>
            <a:r>
              <a:rPr b="1" sz="1550">
                <a:solidFill>
                  <a:srgbClr val="F1F5F9"/>
                </a:solidFill>
                <a:latin typeface="Calibri"/>
              </a:rPr>
              <a:t>Watchdog de bloqueo: </a:t>
            </a:r>
            <a:r>
              <a:rPr sz="1550">
                <a:solidFill>
                  <a:srgbClr val="94A3B8"/>
                </a:solidFill>
                <a:latin typeface="Calibri"/>
              </a:rPr>
              <a:t>I &gt; 450 mA o desviación &gt; 15 s → se suspende el PWM del canal.</a:t>
            </a:r>
          </a:p>
          <a:p>
            <a:pPr>
              <a:spcAft>
                <a:spcPts val="900"/>
              </a:spcAft>
            </a:pPr>
            <a:r>
              <a:rPr sz="1550">
                <a:solidFill>
                  <a:srgbClr val="F87171"/>
                </a:solidFill>
                <a:latin typeface="Calibri"/>
              </a:rPr>
              <a:t>▸ </a:t>
            </a:r>
            <a:r>
              <a:rPr b="1" sz="1550">
                <a:solidFill>
                  <a:srgbClr val="F1F5F9"/>
                </a:solidFill>
                <a:latin typeface="Calibri"/>
              </a:rPr>
              <a:t>Resultado: </a:t>
            </a:r>
            <a:r>
              <a:rPr sz="1550">
                <a:solidFill>
                  <a:srgbClr val="94A3B8"/>
                </a:solidFill>
                <a:latin typeface="Calibri"/>
              </a:rPr>
              <a:t>eje libre, sin calentamiento Joule (umbral de seguridad 55 °C).</a:t>
            </a:r>
          </a:p>
          <a:p>
            <a:pPr>
              <a:spcAft>
                <a:spcPts val="900"/>
              </a:spcAft>
            </a:pPr>
            <a:r>
              <a:rPr sz="1550">
                <a:solidFill>
                  <a:srgbClr val="F87171"/>
                </a:solidFill>
                <a:latin typeface="Calibri"/>
              </a:rPr>
              <a:t>▸ </a:t>
            </a:r>
            <a:r>
              <a:rPr b="1" sz="1550">
                <a:solidFill>
                  <a:srgbClr val="F1F5F9"/>
                </a:solidFill>
                <a:latin typeface="Calibri"/>
              </a:rPr>
              <a:t>Limitación: </a:t>
            </a:r>
            <a:r>
              <a:rPr sz="1550">
                <a:solidFill>
                  <a:srgbClr val="94A3B8"/>
                </a:solidFill>
                <a:latin typeface="Calibri"/>
              </a:rPr>
              <a:t>el LM35 mide la carcasa, no el devanado.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600200"/>
            <a:ext cx="5440680" cy="46177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9164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2DD4BF"/>
                </a:solidFill>
                <a:latin typeface="Calibri"/>
              </a:rPr>
              <a:t>Protocolo de seguimiento (siguiente)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4028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50">
                <a:solidFill>
                  <a:srgbClr val="2DD4BF"/>
                </a:solidFill>
                <a:latin typeface="Calibri"/>
              </a:rPr>
              <a:t>▸ </a:t>
            </a:r>
            <a:r>
              <a:rPr b="1" sz="1550">
                <a:solidFill>
                  <a:srgbClr val="F1F5F9"/>
                </a:solidFill>
                <a:latin typeface="Calibri"/>
              </a:rPr>
              <a:t>Trayectorias: </a:t>
            </a:r>
            <a:r>
              <a:rPr sz="1550">
                <a:solidFill>
                  <a:srgbClr val="94A3B8"/>
                </a:solidFill>
                <a:latin typeface="Calibri"/>
              </a:rPr>
              <a:t>oscilación senoidal 0.2–0.8 Hz y escalones de 5°, 30° y 90°.</a:t>
            </a:r>
          </a:p>
          <a:p>
            <a:pPr>
              <a:spcAft>
                <a:spcPts val="900"/>
              </a:spcAft>
            </a:pPr>
            <a:r>
              <a:rPr sz="1550">
                <a:solidFill>
                  <a:srgbClr val="2DD4BF"/>
                </a:solidFill>
                <a:latin typeface="Calibri"/>
              </a:rPr>
              <a:t>▸ </a:t>
            </a:r>
            <a:r>
              <a:rPr b="1" sz="1550">
                <a:solidFill>
                  <a:srgbClr val="F1F5F9"/>
                </a:solidFill>
                <a:latin typeface="Calibri"/>
              </a:rPr>
              <a:t>Repeticiones: </a:t>
            </a:r>
            <a:r>
              <a:rPr sz="1550">
                <a:solidFill>
                  <a:srgbClr val="94A3B8"/>
                </a:solidFill>
                <a:latin typeface="Calibri"/>
              </a:rPr>
              <a:t>N = 10 por condición.</a:t>
            </a:r>
          </a:p>
          <a:p>
            <a:pPr>
              <a:spcAft>
                <a:spcPts val="900"/>
              </a:spcAft>
            </a:pPr>
            <a:r>
              <a:rPr sz="1550">
                <a:solidFill>
                  <a:srgbClr val="2DD4BF"/>
                </a:solidFill>
                <a:latin typeface="Calibri"/>
              </a:rPr>
              <a:t>▸ </a:t>
            </a:r>
            <a:r>
              <a:rPr b="1" sz="1550">
                <a:solidFill>
                  <a:srgbClr val="F1F5F9"/>
                </a:solidFill>
                <a:latin typeface="Calibri"/>
              </a:rPr>
              <a:t>Métricas: </a:t>
            </a:r>
            <a:r>
              <a:rPr sz="1550">
                <a:solidFill>
                  <a:srgbClr val="94A3B8"/>
                </a:solidFill>
                <a:latin typeface="Calibri"/>
              </a:rPr>
              <a:t>error angular (MAE, RMSE en °) y retardo mano→servo (ms).</a:t>
            </a:r>
          </a:p>
          <a:p>
            <a:pPr>
              <a:spcAft>
                <a:spcPts val="900"/>
              </a:spcAft>
            </a:pPr>
            <a:r>
              <a:rPr sz="1550">
                <a:solidFill>
                  <a:srgbClr val="2DD4BF"/>
                </a:solidFill>
                <a:latin typeface="Calibri"/>
              </a:rPr>
              <a:t>▸ </a:t>
            </a:r>
            <a:r>
              <a:rPr b="1" sz="1550">
                <a:solidFill>
                  <a:srgbClr val="F1F5F9"/>
                </a:solidFill>
                <a:latin typeface="Calibri"/>
              </a:rPr>
              <a:t>Ángulo real: </a:t>
            </a:r>
            <a:r>
              <a:rPr sz="1550">
                <a:solidFill>
                  <a:srgbClr val="94A3B8"/>
                </a:solidFill>
                <a:latin typeface="Calibri"/>
              </a:rPr>
              <a:t>cámara a 120 FPS con marcadores en la faceta.</a:t>
            </a:r>
          </a:p>
          <a:p>
            <a:pPr>
              <a:spcAft>
                <a:spcPts val="900"/>
              </a:spcAft>
            </a:pPr>
            <a:r>
              <a:rPr sz="1550">
                <a:solidFill>
                  <a:srgbClr val="2DD4BF"/>
                </a:solidFill>
                <a:latin typeface="Calibri"/>
              </a:rPr>
              <a:t>▸ </a:t>
            </a:r>
            <a:r>
              <a:rPr b="1" sz="1550">
                <a:solidFill>
                  <a:srgbClr val="F1F5F9"/>
                </a:solidFill>
                <a:latin typeface="Calibri"/>
              </a:rPr>
              <a:t>Meta: </a:t>
            </a:r>
            <a:r>
              <a:rPr sz="1550">
                <a:solidFill>
                  <a:srgbClr val="94A3B8"/>
                </a:solidFill>
                <a:latin typeface="Calibri"/>
              </a:rPr>
              <a:t>validar los 16 módulos y suavizar trayectorias.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  <a:latin typeface="Calibri"/>
              </a:rPr>
              <a:t>RESUMEN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SOFIA · LabDST · ITESO · Otoño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2DD4BF"/>
                </a:solidFill>
                <a:latin typeface="Calibri"/>
              </a:rPr>
              <a:t>Arquitectura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507492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F1F5F9"/>
                </a:solidFill>
                <a:latin typeface="Calibri"/>
              </a:rPr>
              <a:t>SOFIA integra visión 3D con 16 módulos 2-GDL (32 MG90S) vía ESP32-C3 y PCA9685.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60020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6916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F59E0B"/>
                </a:solidFill>
                <a:latin typeface="Calibri"/>
              </a:rPr>
              <a:t>Térmica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148840"/>
            <a:ext cx="507492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F1F5F9"/>
                </a:solidFill>
                <a:latin typeface="Calibri"/>
              </a:rPr>
              <a:t>Bloqueo sostenido → 0.214 °C/s y 70.21 °C: hacen falta límites y watchdog.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0040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918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2DD4BF"/>
                </a:solidFill>
                <a:latin typeface="Calibri"/>
              </a:rPr>
              <a:t>Actuador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49040"/>
            <a:ext cx="507492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F1F5F9"/>
                </a:solidFill>
                <a:latin typeface="Calibri"/>
              </a:rPr>
              <a:t>El MG90S es proporcional con zona muerta, no bang-bang; satura solo si se traba.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0040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2918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1" i="0">
                <a:solidFill>
                  <a:srgbClr val="F59E0B"/>
                </a:solidFill>
                <a:latin typeface="Calibri"/>
              </a:rPr>
              <a:t>Prototipo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749040"/>
            <a:ext cx="507492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F1F5F9"/>
                </a:solidFill>
                <a:latin typeface="Calibri"/>
              </a:rPr>
              <a:t>Ya responde a gestos (SALUDO, CORAZÓN) en el módulo físico.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37760"/>
            <a:ext cx="11064240" cy="132588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 i="0">
                <a:solidFill>
                  <a:srgbClr val="F59E0B"/>
                </a:solidFill>
                <a:latin typeface="Calibri"/>
              </a:rPr>
              <a:t>Trabajo futuro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50" b="0" i="0">
                <a:solidFill>
                  <a:srgbClr val="F1F5F9"/>
                </a:solidFill>
                <a:latin typeface="Calibri"/>
              </a:rPr>
              <a:t>Cuantificar precisión, latencia y repetibilidad del seguimiento · validar la PCB · escalar de 1 módulo a los 16 · suavizado de trayectorias.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0" y="1280160"/>
            <a:ext cx="4114800" cy="2377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ofia_salud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2089" y="1371600"/>
            <a:ext cx="3869662" cy="2194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3840480"/>
            <a:ext cx="411480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sim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8831" y="3931920"/>
            <a:ext cx="3816177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645920"/>
            <a:ext cx="64008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7200" b="1" i="0">
                <a:solidFill>
                  <a:srgbClr val="F1F5F9"/>
                </a:solidFill>
                <a:latin typeface="Calibri"/>
              </a:rPr>
              <a:t>¡Gracias!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6400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 i="0">
                <a:solidFill>
                  <a:srgbClr val="2DD4BF"/>
                </a:solidFill>
                <a:latin typeface="Calibri"/>
              </a:rPr>
              <a:t>¿Preguntas?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9728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160520"/>
            <a:ext cx="640080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SOFIA · Equipo 1 · LabDST · ITESO</a:t>
            </a:r>
          </a:p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github.com/PaolaCV14/IOT-SOFIA-2026</a:t>
            </a:r>
          </a:p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Release v0.2.0 · datos experimentales en docs/experimental-data/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