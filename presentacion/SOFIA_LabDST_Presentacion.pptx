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15 s</a:t>
            </a:r>
          </a:p>
          <a:p>
            <a:r>
              <a:t>Buenos días profesores y evaluadores. Presentamos SOFÍA: una pared robótica interactiva con paneles tipo panal que te siguen con la mirada y responden a tus gestos en vivo, junto con nuestras pruebas para operarla de forma segura.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45 s</a:t>
            </a:r>
          </a:p>
          <a:p>
            <a:r>
              <a:t>Las paredes cinéticas en museos o aeropuertos cuestan millones de pesos y si alguien las toca se queman. Nuestro objetivo es crear una pared modular accesible que te siga con la mirada y se autoproteja de sobrecalentamientos.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40 s</a:t>
            </a:r>
          </a:p>
          <a:p>
            <a:r>
              <a:t>Las obras existentes como inFORM del MIT o las esculturas de aeropuertos son carísimas o solo repiten videos sin verte. SOFÍA te ve en vivo, es modular y accesible. Nuestro diferenciador clave es el estudio térmico: como el servomotor comercial NO tiene sensor interno de temperatura, medimos su calentamiento en laboratorio con termómetro láser y osciloscopio para diseñar su corte preventivo.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50 s</a:t>
            </a:r>
          </a:p>
          <a:p>
            <a:r>
              <a:t>Medimos velocidad de cámara, respuesta a gestos y calor del motor con termómetro láser, osciloscopio e instrumentos mecatrónicos. Nuestros criterios de aprobación son claros: más de 30 cuadros por segundo, respuesta en menos de 100 milisegundos y corte de seguridad en menos de 15 segundos si algo se atora.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45 s</a:t>
            </a:r>
          </a:p>
          <a:p>
            <a:r>
              <a:t>Nuestra estación de control procesa la mano a más de 30 cuadros por segundo en tiempo real. Reconoce gestos como saludos y corazones, y simulamos los 16 paneles en Unity para que se muevan coordinados sin chocar.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40 s</a:t>
            </a:r>
          </a:p>
          <a:p>
            <a:r>
              <a:t>Aquí vemos el prototipo físico real. Cámara y Bluetooth tardan 45 a 50 milisegundos, y el servo 75 a 180 ms en moverse. Ensayos repetidos con N=10 validan la fluidez.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50 s</a:t>
            </a:r>
          </a:p>
          <a:p>
            <a:r>
              <a:t>Este es nuestro hallazgo experimental más importante: sin carga el motor no se calienta. Pero atorado con un tope, sube unos 13 grados por minuto hasta llegar a 64.8 grados en menos de cuatro minutos; a los 3 minutos ya pasa de 55 grados, entrando a zona de riesgo. Con corte a 15 segundos solo sube unos 3 grados.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40 s</a:t>
            </a:r>
          </a:p>
          <a:p>
            <a:r>
              <a:t>¿Por qué SOFÍA todavía no puede operar en un museo? En el laboratorio probamos con 1 persona a 1 metro y luz controlada. En un museo hay multitud de personas cruzando manos, luz solar cambiante y se necesita un sistema embebido dentro del marco.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40 s</a:t>
            </a:r>
          </a:p>
          <a:p>
            <a:r>
              <a:t>La segunda brecha se basa en nuestros datos: un museo opera 12 horas seguidas, los niños van a jalar los pétalos demandando 0.9 amperes y disipando 4.6 watts de calor. Los 32 motores piden hasta 23 amperes al arrancar juntos requiriendo fuente de 25 amperes. Aun sin público, los pétalos se rozan por tolerancias de impresión (±0.4 mm); falta un acople mecánico que ceda sin romper engranes.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40 s</a:t>
            </a:r>
          </a:p>
          <a:p>
            <a:r>
              <a:t>Atendimos las observaciones del Corte 1 con objetivos delimitados y mediciones reales de calor. Para el Corte 3 fabricaremos la PCB de potencia, el corte automático y montaremos los 16 paneles. Muchas gracias, abrimos la sesión de preguntas.</a:t>
            </a:r>
          </a:p>
          <a:p/>
          <a:p>
            <a:r>
              <a:t>--- PREGUNTAS PROBABLES DE LOS JUECES Y RESPUESTAS BREVES ---</a:t>
            </a:r>
          </a:p>
          <a:p>
            <a:r>
              <a:t>1. ¿Por qué el servomotor MG90S?</a:t>
            </a:r>
          </a:p>
          <a:p>
            <a:r>
              <a:t>R: Por engranaje metálico, bajo costo comercial, accesibilidad y facilidad de reemplazo modular en 32 actuadores.</a:t>
            </a:r>
          </a:p>
          <a:p/>
          <a:p>
            <a:r>
              <a:t>2. ¿Cómo detecta el atasco si el motor no tiene sensor de temperatura?</a:t>
            </a:r>
          </a:p>
          <a:p>
            <a:r>
              <a:t>R: El motor comercial NO tiene sensor térmico interno ni avisa que está forzado. En laboratorio caracterizamos su curva con termómetro láser y osciloscopio mecatrónico. En la pared final, la placa monitorea la corriente y el ESP32 corta la señal PWM tras 15 s para proteger la estructura de PLA.</a:t>
            </a:r>
          </a:p>
          <a:p/>
          <a:p>
            <a:r>
              <a:t>3. ¿Cuánto cuesta frente a una pared comercial?</a:t>
            </a:r>
          </a:p>
          <a:p>
            <a:r>
              <a:t>R: Una instalación comercial cuesta cientos de miles de pesos; SOFÍA cuesta una fracción gracias a impresión 3D y componentes IoT accesibles.</a:t>
            </a:r>
          </a:p>
          <a:p/>
          <a:p>
            <a:r>
              <a:t>4. ¿Qué pasa con varias personas frente a la cámara?</a:t>
            </a:r>
          </a:p>
          <a:p>
            <a:r>
              <a:t>R: Hoy prioriza a la persona más cercana al centro del encuadre; la siguiente etapa filtrará por usuario dominante.</a:t>
            </a:r>
          </a:p>
          <a:p/>
          <a:p>
            <a:r>
              <a:t>5. ¿Cómo cierran la brecha hacia el espacio público real?</a:t>
            </a:r>
          </a:p>
          <a:p>
            <a:r>
              <a:t>R: Con la PCB de potencia para 25 A, acoples mecánicos de desacople seguro y firmware con auto-recuperación.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10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48640"/>
            <a:ext cx="10789920" cy="320040"/>
          </a:xfrm>
          <a:prstGeom prst="rect">
            <a:avLst/>
          </a:prstGeom>
          <a:noFill/>
        </p:spPr>
        <p:txBody>
          <a:bodyPr wrap="square" anchor="t" lIns="36576" rIns="36576" tIns="18288" bIns="18288">
            <a:spAutoFit/>
          </a:bodyPr>
          <a:lstStyle/>
          <a:p>
            <a:pPr algn="l"/>
            <a:r>
              <a:rPr sz="1400" b="1" i="0">
                <a:solidFill>
                  <a:srgbClr val="E024A5"/>
                </a:solidFill>
                <a:latin typeface="Calibri"/>
              </a:rPr>
              <a:t>LABDST · ITESO · EVALUACIÓN DE SEGUNDO CORTE (OTOÑO 2026)</a:t>
            </a:r>
          </a:p>
        </p:txBody>
      </p:sp>
      <p:sp>
        <p:nvSpPr>
          <p:cNvPr id="5" name="TextBox 4"/>
          <p:cNvSpPr txBox="1"/>
          <p:nvPr/>
        </p:nvSpPr>
        <p:spPr>
          <a:xfrm>
            <a:off x="731520" y="960120"/>
            <a:ext cx="10789920" cy="1005840"/>
          </a:xfrm>
          <a:prstGeom prst="rect">
            <a:avLst/>
          </a:prstGeom>
          <a:noFill/>
        </p:spPr>
        <p:txBody>
          <a:bodyPr wrap="square" anchor="t" lIns="36576" rIns="36576" tIns="18288" bIns="18288">
            <a:spAutoFit/>
          </a:bodyPr>
          <a:lstStyle/>
          <a:p>
            <a:pPr algn="l"/>
            <a:r>
              <a:rPr sz="5400" b="1" i="0">
                <a:solidFill>
                  <a:srgbClr val="FAF5FF"/>
                </a:solidFill>
                <a:latin typeface="Calibri"/>
              </a:rPr>
              <a:t>SOFÍA: la pared que te mira</a:t>
            </a:r>
          </a:p>
        </p:txBody>
      </p:sp>
      <p:sp>
        <p:nvSpPr>
          <p:cNvPr id="6" name="TextBox 5"/>
          <p:cNvSpPr txBox="1"/>
          <p:nvPr/>
        </p:nvSpPr>
        <p:spPr>
          <a:xfrm>
            <a:off x="731520" y="2057400"/>
            <a:ext cx="10789920" cy="548640"/>
          </a:xfrm>
          <a:prstGeom prst="rect">
            <a:avLst/>
          </a:prstGeom>
          <a:noFill/>
        </p:spPr>
        <p:txBody>
          <a:bodyPr wrap="square" anchor="t" lIns="36576" rIns="36576" tIns="18288" bIns="18288">
            <a:spAutoFit/>
          </a:bodyPr>
          <a:lstStyle/>
          <a:p>
            <a:pPr algn="l"/>
            <a:r>
              <a:rPr sz="2400" b="0" i="0">
                <a:solidFill>
                  <a:srgbClr val="C4B5FD"/>
                </a:solidFill>
                <a:latin typeface="Calibri"/>
              </a:rPr>
              <a:t>Pared robótica interactiva de paneles que te siguen y hacen rutinas</a:t>
            </a:r>
          </a:p>
        </p:txBody>
      </p:sp>
      <p:sp>
        <p:nvSpPr>
          <p:cNvPr id="7" name="Rounded Rectangle 6"/>
          <p:cNvSpPr/>
          <p:nvPr/>
        </p:nvSpPr>
        <p:spPr>
          <a:xfrm>
            <a:off x="731520" y="2788920"/>
            <a:ext cx="5212080" cy="338328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ofia_solid.png"/>
          <p:cNvPicPr>
            <a:picLocks noChangeAspect="1"/>
          </p:cNvPicPr>
          <p:nvPr/>
        </p:nvPicPr>
        <p:blipFill>
          <a:blip r:embed="rId3"/>
          <a:stretch>
            <a:fillRect/>
          </a:stretch>
        </p:blipFill>
        <p:spPr>
          <a:xfrm>
            <a:off x="1631067" y="2843784"/>
            <a:ext cx="3412986" cy="3273552"/>
          </a:xfrm>
          <a:prstGeom prst="rect">
            <a:avLst/>
          </a:prstGeom>
        </p:spPr>
      </p:pic>
      <p:sp>
        <p:nvSpPr>
          <p:cNvPr id="9" name="TextBox 8"/>
          <p:cNvSpPr txBox="1"/>
          <p:nvPr/>
        </p:nvSpPr>
        <p:spPr>
          <a:xfrm>
            <a:off x="731520" y="6190488"/>
            <a:ext cx="5212080" cy="256032"/>
          </a:xfrm>
          <a:prstGeom prst="rect">
            <a:avLst/>
          </a:prstGeom>
          <a:noFill/>
        </p:spPr>
        <p:txBody>
          <a:bodyPr wrap="square" anchor="t" lIns="36576" rIns="36576" tIns="18288" bIns="18288">
            <a:spAutoFit/>
          </a:bodyPr>
          <a:lstStyle/>
          <a:p>
            <a:pPr algn="ctr"/>
            <a:r>
              <a:rPr sz="1300" b="0" i="1">
                <a:solidFill>
                  <a:srgbClr val="C4B5FD"/>
                </a:solidFill>
                <a:latin typeface="Calibri"/>
              </a:rPr>
              <a:t>Diseño 3D de paneles móviles en panal</a:t>
            </a:r>
          </a:p>
        </p:txBody>
      </p:sp>
      <p:sp>
        <p:nvSpPr>
          <p:cNvPr id="10" name="Rounded Rectangle 9"/>
          <p:cNvSpPr/>
          <p:nvPr/>
        </p:nvSpPr>
        <p:spPr>
          <a:xfrm>
            <a:off x="6217920" y="2788920"/>
            <a:ext cx="5212080" cy="338328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odulo_fisico.png"/>
          <p:cNvPicPr>
            <a:picLocks noChangeAspect="1"/>
          </p:cNvPicPr>
          <p:nvPr/>
        </p:nvPicPr>
        <p:blipFill>
          <a:blip r:embed="rId4"/>
          <a:stretch>
            <a:fillRect/>
          </a:stretch>
        </p:blipFill>
        <p:spPr>
          <a:xfrm>
            <a:off x="6272784" y="3226471"/>
            <a:ext cx="5102352" cy="2508178"/>
          </a:xfrm>
          <a:prstGeom prst="rect">
            <a:avLst/>
          </a:prstGeom>
        </p:spPr>
      </p:pic>
      <p:sp>
        <p:nvSpPr>
          <p:cNvPr id="12" name="TextBox 11"/>
          <p:cNvSpPr txBox="1"/>
          <p:nvPr/>
        </p:nvSpPr>
        <p:spPr>
          <a:xfrm>
            <a:off x="6217920" y="6190488"/>
            <a:ext cx="5212080" cy="256032"/>
          </a:xfrm>
          <a:prstGeom prst="rect">
            <a:avLst/>
          </a:prstGeom>
          <a:noFill/>
        </p:spPr>
        <p:txBody>
          <a:bodyPr wrap="square" anchor="t" lIns="36576" rIns="36576" tIns="18288" bIns="18288">
            <a:spAutoFit/>
          </a:bodyPr>
          <a:lstStyle/>
          <a:p>
            <a:pPr algn="ctr"/>
            <a:r>
              <a:rPr sz="1300" b="0" i="1">
                <a:solidFill>
                  <a:srgbClr val="C4B5FD"/>
                </a:solidFill>
                <a:latin typeface="Calibri"/>
              </a:rPr>
              <a:t>Prototipo físico montado y funcional</a:t>
            </a:r>
          </a:p>
        </p:txBody>
      </p:sp>
      <p:sp>
        <p:nvSpPr>
          <p:cNvPr id="13" name="TextBox 12"/>
          <p:cNvSpPr txBox="1"/>
          <p:nvPr/>
        </p:nvSpPr>
        <p:spPr>
          <a:xfrm>
            <a:off x="731520" y="6446520"/>
            <a:ext cx="7315200" cy="274320"/>
          </a:xfrm>
          <a:prstGeom prst="rect">
            <a:avLst/>
          </a:prstGeom>
          <a:noFill/>
        </p:spPr>
        <p:txBody>
          <a:bodyPr wrap="square" anchor="t" lIns="36576" rIns="36576" tIns="18288" bIns="18288">
            <a:spAutoFit/>
          </a:bodyPr>
          <a:lstStyle/>
          <a:p>
            <a:pPr algn="l"/>
            <a:r>
              <a:rPr sz="1300" b="0" i="0">
                <a:solidFill>
                  <a:srgbClr val="C4B5FD"/>
                </a:solidFill>
                <a:latin typeface="Calibri"/>
              </a:rPr>
              <a:t>Equipo 1 · Ingeniería ITESO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PLANTEAMIENTO Y MARCO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Las paredes interactivas cuestan millones y se queman</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2/10</a:t>
            </a:r>
          </a:p>
        </p:txBody>
      </p:sp>
      <p:sp>
        <p:nvSpPr>
          <p:cNvPr id="6" name="Rounded Rectangle 5"/>
          <p:cNvSpPr/>
          <p:nvPr/>
        </p:nvSpPr>
        <p:spPr>
          <a:xfrm>
            <a:off x="731520" y="1600200"/>
            <a:ext cx="3931920" cy="457200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ofia_exploded.png"/>
          <p:cNvPicPr>
            <a:picLocks noChangeAspect="1"/>
          </p:cNvPicPr>
          <p:nvPr/>
        </p:nvPicPr>
        <p:blipFill>
          <a:blip r:embed="rId3"/>
          <a:stretch>
            <a:fillRect/>
          </a:stretch>
        </p:blipFill>
        <p:spPr>
          <a:xfrm>
            <a:off x="993272" y="1655064"/>
            <a:ext cx="3408416" cy="4462272"/>
          </a:xfrm>
          <a:prstGeom prst="rect">
            <a:avLst/>
          </a:prstGeom>
        </p:spPr>
      </p:pic>
      <p:sp>
        <p:nvSpPr>
          <p:cNvPr id="8" name="TextBox 7"/>
          <p:cNvSpPr txBox="1"/>
          <p:nvPr/>
        </p:nvSpPr>
        <p:spPr>
          <a:xfrm>
            <a:off x="731520" y="6190488"/>
            <a:ext cx="3931920" cy="256032"/>
          </a:xfrm>
          <a:prstGeom prst="rect">
            <a:avLst/>
          </a:prstGeom>
          <a:noFill/>
        </p:spPr>
        <p:txBody>
          <a:bodyPr wrap="square" anchor="t" lIns="36576" rIns="36576" tIns="18288" bIns="18288">
            <a:spAutoFit/>
          </a:bodyPr>
          <a:lstStyle/>
          <a:p>
            <a:pPr algn="ctr"/>
            <a:r>
              <a:rPr sz="1300" b="0" i="1">
                <a:solidFill>
                  <a:srgbClr val="C4B5FD"/>
                </a:solidFill>
                <a:latin typeface="Calibri"/>
              </a:rPr>
              <a:t>Piezas impresas en 3D</a:t>
            </a:r>
          </a:p>
        </p:txBody>
      </p:sp>
      <p:sp>
        <p:nvSpPr>
          <p:cNvPr id="9" name="Rounded Rectangle 8"/>
          <p:cNvSpPr/>
          <p:nvPr/>
        </p:nvSpPr>
        <p:spPr>
          <a:xfrm>
            <a:off x="4937760" y="1600200"/>
            <a:ext cx="2103120" cy="1097280"/>
          </a:xfrm>
          <a:prstGeom prst="roundRect">
            <a:avLst>
              <a:gd name="adj" fmla="val 4000"/>
            </a:avLst>
          </a:prstGeom>
          <a:solidFill>
            <a:srgbClr val="181926"/>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0" y="1709928"/>
            <a:ext cx="2103120" cy="365760"/>
          </a:xfrm>
          <a:prstGeom prst="rect">
            <a:avLst/>
          </a:prstGeom>
          <a:noFill/>
        </p:spPr>
        <p:txBody>
          <a:bodyPr wrap="square" anchor="t" lIns="36576" rIns="36576" tIns="18288" bIns="18288">
            <a:spAutoFit/>
          </a:bodyPr>
          <a:lstStyle/>
          <a:p>
            <a:pPr algn="ctr"/>
            <a:r>
              <a:rPr sz="2000" b="1" i="0">
                <a:solidFill>
                  <a:srgbClr val="FB7185"/>
                </a:solidFill>
                <a:latin typeface="Calibri"/>
              </a:rPr>
              <a:t>💰 Carísimas</a:t>
            </a:r>
          </a:p>
        </p:txBody>
      </p:sp>
      <p:sp>
        <p:nvSpPr>
          <p:cNvPr id="11" name="TextBox 10"/>
          <p:cNvSpPr txBox="1"/>
          <p:nvPr/>
        </p:nvSpPr>
        <p:spPr>
          <a:xfrm>
            <a:off x="4937760" y="2130552"/>
            <a:ext cx="2103120" cy="365760"/>
          </a:xfrm>
          <a:prstGeom prst="rect">
            <a:avLst/>
          </a:prstGeom>
          <a:noFill/>
        </p:spPr>
        <p:txBody>
          <a:bodyPr wrap="square" anchor="t" lIns="36576" rIns="36576" tIns="18288" bIns="18288">
            <a:spAutoFit/>
          </a:bodyPr>
          <a:lstStyle/>
          <a:p>
            <a:pPr algn="ctr"/>
            <a:r>
              <a:rPr sz="1500" b="0" i="0">
                <a:solidFill>
                  <a:srgbClr val="C4B5FD"/>
                </a:solidFill>
                <a:latin typeface="Calibri"/>
              </a:rPr>
              <a:t>Cuestan millones</a:t>
            </a:r>
          </a:p>
        </p:txBody>
      </p:sp>
      <p:sp>
        <p:nvSpPr>
          <p:cNvPr id="12" name="Rounded Rectangle 11"/>
          <p:cNvSpPr/>
          <p:nvPr/>
        </p:nvSpPr>
        <p:spPr>
          <a:xfrm>
            <a:off x="7178040" y="1600200"/>
            <a:ext cx="2103120" cy="1097280"/>
          </a:xfrm>
          <a:prstGeom prst="roundRect">
            <a:avLst>
              <a:gd name="adj" fmla="val 4000"/>
            </a:avLst>
          </a:prstGeom>
          <a:solidFill>
            <a:srgbClr val="181926"/>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1709928"/>
            <a:ext cx="2103120" cy="365760"/>
          </a:xfrm>
          <a:prstGeom prst="rect">
            <a:avLst/>
          </a:prstGeom>
          <a:noFill/>
        </p:spPr>
        <p:txBody>
          <a:bodyPr wrap="square" anchor="t" lIns="36576" rIns="36576" tIns="18288" bIns="18288">
            <a:spAutoFit/>
          </a:bodyPr>
          <a:lstStyle/>
          <a:p>
            <a:pPr algn="ctr"/>
            <a:r>
              <a:rPr sz="2000" b="1" i="0">
                <a:solidFill>
                  <a:srgbClr val="FB7185"/>
                </a:solidFill>
                <a:latin typeface="Calibri"/>
              </a:rPr>
              <a:t>🔒 Motores cerrados</a:t>
            </a:r>
          </a:p>
        </p:txBody>
      </p:sp>
      <p:sp>
        <p:nvSpPr>
          <p:cNvPr id="14" name="TextBox 13"/>
          <p:cNvSpPr txBox="1"/>
          <p:nvPr/>
        </p:nvSpPr>
        <p:spPr>
          <a:xfrm>
            <a:off x="7178040" y="2130552"/>
            <a:ext cx="2103120" cy="365760"/>
          </a:xfrm>
          <a:prstGeom prst="rect">
            <a:avLst/>
          </a:prstGeom>
          <a:noFill/>
        </p:spPr>
        <p:txBody>
          <a:bodyPr wrap="square" anchor="t" lIns="36576" rIns="36576" tIns="18288" bIns="18288">
            <a:spAutoFit/>
          </a:bodyPr>
          <a:lstStyle/>
          <a:p>
            <a:pPr algn="ctr"/>
            <a:r>
              <a:rPr sz="1500" b="0" i="0">
                <a:solidFill>
                  <a:srgbClr val="C4B5FD"/>
                </a:solidFill>
                <a:latin typeface="Calibri"/>
              </a:rPr>
              <a:t>Mecánica inaccesible</a:t>
            </a:r>
          </a:p>
        </p:txBody>
      </p:sp>
      <p:sp>
        <p:nvSpPr>
          <p:cNvPr id="15" name="Rounded Rectangle 14"/>
          <p:cNvSpPr/>
          <p:nvPr/>
        </p:nvSpPr>
        <p:spPr>
          <a:xfrm>
            <a:off x="9418320" y="1600200"/>
            <a:ext cx="2103120" cy="1097280"/>
          </a:xfrm>
          <a:prstGeom prst="roundRect">
            <a:avLst>
              <a:gd name="adj" fmla="val 4000"/>
            </a:avLst>
          </a:prstGeom>
          <a:solidFill>
            <a:srgbClr val="181926"/>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0" y="1709928"/>
            <a:ext cx="2103120" cy="365760"/>
          </a:xfrm>
          <a:prstGeom prst="rect">
            <a:avLst/>
          </a:prstGeom>
          <a:noFill/>
        </p:spPr>
        <p:txBody>
          <a:bodyPr wrap="square" anchor="t" lIns="36576" rIns="36576" tIns="18288" bIns="18288">
            <a:spAutoFit/>
          </a:bodyPr>
          <a:lstStyle/>
          <a:p>
            <a:pPr algn="ctr"/>
            <a:r>
              <a:rPr sz="2000" b="1" i="0">
                <a:solidFill>
                  <a:srgbClr val="FB7185"/>
                </a:solidFill>
                <a:latin typeface="Calibri"/>
              </a:rPr>
              <a:t>🔥 Se sobrecalientan</a:t>
            </a:r>
          </a:p>
        </p:txBody>
      </p:sp>
      <p:sp>
        <p:nvSpPr>
          <p:cNvPr id="17" name="TextBox 16"/>
          <p:cNvSpPr txBox="1"/>
          <p:nvPr/>
        </p:nvSpPr>
        <p:spPr>
          <a:xfrm>
            <a:off x="9418320" y="2130552"/>
            <a:ext cx="2103120" cy="365760"/>
          </a:xfrm>
          <a:prstGeom prst="rect">
            <a:avLst/>
          </a:prstGeom>
          <a:noFill/>
        </p:spPr>
        <p:txBody>
          <a:bodyPr wrap="square" anchor="t" lIns="36576" rIns="36576" tIns="18288" bIns="18288">
            <a:spAutoFit/>
          </a:bodyPr>
          <a:lstStyle/>
          <a:p>
            <a:pPr algn="ctr"/>
            <a:r>
              <a:rPr sz="1500" b="0" i="0">
                <a:solidFill>
                  <a:srgbClr val="C4B5FD"/>
                </a:solidFill>
                <a:latin typeface="Calibri"/>
              </a:rPr>
              <a:t>Riesgo al detenerse</a:t>
            </a:r>
          </a:p>
        </p:txBody>
      </p:sp>
      <p:sp>
        <p:nvSpPr>
          <p:cNvPr id="18" name="Rounded Rectangle 17"/>
          <p:cNvSpPr/>
          <p:nvPr/>
        </p:nvSpPr>
        <p:spPr>
          <a:xfrm>
            <a:off x="4937760" y="2880360"/>
            <a:ext cx="6583680" cy="1920240"/>
          </a:xfrm>
          <a:prstGeom prst="roundRect">
            <a:avLst>
              <a:gd name="adj" fmla="val 4000"/>
            </a:avLst>
          </a:prstGeom>
          <a:solidFill>
            <a:srgbClr val="2A1B38"/>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66360" y="2971800"/>
            <a:ext cx="6126480" cy="640080"/>
          </a:xfrm>
          <a:prstGeom prst="rect">
            <a:avLst/>
          </a:prstGeom>
          <a:noFill/>
        </p:spPr>
        <p:txBody>
          <a:bodyPr wrap="square" anchor="t" lIns="36576" rIns="36576" tIns="18288" bIns="18288">
            <a:spAutoFit/>
          </a:bodyPr>
          <a:lstStyle/>
          <a:p>
            <a:pPr algn="l"/>
            <a:r>
              <a:rPr sz="2200" b="1" i="0">
                <a:solidFill>
                  <a:srgbClr val="FAF5FF"/>
                </a:solidFill>
                <a:latin typeface="Calibri"/>
              </a:rPr>
              <a:t>Objetivo: crear una pared robótica accesible que te siga en tiempo real y sea segura.</a:t>
            </a:r>
          </a:p>
        </p:txBody>
      </p:sp>
      <p:sp>
        <p:nvSpPr>
          <p:cNvPr id="20" name="TextBox 19"/>
          <p:cNvSpPr txBox="1"/>
          <p:nvPr/>
        </p:nvSpPr>
        <p:spPr>
          <a:xfrm>
            <a:off x="5166360" y="3703320"/>
            <a:ext cx="6126480" cy="320040"/>
          </a:xfrm>
          <a:prstGeom prst="rect">
            <a:avLst/>
          </a:prstGeom>
          <a:noFill/>
        </p:spPr>
        <p:txBody>
          <a:bodyPr wrap="square" anchor="t" lIns="36576" rIns="36576" tIns="18288" bIns="18288">
            <a:spAutoFit/>
          </a:bodyPr>
          <a:lstStyle/>
          <a:p>
            <a:pPr algn="l"/>
            <a:r>
              <a:rPr sz="1800" b="1" i="0">
                <a:solidFill>
                  <a:srgbClr val="E024A5"/>
                </a:solidFill>
                <a:latin typeface="Calibri"/>
              </a:rPr>
              <a:t>▸ Paneles modulares en 3D</a:t>
            </a:r>
          </a:p>
        </p:txBody>
      </p:sp>
      <p:sp>
        <p:nvSpPr>
          <p:cNvPr id="21" name="TextBox 20"/>
          <p:cNvSpPr txBox="1"/>
          <p:nvPr/>
        </p:nvSpPr>
        <p:spPr>
          <a:xfrm>
            <a:off x="5166360" y="4050791"/>
            <a:ext cx="6126480" cy="320040"/>
          </a:xfrm>
          <a:prstGeom prst="rect">
            <a:avLst/>
          </a:prstGeom>
          <a:noFill/>
        </p:spPr>
        <p:txBody>
          <a:bodyPr wrap="square" anchor="t" lIns="36576" rIns="36576" tIns="18288" bIns="18288">
            <a:spAutoFit/>
          </a:bodyPr>
          <a:lstStyle/>
          <a:p>
            <a:pPr algn="l"/>
            <a:r>
              <a:rPr sz="1800" b="1" i="0">
                <a:solidFill>
                  <a:srgbClr val="E024A5"/>
                </a:solidFill>
                <a:latin typeface="Calibri"/>
              </a:rPr>
              <a:t>▸ Sigan y reaccionen a gestos</a:t>
            </a:r>
          </a:p>
        </p:txBody>
      </p:sp>
      <p:sp>
        <p:nvSpPr>
          <p:cNvPr id="22" name="TextBox 21"/>
          <p:cNvSpPr txBox="1"/>
          <p:nvPr/>
        </p:nvSpPr>
        <p:spPr>
          <a:xfrm>
            <a:off x="5166360" y="4398264"/>
            <a:ext cx="6126480" cy="320040"/>
          </a:xfrm>
          <a:prstGeom prst="rect">
            <a:avLst/>
          </a:prstGeom>
          <a:noFill/>
        </p:spPr>
        <p:txBody>
          <a:bodyPr wrap="square" anchor="t" lIns="36576" rIns="36576" tIns="18288" bIns="18288">
            <a:spAutoFit/>
          </a:bodyPr>
          <a:lstStyle/>
          <a:p>
            <a:pPr algn="l"/>
            <a:r>
              <a:rPr sz="1800" b="1" i="0">
                <a:solidFill>
                  <a:srgbClr val="E024A5"/>
                </a:solidFill>
                <a:latin typeface="Calibri"/>
              </a:rPr>
              <a:t>▸ Protegerse del sobrecalentamiento</a:t>
            </a:r>
          </a:p>
        </p:txBody>
      </p:sp>
      <p:sp>
        <p:nvSpPr>
          <p:cNvPr id="23" name="Rounded Rectangle 22"/>
          <p:cNvSpPr/>
          <p:nvPr/>
        </p:nvSpPr>
        <p:spPr>
          <a:xfrm>
            <a:off x="4937760" y="4983480"/>
            <a:ext cx="6583680" cy="118872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66360" y="5074920"/>
            <a:ext cx="6126480" cy="365760"/>
          </a:xfrm>
          <a:prstGeom prst="rect">
            <a:avLst/>
          </a:prstGeom>
          <a:noFill/>
        </p:spPr>
        <p:txBody>
          <a:bodyPr wrap="square" anchor="t" lIns="36576" rIns="36576" tIns="18288" bIns="18288">
            <a:spAutoFit/>
          </a:bodyPr>
          <a:lstStyle/>
          <a:p>
            <a:pPr algn="l"/>
            <a:r>
              <a:rPr sz="1600" b="1" i="0">
                <a:solidFill>
                  <a:srgbClr val="F59E0B"/>
                </a:solidFill>
                <a:latin typeface="Calibri"/>
              </a:rPr>
              <a:t>Corte 1: Diseño  ➔  Corte 2: Prototipo [ESTAMOS AQUÍ]  ➔  Corte 3: Pared completa</a:t>
            </a:r>
          </a:p>
        </p:txBody>
      </p:sp>
      <p:sp>
        <p:nvSpPr>
          <p:cNvPr id="25" name="TextBox 24"/>
          <p:cNvSpPr txBox="1"/>
          <p:nvPr/>
        </p:nvSpPr>
        <p:spPr>
          <a:xfrm>
            <a:off x="5166360" y="5532120"/>
            <a:ext cx="6126480" cy="548640"/>
          </a:xfrm>
          <a:prstGeom prst="rect">
            <a:avLst/>
          </a:prstGeom>
          <a:noFill/>
        </p:spPr>
        <p:txBody>
          <a:bodyPr wrap="square" anchor="t" lIns="36576" rIns="36576" tIns="18288" bIns="18288">
            <a:spAutoFit/>
          </a:bodyPr>
          <a:lstStyle/>
          <a:p>
            <a:pPr algn="l"/>
            <a:r>
              <a:rPr sz="1400" b="0" i="0">
                <a:solidFill>
                  <a:srgbClr val="C4B5FD"/>
                </a:solidFill>
                <a:latin typeface="Calibri"/>
              </a:rPr>
              <a:t>Materiales: 16 módulos PLA SOFIA003, 32 servos MG90S, 64 tornillos M3, 2 PCA9685, 1 ESP32-C3 y cámara.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PLANTEAMIENTO Y MARCO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Hermosas, caras y sin ojos</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3/10</a:t>
            </a:r>
          </a:p>
        </p:txBody>
      </p:sp>
      <p:sp>
        <p:nvSpPr>
          <p:cNvPr id="6" name="Rounded Rectangle 5"/>
          <p:cNvSpPr/>
          <p:nvPr/>
        </p:nvSpPr>
        <p:spPr>
          <a:xfrm>
            <a:off x="731520" y="1645920"/>
            <a:ext cx="3474720" cy="44805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3017520" cy="457200"/>
          </a:xfrm>
          <a:prstGeom prst="rect">
            <a:avLst/>
          </a:prstGeom>
          <a:noFill/>
        </p:spPr>
        <p:txBody>
          <a:bodyPr wrap="square" anchor="t" lIns="36576" rIns="36576" tIns="18288" bIns="18288">
            <a:spAutoFit/>
          </a:bodyPr>
          <a:lstStyle/>
          <a:p>
            <a:pPr algn="l"/>
            <a:r>
              <a:rPr sz="2800" b="1" i="0">
                <a:solidFill>
                  <a:srgbClr val="FAF5FF"/>
                </a:solidFill>
                <a:latin typeface="Calibri"/>
              </a:rPr>
              <a:t>MIT inFORM</a:t>
            </a:r>
          </a:p>
        </p:txBody>
      </p:sp>
      <p:sp>
        <p:nvSpPr>
          <p:cNvPr id="8" name="TextBox 7"/>
          <p:cNvSpPr txBox="1"/>
          <p:nvPr/>
        </p:nvSpPr>
        <p:spPr>
          <a:xfrm>
            <a:off x="960120" y="2377440"/>
            <a:ext cx="3017520" cy="365760"/>
          </a:xfrm>
          <a:prstGeom prst="rect">
            <a:avLst/>
          </a:prstGeom>
          <a:noFill/>
        </p:spPr>
        <p:txBody>
          <a:bodyPr wrap="square" anchor="t" lIns="36576" rIns="36576" tIns="18288" bIns="18288">
            <a:spAutoFit/>
          </a:bodyPr>
          <a:lstStyle/>
          <a:p>
            <a:pPr algn="l"/>
            <a:r>
              <a:rPr sz="1800" b="0" i="1">
                <a:solidFill>
                  <a:srgbClr val="C4B5FD"/>
                </a:solidFill>
                <a:latin typeface="Calibri"/>
              </a:rPr>
              <a:t>Mesas cinéticas motorizadas</a:t>
            </a:r>
          </a:p>
        </p:txBody>
      </p:sp>
      <p:sp>
        <p:nvSpPr>
          <p:cNvPr id="9" name="TextBox 8"/>
          <p:cNvSpPr txBox="1"/>
          <p:nvPr/>
        </p:nvSpPr>
        <p:spPr>
          <a:xfrm>
            <a:off x="960120" y="2926080"/>
            <a:ext cx="3017520" cy="2743200"/>
          </a:xfrm>
          <a:prstGeom prst="rect">
            <a:avLst/>
          </a:prstGeom>
          <a:noFill/>
        </p:spPr>
        <p:txBody>
          <a:bodyPr wrap="square" anchor="t" lIns="36576" rIns="36576" tIns="18288" bIns="18288">
            <a:spAutoFit/>
          </a:bodyPr>
          <a:lstStyle/>
          <a:p>
            <a:pPr algn="l"/>
            <a:r>
              <a:rPr sz="2200" b="0" i="0">
                <a:solidFill>
                  <a:srgbClr val="FAF5FF"/>
                </a:solidFill>
                <a:latin typeface="Calibri"/>
              </a:rPr>
              <a:t>▸ 900 barras móviles</a:t>
            </a:r>
          </a:p>
          <a:p>
            <a:pPr algn="l"/>
            <a:r>
              <a:rPr sz="2200" b="0" i="0">
                <a:solidFill>
                  <a:srgbClr val="FAF5FF"/>
                </a:solidFill>
                <a:latin typeface="Calibri"/>
              </a:rPr>
              <a:t/>
            </a:r>
          </a:p>
          <a:p>
            <a:pPr algn="l"/>
            <a:r>
              <a:rPr sz="2200" b="0" i="0">
                <a:solidFill>
                  <a:srgbClr val="FAF5FF"/>
                </a:solidFill>
                <a:latin typeface="Calibri"/>
              </a:rPr>
              <a:t>▸ Millones de pesos en costo</a:t>
            </a:r>
          </a:p>
          <a:p>
            <a:pPr algn="l"/>
            <a:r>
              <a:rPr sz="2200" b="0" i="0">
                <a:solidFill>
                  <a:srgbClr val="FAF5FF"/>
                </a:solidFill>
                <a:latin typeface="Calibri"/>
              </a:rPr>
              <a:t/>
            </a:r>
          </a:p>
          <a:p>
            <a:pPr algn="l"/>
            <a:r>
              <a:rPr sz="2200" b="0" i="0">
                <a:solidFill>
                  <a:srgbClr val="FAF5FF"/>
                </a:solidFill>
                <a:latin typeface="Calibri"/>
              </a:rPr>
              <a:t>▸ Atadas a un laboratorio</a:t>
            </a:r>
          </a:p>
        </p:txBody>
      </p:sp>
      <p:sp>
        <p:nvSpPr>
          <p:cNvPr id="10" name="Rounded Rectangle 9"/>
          <p:cNvSpPr/>
          <p:nvPr/>
        </p:nvSpPr>
        <p:spPr>
          <a:xfrm>
            <a:off x="4389120" y="1645920"/>
            <a:ext cx="3474720" cy="44805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828800"/>
            <a:ext cx="3017520" cy="457200"/>
          </a:xfrm>
          <a:prstGeom prst="rect">
            <a:avLst/>
          </a:prstGeom>
          <a:noFill/>
        </p:spPr>
        <p:txBody>
          <a:bodyPr wrap="square" anchor="t" lIns="36576" rIns="36576" tIns="18288" bIns="18288">
            <a:spAutoFit/>
          </a:bodyPr>
          <a:lstStyle/>
          <a:p>
            <a:pPr algn="l"/>
            <a:r>
              <a:rPr sz="2800" b="1" i="0">
                <a:solidFill>
                  <a:srgbClr val="FAF5FF"/>
                </a:solidFill>
                <a:latin typeface="Calibri"/>
              </a:rPr>
              <a:t>Arte Comercial</a:t>
            </a:r>
          </a:p>
        </p:txBody>
      </p:sp>
      <p:sp>
        <p:nvSpPr>
          <p:cNvPr id="12" name="TextBox 11"/>
          <p:cNvSpPr txBox="1"/>
          <p:nvPr/>
        </p:nvSpPr>
        <p:spPr>
          <a:xfrm>
            <a:off x="4617720" y="2377440"/>
            <a:ext cx="3017520" cy="365760"/>
          </a:xfrm>
          <a:prstGeom prst="rect">
            <a:avLst/>
          </a:prstGeom>
          <a:noFill/>
        </p:spPr>
        <p:txBody>
          <a:bodyPr wrap="square" anchor="t" lIns="36576" rIns="36576" tIns="18288" bIns="18288">
            <a:spAutoFit/>
          </a:bodyPr>
          <a:lstStyle/>
          <a:p>
            <a:pPr algn="l"/>
            <a:r>
              <a:rPr sz="1800" b="0" i="1">
                <a:solidFill>
                  <a:srgbClr val="C4B5FD"/>
                </a:solidFill>
                <a:latin typeface="Calibri"/>
              </a:rPr>
              <a:t>Esculturas en aeropuertos</a:t>
            </a:r>
          </a:p>
        </p:txBody>
      </p:sp>
      <p:sp>
        <p:nvSpPr>
          <p:cNvPr id="13" name="TextBox 12"/>
          <p:cNvSpPr txBox="1"/>
          <p:nvPr/>
        </p:nvSpPr>
        <p:spPr>
          <a:xfrm>
            <a:off x="4617720" y="2926080"/>
            <a:ext cx="3017520" cy="2743200"/>
          </a:xfrm>
          <a:prstGeom prst="rect">
            <a:avLst/>
          </a:prstGeom>
          <a:noFill/>
        </p:spPr>
        <p:txBody>
          <a:bodyPr wrap="square" anchor="t" lIns="36576" rIns="36576" tIns="18288" bIns="18288">
            <a:spAutoFit/>
          </a:bodyPr>
          <a:lstStyle/>
          <a:p>
            <a:pPr algn="l"/>
            <a:r>
              <a:rPr sz="2200" b="0" i="0">
                <a:solidFill>
                  <a:srgbClr val="FAF5FF"/>
                </a:solidFill>
                <a:latin typeface="Calibri"/>
              </a:rPr>
              <a:t>▸ Coreografía en bucle fijo</a:t>
            </a:r>
          </a:p>
          <a:p>
            <a:pPr algn="l"/>
            <a:r>
              <a:rPr sz="2200" b="0" i="0">
                <a:solidFill>
                  <a:srgbClr val="FAF5FF"/>
                </a:solidFill>
                <a:latin typeface="Calibri"/>
              </a:rPr>
              <a:t/>
            </a:r>
          </a:p>
          <a:p>
            <a:pPr algn="l"/>
            <a:r>
              <a:rPr sz="2200" b="0" i="0">
                <a:solidFill>
                  <a:srgbClr val="FAF5FF"/>
                </a:solidFill>
                <a:latin typeface="Calibri"/>
              </a:rPr>
              <a:t>▸ Cero interacción viva</a:t>
            </a:r>
          </a:p>
          <a:p>
            <a:pPr algn="l"/>
            <a:r>
              <a:rPr sz="2200" b="0" i="0">
                <a:solidFill>
                  <a:srgbClr val="FAF5FF"/>
                </a:solidFill>
                <a:latin typeface="Calibri"/>
              </a:rPr>
              <a:t/>
            </a:r>
          </a:p>
          <a:p>
            <a:pPr algn="l"/>
            <a:r>
              <a:rPr sz="2200" b="0" i="0">
                <a:solidFill>
                  <a:srgbClr val="FAF5FF"/>
                </a:solidFill>
                <a:latin typeface="Calibri"/>
              </a:rPr>
              <a:t>▸ No te ven ni te siguen</a:t>
            </a:r>
          </a:p>
        </p:txBody>
      </p:sp>
      <p:sp>
        <p:nvSpPr>
          <p:cNvPr id="14" name="Rounded Rectangle 13"/>
          <p:cNvSpPr/>
          <p:nvPr/>
        </p:nvSpPr>
        <p:spPr>
          <a:xfrm>
            <a:off x="8046720" y="1645920"/>
            <a:ext cx="3474720" cy="4480560"/>
          </a:xfrm>
          <a:prstGeom prst="roundRect">
            <a:avLst>
              <a:gd name="adj" fmla="val 4000"/>
            </a:avLst>
          </a:prstGeom>
          <a:solidFill>
            <a:srgbClr val="2A1B38"/>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1828800"/>
            <a:ext cx="3017520" cy="457200"/>
          </a:xfrm>
          <a:prstGeom prst="rect">
            <a:avLst/>
          </a:prstGeom>
          <a:noFill/>
        </p:spPr>
        <p:txBody>
          <a:bodyPr wrap="square" anchor="t" lIns="36576" rIns="36576" tIns="18288" bIns="18288">
            <a:spAutoFit/>
          </a:bodyPr>
          <a:lstStyle/>
          <a:p>
            <a:pPr algn="l"/>
            <a:r>
              <a:rPr sz="3000" b="1" i="0">
                <a:solidFill>
                  <a:srgbClr val="E024A5"/>
                </a:solidFill>
                <a:latin typeface="Calibri"/>
              </a:rPr>
              <a:t>SOFÍA (ITESO)</a:t>
            </a:r>
          </a:p>
        </p:txBody>
      </p:sp>
      <p:sp>
        <p:nvSpPr>
          <p:cNvPr id="16" name="TextBox 15"/>
          <p:cNvSpPr txBox="1"/>
          <p:nvPr/>
        </p:nvSpPr>
        <p:spPr>
          <a:xfrm>
            <a:off x="8275320" y="2377440"/>
            <a:ext cx="3017520" cy="365760"/>
          </a:xfrm>
          <a:prstGeom prst="rect">
            <a:avLst/>
          </a:prstGeom>
          <a:noFill/>
        </p:spPr>
        <p:txBody>
          <a:bodyPr wrap="square" anchor="t" lIns="36576" rIns="36576" tIns="18288" bIns="18288">
            <a:spAutoFit/>
          </a:bodyPr>
          <a:lstStyle/>
          <a:p>
            <a:pPr algn="l"/>
            <a:r>
              <a:rPr sz="1800" b="0" i="1">
                <a:solidFill>
                  <a:srgbClr val="F59E0B"/>
                </a:solidFill>
                <a:latin typeface="Calibri"/>
              </a:rPr>
              <a:t>Pared interactiva inteligente</a:t>
            </a:r>
          </a:p>
        </p:txBody>
      </p:sp>
      <p:sp>
        <p:nvSpPr>
          <p:cNvPr id="17" name="TextBox 16"/>
          <p:cNvSpPr txBox="1"/>
          <p:nvPr/>
        </p:nvSpPr>
        <p:spPr>
          <a:xfrm>
            <a:off x="8275320" y="2834640"/>
            <a:ext cx="3017520" cy="1645920"/>
          </a:xfrm>
          <a:prstGeom prst="rect">
            <a:avLst/>
          </a:prstGeom>
          <a:noFill/>
        </p:spPr>
        <p:txBody>
          <a:bodyPr wrap="square" anchor="t" lIns="36576" rIns="36576" tIns="18288" bIns="18288">
            <a:spAutoFit/>
          </a:bodyPr>
          <a:lstStyle/>
          <a:p>
            <a:pPr algn="l"/>
            <a:r>
              <a:rPr sz="1800" b="1" i="0">
                <a:solidFill>
                  <a:srgbClr val="FAF5FF"/>
                </a:solidFill>
                <a:latin typeface="Calibri"/>
              </a:rPr>
              <a:t>⭐ Te ve y te sigue en vivo</a:t>
            </a:r>
          </a:p>
          <a:p>
            <a:pPr algn="l"/>
            <a:r>
              <a:rPr sz="1800" b="1" i="0">
                <a:solidFill>
                  <a:srgbClr val="FAF5FF"/>
                </a:solidFill>
                <a:latin typeface="Calibri"/>
              </a:rPr>
              <a:t>⭐ Modular en 3D (16 módulos)</a:t>
            </a:r>
          </a:p>
          <a:p>
            <a:pPr algn="l"/>
            <a:r>
              <a:rPr sz="1800" b="1" i="0">
                <a:solidFill>
                  <a:srgbClr val="FAF5FF"/>
                </a:solidFill>
                <a:latin typeface="Calibri"/>
              </a:rPr>
              <a:t>⭐ Sin sensor interno: medido con láser y osciloscopio</a:t>
            </a:r>
          </a:p>
        </p:txBody>
      </p:sp>
      <p:sp>
        <p:nvSpPr>
          <p:cNvPr id="18" name="Rounded Rectangle 17"/>
          <p:cNvSpPr/>
          <p:nvPr/>
        </p:nvSpPr>
        <p:spPr>
          <a:xfrm>
            <a:off x="8321040" y="4526280"/>
            <a:ext cx="2926080" cy="150876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ofia_solid.png"/>
          <p:cNvPicPr>
            <a:picLocks noChangeAspect="1"/>
          </p:cNvPicPr>
          <p:nvPr/>
        </p:nvPicPr>
        <p:blipFill>
          <a:blip r:embed="rId3"/>
          <a:stretch>
            <a:fillRect/>
          </a:stretch>
        </p:blipFill>
        <p:spPr>
          <a:xfrm>
            <a:off x="9054769" y="4581144"/>
            <a:ext cx="1458622" cy="139903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DISEÑO DE LA INVESTIGACIÓN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Tres cosas medidas, tres líneas rojas</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4/10</a:t>
            </a:r>
          </a:p>
        </p:txBody>
      </p:sp>
      <p:sp>
        <p:nvSpPr>
          <p:cNvPr id="6" name="Rounded Rectangle 5"/>
          <p:cNvSpPr/>
          <p:nvPr/>
        </p:nvSpPr>
        <p:spPr>
          <a:xfrm>
            <a:off x="731520" y="1645920"/>
            <a:ext cx="1965960" cy="1051560"/>
          </a:xfrm>
          <a:prstGeom prst="roundRect">
            <a:avLst>
              <a:gd name="adj" fmla="val 4000"/>
            </a:avLst>
          </a:prstGeom>
          <a:solidFill>
            <a:srgbClr val="181926"/>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55648"/>
            <a:ext cx="1965960" cy="365760"/>
          </a:xfrm>
          <a:prstGeom prst="rect">
            <a:avLst/>
          </a:prstGeom>
          <a:noFill/>
        </p:spPr>
        <p:txBody>
          <a:bodyPr wrap="square" anchor="t" lIns="36576" rIns="36576" tIns="18288" bIns="18288">
            <a:spAutoFit/>
          </a:bodyPr>
          <a:lstStyle/>
          <a:p>
            <a:pPr algn="ctr"/>
            <a:r>
              <a:rPr sz="1800" b="1" i="0">
                <a:solidFill>
                  <a:srgbClr val="E024A5"/>
                </a:solidFill>
                <a:latin typeface="Calibri"/>
              </a:rPr>
              <a:t>📷 Cámara web</a:t>
            </a:r>
          </a:p>
        </p:txBody>
      </p:sp>
      <p:sp>
        <p:nvSpPr>
          <p:cNvPr id="8" name="TextBox 7"/>
          <p:cNvSpPr txBox="1"/>
          <p:nvPr/>
        </p:nvSpPr>
        <p:spPr>
          <a:xfrm>
            <a:off x="731520" y="2176272"/>
            <a:ext cx="1965960" cy="365760"/>
          </a:xfrm>
          <a:prstGeom prst="rect">
            <a:avLst/>
          </a:prstGeom>
          <a:noFill/>
        </p:spPr>
        <p:txBody>
          <a:bodyPr wrap="square" anchor="t" lIns="36576" rIns="36576" tIns="18288" bIns="18288">
            <a:spAutoFit/>
          </a:bodyPr>
          <a:lstStyle/>
          <a:p>
            <a:pPr algn="ctr"/>
            <a:r>
              <a:rPr sz="1400" b="0" i="0">
                <a:solidFill>
                  <a:srgbClr val="C4B5FD"/>
                </a:solidFill>
                <a:latin typeface="Calibri"/>
              </a:rPr>
              <a:t>30 FPS</a:t>
            </a:r>
          </a:p>
        </p:txBody>
      </p:sp>
      <p:cxnSp>
        <p:nvCxnSpPr>
          <p:cNvPr id="9" name="Connector 8"/>
          <p:cNvCxnSpPr/>
          <p:nvPr/>
        </p:nvCxnSpPr>
        <p:spPr>
          <a:xfrm>
            <a:off x="2697480" y="2167127"/>
            <a:ext cx="274320" cy="0"/>
          </a:xfrm>
          <a:prstGeom prst="line">
            <a:avLst/>
          </a:prstGeom>
          <a:ln w="25400">
            <a:solidFill>
              <a:srgbClr val="E024A5"/>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71800" y="1645920"/>
            <a:ext cx="1965960" cy="1051560"/>
          </a:xfrm>
          <a:prstGeom prst="roundRect">
            <a:avLst>
              <a:gd name="adj" fmla="val 4000"/>
            </a:avLst>
          </a:prstGeom>
          <a:solidFill>
            <a:srgbClr val="181926"/>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1755648"/>
            <a:ext cx="1965960" cy="365760"/>
          </a:xfrm>
          <a:prstGeom prst="rect">
            <a:avLst/>
          </a:prstGeom>
          <a:noFill/>
        </p:spPr>
        <p:txBody>
          <a:bodyPr wrap="square" anchor="t" lIns="36576" rIns="36576" tIns="18288" bIns="18288">
            <a:spAutoFit/>
          </a:bodyPr>
          <a:lstStyle/>
          <a:p>
            <a:pPr algn="ctr"/>
            <a:r>
              <a:rPr sz="1800" b="1" i="0">
                <a:solidFill>
                  <a:srgbClr val="E024A5"/>
                </a:solidFill>
                <a:latin typeface="Calibri"/>
              </a:rPr>
              <a:t>💻 Software PC</a:t>
            </a:r>
          </a:p>
        </p:txBody>
      </p:sp>
      <p:sp>
        <p:nvSpPr>
          <p:cNvPr id="12" name="TextBox 11"/>
          <p:cNvSpPr txBox="1"/>
          <p:nvPr/>
        </p:nvSpPr>
        <p:spPr>
          <a:xfrm>
            <a:off x="2971800" y="2176272"/>
            <a:ext cx="1965960" cy="365760"/>
          </a:xfrm>
          <a:prstGeom prst="rect">
            <a:avLst/>
          </a:prstGeom>
          <a:noFill/>
        </p:spPr>
        <p:txBody>
          <a:bodyPr wrap="square" anchor="t" lIns="36576" rIns="36576" tIns="18288" bIns="18288">
            <a:spAutoFit/>
          </a:bodyPr>
          <a:lstStyle/>
          <a:p>
            <a:pPr algn="ctr"/>
            <a:r>
              <a:rPr sz="1400" b="0" i="0">
                <a:solidFill>
                  <a:srgbClr val="C4B5FD"/>
                </a:solidFill>
                <a:latin typeface="Calibri"/>
              </a:rPr>
              <a:t>Detecta tu mano</a:t>
            </a:r>
          </a:p>
        </p:txBody>
      </p:sp>
      <p:cxnSp>
        <p:nvCxnSpPr>
          <p:cNvPr id="13" name="Connector 12"/>
          <p:cNvCxnSpPr/>
          <p:nvPr/>
        </p:nvCxnSpPr>
        <p:spPr>
          <a:xfrm>
            <a:off x="4937760" y="2167127"/>
            <a:ext cx="274320" cy="0"/>
          </a:xfrm>
          <a:prstGeom prst="line">
            <a:avLst/>
          </a:prstGeom>
          <a:ln w="25400">
            <a:solidFill>
              <a:srgbClr val="E024A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212080" y="1645920"/>
            <a:ext cx="1965960" cy="1051560"/>
          </a:xfrm>
          <a:prstGeom prst="roundRect">
            <a:avLst>
              <a:gd name="adj" fmla="val 4000"/>
            </a:avLst>
          </a:prstGeom>
          <a:solidFill>
            <a:srgbClr val="181926"/>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0" y="1755648"/>
            <a:ext cx="1965960" cy="365760"/>
          </a:xfrm>
          <a:prstGeom prst="rect">
            <a:avLst/>
          </a:prstGeom>
          <a:noFill/>
        </p:spPr>
        <p:txBody>
          <a:bodyPr wrap="square" anchor="t" lIns="36576" rIns="36576" tIns="18288" bIns="18288">
            <a:spAutoFit/>
          </a:bodyPr>
          <a:lstStyle/>
          <a:p>
            <a:pPr algn="ctr"/>
            <a:r>
              <a:rPr sz="1800" b="1" i="0">
                <a:solidFill>
                  <a:srgbClr val="E024A5"/>
                </a:solidFill>
                <a:latin typeface="Calibri"/>
              </a:rPr>
              <a:t>📶 Bluetooth</a:t>
            </a:r>
          </a:p>
        </p:txBody>
      </p:sp>
      <p:sp>
        <p:nvSpPr>
          <p:cNvPr id="16" name="TextBox 15"/>
          <p:cNvSpPr txBox="1"/>
          <p:nvPr/>
        </p:nvSpPr>
        <p:spPr>
          <a:xfrm>
            <a:off x="5212080" y="2176272"/>
            <a:ext cx="1965960" cy="365760"/>
          </a:xfrm>
          <a:prstGeom prst="rect">
            <a:avLst/>
          </a:prstGeom>
          <a:noFill/>
        </p:spPr>
        <p:txBody>
          <a:bodyPr wrap="square" anchor="t" lIns="36576" rIns="36576" tIns="18288" bIns="18288">
            <a:spAutoFit/>
          </a:bodyPr>
          <a:lstStyle/>
          <a:p>
            <a:pPr algn="ctr"/>
            <a:r>
              <a:rPr sz="1400" b="0" i="0">
                <a:solidFill>
                  <a:srgbClr val="C4B5FD"/>
                </a:solidFill>
                <a:latin typeface="Calibri"/>
              </a:rPr>
              <a:t>Sin cables LE</a:t>
            </a:r>
          </a:p>
        </p:txBody>
      </p:sp>
      <p:cxnSp>
        <p:nvCxnSpPr>
          <p:cNvPr id="17" name="Connector 16"/>
          <p:cNvCxnSpPr/>
          <p:nvPr/>
        </p:nvCxnSpPr>
        <p:spPr>
          <a:xfrm>
            <a:off x="7178040" y="2167127"/>
            <a:ext cx="274320" cy="0"/>
          </a:xfrm>
          <a:prstGeom prst="line">
            <a:avLst/>
          </a:prstGeom>
          <a:ln w="25400">
            <a:solidFill>
              <a:srgbClr val="E024A5"/>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52360" y="1645920"/>
            <a:ext cx="1965960" cy="1051560"/>
          </a:xfrm>
          <a:prstGeom prst="roundRect">
            <a:avLst>
              <a:gd name="adj" fmla="val 4000"/>
            </a:avLst>
          </a:prstGeom>
          <a:solidFill>
            <a:srgbClr val="181926"/>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1755648"/>
            <a:ext cx="1965960" cy="365760"/>
          </a:xfrm>
          <a:prstGeom prst="rect">
            <a:avLst/>
          </a:prstGeom>
          <a:noFill/>
        </p:spPr>
        <p:txBody>
          <a:bodyPr wrap="square" anchor="t" lIns="36576" rIns="36576" tIns="18288" bIns="18288">
            <a:spAutoFit/>
          </a:bodyPr>
          <a:lstStyle/>
          <a:p>
            <a:pPr algn="ctr"/>
            <a:r>
              <a:rPr sz="1800" b="1" i="0">
                <a:solidFill>
                  <a:srgbClr val="E024A5"/>
                </a:solidFill>
                <a:latin typeface="Calibri"/>
              </a:rPr>
              <a:t>⚡ ESP32 + 2x PCA</a:t>
            </a:r>
          </a:p>
        </p:txBody>
      </p:sp>
      <p:sp>
        <p:nvSpPr>
          <p:cNvPr id="20" name="TextBox 19"/>
          <p:cNvSpPr txBox="1"/>
          <p:nvPr/>
        </p:nvSpPr>
        <p:spPr>
          <a:xfrm>
            <a:off x="7452360" y="2176272"/>
            <a:ext cx="1965960" cy="365760"/>
          </a:xfrm>
          <a:prstGeom prst="rect">
            <a:avLst/>
          </a:prstGeom>
          <a:noFill/>
        </p:spPr>
        <p:txBody>
          <a:bodyPr wrap="square" anchor="t" lIns="36576" rIns="36576" tIns="18288" bIns="18288">
            <a:spAutoFit/>
          </a:bodyPr>
          <a:lstStyle/>
          <a:p>
            <a:pPr algn="ctr"/>
            <a:r>
              <a:rPr sz="1400" b="0" i="0">
                <a:solidFill>
                  <a:srgbClr val="C4B5FD"/>
                </a:solidFill>
                <a:latin typeface="Calibri"/>
              </a:rPr>
              <a:t>Control 32 canales</a:t>
            </a:r>
          </a:p>
        </p:txBody>
      </p:sp>
      <p:cxnSp>
        <p:nvCxnSpPr>
          <p:cNvPr id="21" name="Connector 20"/>
          <p:cNvCxnSpPr/>
          <p:nvPr/>
        </p:nvCxnSpPr>
        <p:spPr>
          <a:xfrm>
            <a:off x="9418320" y="2167127"/>
            <a:ext cx="274320" cy="0"/>
          </a:xfrm>
          <a:prstGeom prst="line">
            <a:avLst/>
          </a:prstGeom>
          <a:ln w="25400">
            <a:solidFill>
              <a:srgbClr val="E024A5"/>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92640" y="1645920"/>
            <a:ext cx="1965960" cy="1051560"/>
          </a:xfrm>
          <a:prstGeom prst="roundRect">
            <a:avLst>
              <a:gd name="adj" fmla="val 4000"/>
            </a:avLst>
          </a:prstGeom>
          <a:solidFill>
            <a:srgbClr val="181926"/>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1755648"/>
            <a:ext cx="1965960" cy="365760"/>
          </a:xfrm>
          <a:prstGeom prst="rect">
            <a:avLst/>
          </a:prstGeom>
          <a:noFill/>
        </p:spPr>
        <p:txBody>
          <a:bodyPr wrap="square" anchor="t" lIns="36576" rIns="36576" tIns="18288" bIns="18288">
            <a:spAutoFit/>
          </a:bodyPr>
          <a:lstStyle/>
          <a:p>
            <a:pPr algn="ctr"/>
            <a:r>
              <a:rPr sz="1800" b="1" i="0">
                <a:solidFill>
                  <a:srgbClr val="E024A5"/>
                </a:solidFill>
                <a:latin typeface="Calibri"/>
              </a:rPr>
              <a:t>🌸 16 Paneles</a:t>
            </a:r>
          </a:p>
        </p:txBody>
      </p:sp>
      <p:sp>
        <p:nvSpPr>
          <p:cNvPr id="24" name="TextBox 23"/>
          <p:cNvSpPr txBox="1"/>
          <p:nvPr/>
        </p:nvSpPr>
        <p:spPr>
          <a:xfrm>
            <a:off x="9692640" y="2176272"/>
            <a:ext cx="1965960" cy="365760"/>
          </a:xfrm>
          <a:prstGeom prst="rect">
            <a:avLst/>
          </a:prstGeom>
          <a:noFill/>
        </p:spPr>
        <p:txBody>
          <a:bodyPr wrap="square" anchor="t" lIns="36576" rIns="36576" tIns="18288" bIns="18288">
            <a:spAutoFit/>
          </a:bodyPr>
          <a:lstStyle/>
          <a:p>
            <a:pPr algn="ctr"/>
            <a:r>
              <a:rPr sz="1400" b="0" i="0">
                <a:solidFill>
                  <a:srgbClr val="C4B5FD"/>
                </a:solidFill>
                <a:latin typeface="Calibri"/>
              </a:rPr>
              <a:t>32 servos MG90S</a:t>
            </a:r>
          </a:p>
        </p:txBody>
      </p:sp>
      <p:sp>
        <p:nvSpPr>
          <p:cNvPr id="25" name="Rounded Rectangle 24"/>
          <p:cNvSpPr/>
          <p:nvPr/>
        </p:nvSpPr>
        <p:spPr>
          <a:xfrm>
            <a:off x="731520" y="2971800"/>
            <a:ext cx="3474720" cy="320040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3154680"/>
            <a:ext cx="3017520" cy="457200"/>
          </a:xfrm>
          <a:prstGeom prst="rect">
            <a:avLst/>
          </a:prstGeom>
          <a:noFill/>
        </p:spPr>
        <p:txBody>
          <a:bodyPr wrap="square" anchor="t" lIns="36576" rIns="36576" tIns="18288" bIns="18288">
            <a:spAutoFit/>
          </a:bodyPr>
          <a:lstStyle/>
          <a:p>
            <a:pPr algn="l"/>
            <a:r>
              <a:rPr sz="2600" b="1" i="0">
                <a:solidFill>
                  <a:srgbClr val="FAF5FF"/>
                </a:solidFill>
                <a:latin typeface="Calibri"/>
              </a:rPr>
              <a:t>1. Qué medimos</a:t>
            </a:r>
          </a:p>
        </p:txBody>
      </p:sp>
      <p:sp>
        <p:nvSpPr>
          <p:cNvPr id="27" name="TextBox 26"/>
          <p:cNvSpPr txBox="1"/>
          <p:nvPr/>
        </p:nvSpPr>
        <p:spPr>
          <a:xfrm>
            <a:off x="960120" y="3749040"/>
            <a:ext cx="3017520" cy="2103120"/>
          </a:xfrm>
          <a:prstGeom prst="rect">
            <a:avLst/>
          </a:prstGeom>
          <a:noFill/>
        </p:spPr>
        <p:txBody>
          <a:bodyPr wrap="square" anchor="t" lIns="36576" rIns="36576" tIns="18288" bIns="18288">
            <a:spAutoFit/>
          </a:bodyPr>
          <a:lstStyle/>
          <a:p>
            <a:pPr algn="l"/>
            <a:r>
              <a:rPr sz="2200" b="0" i="0">
                <a:solidFill>
                  <a:srgbClr val="C4B5FD"/>
                </a:solidFill>
                <a:latin typeface="Calibri"/>
              </a:rPr>
              <a:t>▸ Velocidad de cámara</a:t>
            </a:r>
          </a:p>
          <a:p>
            <a:pPr algn="l"/>
            <a:r>
              <a:rPr sz="2200" b="0" i="0">
                <a:solidFill>
                  <a:srgbClr val="C4B5FD"/>
                </a:solidFill>
                <a:latin typeface="Calibri"/>
              </a:rPr>
              <a:t/>
            </a:r>
          </a:p>
          <a:p>
            <a:pPr algn="l"/>
            <a:r>
              <a:rPr sz="2200" b="0" i="0">
                <a:solidFill>
                  <a:srgbClr val="C4B5FD"/>
                </a:solidFill>
                <a:latin typeface="Calibri"/>
              </a:rPr>
              <a:t>▸ Respuesta al saludo</a:t>
            </a:r>
          </a:p>
          <a:p>
            <a:pPr algn="l"/>
            <a:r>
              <a:rPr sz="2200" b="0" i="0">
                <a:solidFill>
                  <a:srgbClr val="C4B5FD"/>
                </a:solidFill>
                <a:latin typeface="Calibri"/>
              </a:rPr>
              <a:t/>
            </a:r>
          </a:p>
          <a:p>
            <a:pPr algn="l"/>
            <a:r>
              <a:rPr sz="2200" b="0" i="0">
                <a:solidFill>
                  <a:srgbClr val="C4B5FD"/>
                </a:solidFill>
                <a:latin typeface="Calibri"/>
              </a:rPr>
              <a:t>▸ Calor del motor</a:t>
            </a:r>
          </a:p>
        </p:txBody>
      </p:sp>
      <p:sp>
        <p:nvSpPr>
          <p:cNvPr id="28" name="Rounded Rectangle 27"/>
          <p:cNvSpPr/>
          <p:nvPr/>
        </p:nvSpPr>
        <p:spPr>
          <a:xfrm>
            <a:off x="4389120" y="2971800"/>
            <a:ext cx="3474720" cy="320040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3154680"/>
            <a:ext cx="3017520" cy="457200"/>
          </a:xfrm>
          <a:prstGeom prst="rect">
            <a:avLst/>
          </a:prstGeom>
          <a:noFill/>
        </p:spPr>
        <p:txBody>
          <a:bodyPr wrap="square" anchor="t" lIns="36576" rIns="36576" tIns="18288" bIns="18288">
            <a:spAutoFit/>
          </a:bodyPr>
          <a:lstStyle/>
          <a:p>
            <a:pPr algn="l"/>
            <a:r>
              <a:rPr sz="2600" b="1" i="0">
                <a:solidFill>
                  <a:srgbClr val="FAF5FF"/>
                </a:solidFill>
                <a:latin typeface="Calibri"/>
              </a:rPr>
              <a:t>2. Con qué</a:t>
            </a:r>
          </a:p>
        </p:txBody>
      </p:sp>
      <p:sp>
        <p:nvSpPr>
          <p:cNvPr id="30" name="TextBox 29"/>
          <p:cNvSpPr txBox="1"/>
          <p:nvPr/>
        </p:nvSpPr>
        <p:spPr>
          <a:xfrm>
            <a:off x="4617720" y="3749040"/>
            <a:ext cx="3017520" cy="2103120"/>
          </a:xfrm>
          <a:prstGeom prst="rect">
            <a:avLst/>
          </a:prstGeom>
          <a:noFill/>
        </p:spPr>
        <p:txBody>
          <a:bodyPr wrap="square" anchor="t" lIns="36576" rIns="36576" tIns="18288" bIns="18288">
            <a:spAutoFit/>
          </a:bodyPr>
          <a:lstStyle/>
          <a:p>
            <a:pPr algn="l"/>
            <a:r>
              <a:rPr sz="1900" b="0" i="0">
                <a:solidFill>
                  <a:srgbClr val="C4B5FD"/>
                </a:solidFill>
                <a:latin typeface="Calibri"/>
              </a:rPr>
              <a:t>▸ Cámara web HD (30 FPS)</a:t>
            </a:r>
          </a:p>
          <a:p>
            <a:pPr algn="l"/>
            <a:r>
              <a:rPr sz="1900" b="0" i="0">
                <a:solidFill>
                  <a:srgbClr val="C4B5FD"/>
                </a:solidFill>
                <a:latin typeface="Calibri"/>
              </a:rPr>
              <a:t/>
            </a:r>
          </a:p>
          <a:p>
            <a:pPr algn="l"/>
            <a:r>
              <a:rPr sz="1900" b="0" i="0">
                <a:solidFill>
                  <a:srgbClr val="C4B5FD"/>
                </a:solidFill>
                <a:latin typeface="Calibri"/>
              </a:rPr>
              <a:t>▸ Termómetro láser y osciloscopio</a:t>
            </a:r>
          </a:p>
          <a:p>
            <a:pPr algn="l"/>
            <a:r>
              <a:rPr sz="1900" b="0" i="0">
                <a:solidFill>
                  <a:srgbClr val="C4B5FD"/>
                </a:solidFill>
                <a:latin typeface="Calibri"/>
              </a:rPr>
              <a:t/>
            </a:r>
          </a:p>
          <a:p>
            <a:pPr algn="l"/>
            <a:r>
              <a:rPr sz="1900" b="0" i="0">
                <a:solidFill>
                  <a:srgbClr val="C4B5FD"/>
                </a:solidFill>
                <a:latin typeface="Calibri"/>
              </a:rPr>
              <a:t>▸ Sin sensor en motor (banco con tope)</a:t>
            </a:r>
          </a:p>
        </p:txBody>
      </p:sp>
      <p:sp>
        <p:nvSpPr>
          <p:cNvPr id="31" name="Rounded Rectangle 30"/>
          <p:cNvSpPr/>
          <p:nvPr/>
        </p:nvSpPr>
        <p:spPr>
          <a:xfrm>
            <a:off x="8046720" y="2971800"/>
            <a:ext cx="3474720" cy="3200400"/>
          </a:xfrm>
          <a:prstGeom prst="roundRect">
            <a:avLst>
              <a:gd name="adj" fmla="val 4000"/>
            </a:avLst>
          </a:prstGeom>
          <a:solidFill>
            <a:srgbClr val="2A1B38"/>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3154680"/>
            <a:ext cx="3017520" cy="457200"/>
          </a:xfrm>
          <a:prstGeom prst="rect">
            <a:avLst/>
          </a:prstGeom>
          <a:noFill/>
        </p:spPr>
        <p:txBody>
          <a:bodyPr wrap="square" anchor="t" lIns="36576" rIns="36576" tIns="18288" bIns="18288">
            <a:spAutoFit/>
          </a:bodyPr>
          <a:lstStyle/>
          <a:p>
            <a:pPr algn="l"/>
            <a:r>
              <a:rPr sz="2600" b="1" i="0">
                <a:solidFill>
                  <a:srgbClr val="E024A5"/>
                </a:solidFill>
                <a:latin typeface="Calibri"/>
              </a:rPr>
              <a:t>3. Aprobamos si</a:t>
            </a:r>
          </a:p>
        </p:txBody>
      </p:sp>
      <p:sp>
        <p:nvSpPr>
          <p:cNvPr id="33" name="TextBox 32"/>
          <p:cNvSpPr txBox="1"/>
          <p:nvPr/>
        </p:nvSpPr>
        <p:spPr>
          <a:xfrm>
            <a:off x="8275320" y="3749040"/>
            <a:ext cx="3017520" cy="2103120"/>
          </a:xfrm>
          <a:prstGeom prst="rect">
            <a:avLst/>
          </a:prstGeom>
          <a:noFill/>
        </p:spPr>
        <p:txBody>
          <a:bodyPr wrap="square" anchor="t" lIns="36576" rIns="36576" tIns="18288" bIns="18288">
            <a:spAutoFit/>
          </a:bodyPr>
          <a:lstStyle/>
          <a:p>
            <a:pPr algn="l"/>
            <a:r>
              <a:rPr sz="2200" b="1" i="0">
                <a:solidFill>
                  <a:srgbClr val="FAF5FF"/>
                </a:solidFill>
                <a:latin typeface="Calibri"/>
              </a:rPr>
              <a:t>⭐ &gt; 30 FPS y &lt; 100 ms</a:t>
            </a:r>
          </a:p>
          <a:p>
            <a:pPr algn="l"/>
            <a:r>
              <a:rPr sz="2200" b="1" i="0">
                <a:solidFill>
                  <a:srgbClr val="FAF5FF"/>
                </a:solidFill>
                <a:latin typeface="Calibri"/>
              </a:rPr>
              <a:t/>
            </a:r>
          </a:p>
          <a:p>
            <a:pPr algn="l"/>
            <a:r>
              <a:rPr sz="2200" b="1" i="0">
                <a:solidFill>
                  <a:srgbClr val="FAF5FF"/>
                </a:solidFill>
                <a:latin typeface="Calibri"/>
              </a:rPr>
              <a:t>⭐ Bajo 55 °C</a:t>
            </a:r>
          </a:p>
          <a:p>
            <a:pPr algn="l"/>
            <a:r>
              <a:rPr sz="2200" b="1" i="0">
                <a:solidFill>
                  <a:srgbClr val="FAF5FF"/>
                </a:solidFill>
                <a:latin typeface="Calibri"/>
              </a:rPr>
              <a:t/>
            </a:r>
          </a:p>
          <a:p>
            <a:pPr algn="l"/>
            <a:r>
              <a:rPr sz="2200" b="1" i="0">
                <a:solidFill>
                  <a:srgbClr val="FAF5FF"/>
                </a:solidFill>
                <a:latin typeface="Calibri"/>
              </a:rPr>
              <a:t>⭐ Corte antes de 15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DESARROLLO Y RESULTADOS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Te sigue la mano a más de 30 cuadros por segundo</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5/10</a:t>
            </a:r>
          </a:p>
        </p:txBody>
      </p:sp>
      <p:sp>
        <p:nvSpPr>
          <p:cNvPr id="6" name="Rounded Rectangle 5"/>
          <p:cNvSpPr/>
          <p:nvPr/>
        </p:nvSpPr>
        <p:spPr>
          <a:xfrm>
            <a:off x="731520" y="1645920"/>
            <a:ext cx="6858000" cy="448056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ofia_gui.png"/>
          <p:cNvPicPr>
            <a:picLocks noChangeAspect="1"/>
          </p:cNvPicPr>
          <p:nvPr/>
        </p:nvPicPr>
        <p:blipFill>
          <a:blip r:embed="rId3"/>
          <a:stretch>
            <a:fillRect/>
          </a:stretch>
        </p:blipFill>
        <p:spPr>
          <a:xfrm>
            <a:off x="832475" y="1700784"/>
            <a:ext cx="6656089" cy="4370832"/>
          </a:xfrm>
          <a:prstGeom prst="rect">
            <a:avLst/>
          </a:prstGeom>
        </p:spPr>
      </p:pic>
      <p:sp>
        <p:nvSpPr>
          <p:cNvPr id="8" name="TextBox 7"/>
          <p:cNvSpPr txBox="1"/>
          <p:nvPr/>
        </p:nvSpPr>
        <p:spPr>
          <a:xfrm>
            <a:off x="731520" y="6144768"/>
            <a:ext cx="6858000" cy="256032"/>
          </a:xfrm>
          <a:prstGeom prst="rect">
            <a:avLst/>
          </a:prstGeom>
          <a:noFill/>
        </p:spPr>
        <p:txBody>
          <a:bodyPr wrap="square" anchor="t" lIns="36576" rIns="36576" tIns="18288" bIns="18288">
            <a:spAutoFit/>
          </a:bodyPr>
          <a:lstStyle/>
          <a:p>
            <a:pPr algn="ctr"/>
            <a:r>
              <a:rPr sz="1300" b="0" i="1">
                <a:solidFill>
                  <a:srgbClr val="C4B5FD"/>
                </a:solidFill>
                <a:latin typeface="Calibri"/>
              </a:rPr>
              <a:t>Estación de control en tiempo real (PySide6)</a:t>
            </a:r>
          </a:p>
        </p:txBody>
      </p:sp>
      <p:sp>
        <p:nvSpPr>
          <p:cNvPr id="9" name="Rounded Rectangle 8"/>
          <p:cNvSpPr/>
          <p:nvPr/>
        </p:nvSpPr>
        <p:spPr>
          <a:xfrm>
            <a:off x="7863840" y="1645920"/>
            <a:ext cx="3657600" cy="1463040"/>
          </a:xfrm>
          <a:prstGeom prst="roundRect">
            <a:avLst>
              <a:gd name="adj" fmla="val 4000"/>
            </a:avLst>
          </a:prstGeom>
          <a:solidFill>
            <a:srgbClr val="2A1B38"/>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737360"/>
            <a:ext cx="3657600" cy="731520"/>
          </a:xfrm>
          <a:prstGeom prst="rect">
            <a:avLst/>
          </a:prstGeom>
          <a:noFill/>
        </p:spPr>
        <p:txBody>
          <a:bodyPr wrap="square" anchor="t" lIns="36576" rIns="36576" tIns="18288" bIns="18288">
            <a:spAutoFit/>
          </a:bodyPr>
          <a:lstStyle/>
          <a:p>
            <a:pPr algn="ctr"/>
            <a:r>
              <a:rPr sz="6000" b="1" i="0">
                <a:solidFill>
                  <a:srgbClr val="E024A5"/>
                </a:solidFill>
                <a:latin typeface="Calibri"/>
              </a:rPr>
              <a:t>30+ FPS</a:t>
            </a:r>
          </a:p>
        </p:txBody>
      </p:sp>
      <p:sp>
        <p:nvSpPr>
          <p:cNvPr id="11" name="TextBox 10"/>
          <p:cNvSpPr txBox="1"/>
          <p:nvPr/>
        </p:nvSpPr>
        <p:spPr>
          <a:xfrm>
            <a:off x="7863840" y="2560320"/>
            <a:ext cx="3657600" cy="365760"/>
          </a:xfrm>
          <a:prstGeom prst="rect">
            <a:avLst/>
          </a:prstGeom>
          <a:noFill/>
        </p:spPr>
        <p:txBody>
          <a:bodyPr wrap="square" anchor="t" lIns="36576" rIns="36576" tIns="18288" bIns="18288">
            <a:spAutoFit/>
          </a:bodyPr>
          <a:lstStyle/>
          <a:p>
            <a:pPr algn="ctr"/>
            <a:r>
              <a:rPr sz="1800" b="0" i="0">
                <a:solidFill>
                  <a:srgbClr val="C4B5FD"/>
                </a:solidFill>
                <a:latin typeface="Calibri"/>
              </a:rPr>
              <a:t>Visión fluida en tiempo real</a:t>
            </a:r>
          </a:p>
        </p:txBody>
      </p:sp>
      <p:sp>
        <p:nvSpPr>
          <p:cNvPr id="12" name="Rounded Rectangle 11"/>
          <p:cNvSpPr/>
          <p:nvPr/>
        </p:nvSpPr>
        <p:spPr>
          <a:xfrm>
            <a:off x="7863840" y="3291840"/>
            <a:ext cx="3657600" cy="12801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3401568"/>
            <a:ext cx="3291840" cy="320040"/>
          </a:xfrm>
          <a:prstGeom prst="rect">
            <a:avLst/>
          </a:prstGeom>
          <a:noFill/>
        </p:spPr>
        <p:txBody>
          <a:bodyPr wrap="square" anchor="t" lIns="36576" rIns="36576" tIns="18288" bIns="18288">
            <a:spAutoFit/>
          </a:bodyPr>
          <a:lstStyle/>
          <a:p>
            <a:pPr algn="l"/>
            <a:r>
              <a:rPr sz="1800" b="1" i="0">
                <a:solidFill>
                  <a:srgbClr val="F59E0B"/>
                </a:solidFill>
                <a:latin typeface="Calibri"/>
              </a:rPr>
              <a:t>Gestos reconocidos:</a:t>
            </a:r>
          </a:p>
        </p:txBody>
      </p:sp>
      <p:sp>
        <p:nvSpPr>
          <p:cNvPr id="14" name="TextBox 13"/>
          <p:cNvSpPr txBox="1"/>
          <p:nvPr/>
        </p:nvSpPr>
        <p:spPr>
          <a:xfrm>
            <a:off x="8046720" y="3794760"/>
            <a:ext cx="3291840" cy="640080"/>
          </a:xfrm>
          <a:prstGeom prst="rect">
            <a:avLst/>
          </a:prstGeom>
          <a:noFill/>
        </p:spPr>
        <p:txBody>
          <a:bodyPr wrap="square" anchor="t" lIns="36576" rIns="36576" tIns="18288" bIns="18288">
            <a:spAutoFit/>
          </a:bodyPr>
          <a:lstStyle/>
          <a:p>
            <a:pPr algn="l"/>
            <a:r>
              <a:rPr sz="1800" b="1" i="0">
                <a:solidFill>
                  <a:srgbClr val="FAF5FF"/>
                </a:solidFill>
                <a:latin typeface="Calibri"/>
              </a:rPr>
              <a:t>👋 Saludo   ·   💖 Corazón   ·   👊 Puño</a:t>
            </a:r>
          </a:p>
        </p:txBody>
      </p:sp>
      <p:sp>
        <p:nvSpPr>
          <p:cNvPr id="15" name="Rounded Rectangle 14"/>
          <p:cNvSpPr/>
          <p:nvPr/>
        </p:nvSpPr>
        <p:spPr>
          <a:xfrm>
            <a:off x="7863840" y="4754880"/>
            <a:ext cx="1737360" cy="137160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g_sim_1.png"/>
          <p:cNvPicPr>
            <a:picLocks noChangeAspect="1"/>
          </p:cNvPicPr>
          <p:nvPr/>
        </p:nvPicPr>
        <p:blipFill>
          <a:blip r:embed="rId4"/>
          <a:stretch>
            <a:fillRect/>
          </a:stretch>
        </p:blipFill>
        <p:spPr>
          <a:xfrm>
            <a:off x="7918704" y="5010255"/>
            <a:ext cx="1627632" cy="860849"/>
          </a:xfrm>
          <a:prstGeom prst="rect">
            <a:avLst/>
          </a:prstGeom>
        </p:spPr>
      </p:pic>
      <p:sp>
        <p:nvSpPr>
          <p:cNvPr id="17" name="Rounded Rectangle 16"/>
          <p:cNvSpPr/>
          <p:nvPr/>
        </p:nvSpPr>
        <p:spPr>
          <a:xfrm>
            <a:off x="9784080" y="4754880"/>
            <a:ext cx="1737360" cy="137160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ig_sim_3.png"/>
          <p:cNvPicPr>
            <a:picLocks noChangeAspect="1"/>
          </p:cNvPicPr>
          <p:nvPr/>
        </p:nvPicPr>
        <p:blipFill>
          <a:blip r:embed="rId5"/>
          <a:stretch>
            <a:fillRect/>
          </a:stretch>
        </p:blipFill>
        <p:spPr>
          <a:xfrm>
            <a:off x="9838944" y="5011681"/>
            <a:ext cx="1627632" cy="8579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DESARROLLO Y RESULTADOS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Saludas, y el panel te contesta</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6/10</a:t>
            </a:r>
          </a:p>
        </p:txBody>
      </p:sp>
      <p:sp>
        <p:nvSpPr>
          <p:cNvPr id="6" name="Rounded Rectangle 5"/>
          <p:cNvSpPr/>
          <p:nvPr/>
        </p:nvSpPr>
        <p:spPr>
          <a:xfrm>
            <a:off x="731520" y="1645920"/>
            <a:ext cx="2560320" cy="347472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odulo_fisico.png"/>
          <p:cNvPicPr>
            <a:picLocks noChangeAspect="1"/>
          </p:cNvPicPr>
          <p:nvPr/>
        </p:nvPicPr>
        <p:blipFill>
          <a:blip r:embed="rId3"/>
          <a:stretch>
            <a:fillRect/>
          </a:stretch>
        </p:blipFill>
        <p:spPr>
          <a:xfrm>
            <a:off x="786384" y="2780958"/>
            <a:ext cx="2450592" cy="1204644"/>
          </a:xfrm>
          <a:prstGeom prst="rect">
            <a:avLst/>
          </a:prstGeom>
        </p:spPr>
      </p:pic>
      <p:sp>
        <p:nvSpPr>
          <p:cNvPr id="8" name="TextBox 7"/>
          <p:cNvSpPr txBox="1"/>
          <p:nvPr/>
        </p:nvSpPr>
        <p:spPr>
          <a:xfrm>
            <a:off x="731520" y="5138928"/>
            <a:ext cx="2560320" cy="256032"/>
          </a:xfrm>
          <a:prstGeom prst="rect">
            <a:avLst/>
          </a:prstGeom>
          <a:noFill/>
        </p:spPr>
        <p:txBody>
          <a:bodyPr wrap="square" anchor="t" lIns="36576" rIns="36576" tIns="18288" bIns="18288">
            <a:spAutoFit/>
          </a:bodyPr>
          <a:lstStyle/>
          <a:p>
            <a:pPr algn="ctr"/>
            <a:r>
              <a:rPr sz="1300" b="0" i="1">
                <a:solidFill>
                  <a:srgbClr val="C4B5FD"/>
                </a:solidFill>
                <a:latin typeface="Calibri"/>
              </a:rPr>
              <a:t>1. Módulo físico</a:t>
            </a:r>
          </a:p>
        </p:txBody>
      </p:sp>
      <p:sp>
        <p:nvSpPr>
          <p:cNvPr id="9" name="Rounded Rectangle 8"/>
          <p:cNvSpPr/>
          <p:nvPr/>
        </p:nvSpPr>
        <p:spPr>
          <a:xfrm>
            <a:off x="3474720" y="1645920"/>
            <a:ext cx="2560320" cy="347472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ofia_saludo1.png"/>
          <p:cNvPicPr>
            <a:picLocks noChangeAspect="1"/>
          </p:cNvPicPr>
          <p:nvPr/>
        </p:nvPicPr>
        <p:blipFill>
          <a:blip r:embed="rId4"/>
          <a:stretch>
            <a:fillRect/>
          </a:stretch>
        </p:blipFill>
        <p:spPr>
          <a:xfrm>
            <a:off x="3529584" y="2693361"/>
            <a:ext cx="2450592" cy="1379837"/>
          </a:xfrm>
          <a:prstGeom prst="rect">
            <a:avLst/>
          </a:prstGeom>
        </p:spPr>
      </p:pic>
      <p:sp>
        <p:nvSpPr>
          <p:cNvPr id="11" name="TextBox 10"/>
          <p:cNvSpPr txBox="1"/>
          <p:nvPr/>
        </p:nvSpPr>
        <p:spPr>
          <a:xfrm>
            <a:off x="3474720" y="5138928"/>
            <a:ext cx="2560320" cy="256032"/>
          </a:xfrm>
          <a:prstGeom prst="rect">
            <a:avLst/>
          </a:prstGeom>
          <a:noFill/>
        </p:spPr>
        <p:txBody>
          <a:bodyPr wrap="square" anchor="t" lIns="36576" rIns="36576" tIns="18288" bIns="18288">
            <a:spAutoFit/>
          </a:bodyPr>
          <a:lstStyle/>
          <a:p>
            <a:pPr algn="ctr"/>
            <a:r>
              <a:rPr sz="1300" b="0" i="1">
                <a:solidFill>
                  <a:srgbClr val="C4B5FD"/>
                </a:solidFill>
                <a:latin typeface="Calibri"/>
              </a:rPr>
              <a:t>2. Gesto detectado</a:t>
            </a:r>
          </a:p>
        </p:txBody>
      </p:sp>
      <p:sp>
        <p:nvSpPr>
          <p:cNvPr id="12" name="Rounded Rectangle 11"/>
          <p:cNvSpPr/>
          <p:nvPr/>
        </p:nvSpPr>
        <p:spPr>
          <a:xfrm>
            <a:off x="6217920" y="1645920"/>
            <a:ext cx="2560320" cy="347472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fia_saludo2.png"/>
          <p:cNvPicPr>
            <a:picLocks noChangeAspect="1"/>
          </p:cNvPicPr>
          <p:nvPr/>
        </p:nvPicPr>
        <p:blipFill>
          <a:blip r:embed="rId5"/>
          <a:stretch>
            <a:fillRect/>
          </a:stretch>
        </p:blipFill>
        <p:spPr>
          <a:xfrm>
            <a:off x="6272784" y="2688391"/>
            <a:ext cx="2450592" cy="1389777"/>
          </a:xfrm>
          <a:prstGeom prst="rect">
            <a:avLst/>
          </a:prstGeom>
        </p:spPr>
      </p:pic>
      <p:sp>
        <p:nvSpPr>
          <p:cNvPr id="14" name="TextBox 13"/>
          <p:cNvSpPr txBox="1"/>
          <p:nvPr/>
        </p:nvSpPr>
        <p:spPr>
          <a:xfrm>
            <a:off x="6217920" y="5138928"/>
            <a:ext cx="2560320" cy="256032"/>
          </a:xfrm>
          <a:prstGeom prst="rect">
            <a:avLst/>
          </a:prstGeom>
          <a:noFill/>
        </p:spPr>
        <p:txBody>
          <a:bodyPr wrap="square" anchor="t" lIns="36576" rIns="36576" tIns="18288" bIns="18288">
            <a:spAutoFit/>
          </a:bodyPr>
          <a:lstStyle/>
          <a:p>
            <a:pPr algn="ctr"/>
            <a:r>
              <a:rPr sz="1300" b="0" i="1">
                <a:solidFill>
                  <a:srgbClr val="C4B5FD"/>
                </a:solidFill>
                <a:latin typeface="Calibri"/>
              </a:rPr>
              <a:t>3. Panel oscilando</a:t>
            </a:r>
          </a:p>
        </p:txBody>
      </p:sp>
      <p:sp>
        <p:nvSpPr>
          <p:cNvPr id="15" name="Rounded Rectangle 14"/>
          <p:cNvSpPr/>
          <p:nvPr/>
        </p:nvSpPr>
        <p:spPr>
          <a:xfrm>
            <a:off x="8961120" y="1645920"/>
            <a:ext cx="2560320" cy="347472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ofia_saludo3.png"/>
          <p:cNvPicPr>
            <a:picLocks noChangeAspect="1"/>
          </p:cNvPicPr>
          <p:nvPr/>
        </p:nvPicPr>
        <p:blipFill>
          <a:blip r:embed="rId6"/>
          <a:stretch>
            <a:fillRect/>
          </a:stretch>
        </p:blipFill>
        <p:spPr>
          <a:xfrm>
            <a:off x="9015984" y="2693361"/>
            <a:ext cx="2450592" cy="1379837"/>
          </a:xfrm>
          <a:prstGeom prst="rect">
            <a:avLst/>
          </a:prstGeom>
        </p:spPr>
      </p:pic>
      <p:sp>
        <p:nvSpPr>
          <p:cNvPr id="17" name="TextBox 16"/>
          <p:cNvSpPr txBox="1"/>
          <p:nvPr/>
        </p:nvSpPr>
        <p:spPr>
          <a:xfrm>
            <a:off x="8961120" y="5138928"/>
            <a:ext cx="2560320" cy="256032"/>
          </a:xfrm>
          <a:prstGeom prst="rect">
            <a:avLst/>
          </a:prstGeom>
          <a:noFill/>
        </p:spPr>
        <p:txBody>
          <a:bodyPr wrap="square" anchor="t" lIns="36576" rIns="36576" tIns="18288" bIns="18288">
            <a:spAutoFit/>
          </a:bodyPr>
          <a:lstStyle/>
          <a:p>
            <a:pPr algn="ctr"/>
            <a:r>
              <a:rPr sz="1300" b="0" i="1">
                <a:solidFill>
                  <a:srgbClr val="C4B5FD"/>
                </a:solidFill>
                <a:latin typeface="Calibri"/>
              </a:rPr>
              <a:t>4. Retorno a centro</a:t>
            </a:r>
          </a:p>
        </p:txBody>
      </p:sp>
      <p:sp>
        <p:nvSpPr>
          <p:cNvPr id="18" name="Rounded Rectangle 17"/>
          <p:cNvSpPr/>
          <p:nvPr/>
        </p:nvSpPr>
        <p:spPr>
          <a:xfrm>
            <a:off x="731520" y="5440680"/>
            <a:ext cx="1078992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623560"/>
            <a:ext cx="3474720" cy="457200"/>
          </a:xfrm>
          <a:prstGeom prst="rect">
            <a:avLst/>
          </a:prstGeom>
          <a:noFill/>
        </p:spPr>
        <p:txBody>
          <a:bodyPr wrap="square" anchor="t" lIns="36576" rIns="36576" tIns="18288" bIns="18288">
            <a:spAutoFit/>
          </a:bodyPr>
          <a:lstStyle/>
          <a:p>
            <a:pPr algn="ctr"/>
            <a:r>
              <a:rPr sz="2000" b="1" i="0">
                <a:solidFill>
                  <a:srgbClr val="FAF5FF"/>
                </a:solidFill>
                <a:latin typeface="Calibri"/>
              </a:rPr>
              <a:t>⏱️ Cámara + BLE: ~45–50 ms</a:t>
            </a:r>
          </a:p>
        </p:txBody>
      </p:sp>
      <p:sp>
        <p:nvSpPr>
          <p:cNvPr id="20" name="TextBox 19"/>
          <p:cNvSpPr txBox="1"/>
          <p:nvPr/>
        </p:nvSpPr>
        <p:spPr>
          <a:xfrm>
            <a:off x="4389120" y="5623560"/>
            <a:ext cx="3474720" cy="457200"/>
          </a:xfrm>
          <a:prstGeom prst="rect">
            <a:avLst/>
          </a:prstGeom>
          <a:noFill/>
        </p:spPr>
        <p:txBody>
          <a:bodyPr wrap="square" anchor="t" lIns="36576" rIns="36576" tIns="18288" bIns="18288">
            <a:spAutoFit/>
          </a:bodyPr>
          <a:lstStyle/>
          <a:p>
            <a:pPr algn="ctr"/>
            <a:r>
              <a:rPr sz="2000" b="1" i="0">
                <a:solidFill>
                  <a:srgbClr val="FAF5FF"/>
                </a:solidFill>
                <a:latin typeface="Calibri"/>
              </a:rPr>
              <a:t>🔄 Ensayos repetidos (N=10)</a:t>
            </a:r>
          </a:p>
        </p:txBody>
      </p:sp>
      <p:sp>
        <p:nvSpPr>
          <p:cNvPr id="21" name="TextBox 20"/>
          <p:cNvSpPr txBox="1"/>
          <p:nvPr/>
        </p:nvSpPr>
        <p:spPr>
          <a:xfrm>
            <a:off x="7955279" y="5623560"/>
            <a:ext cx="3474720" cy="457200"/>
          </a:xfrm>
          <a:prstGeom prst="rect">
            <a:avLst/>
          </a:prstGeom>
          <a:noFill/>
        </p:spPr>
        <p:txBody>
          <a:bodyPr wrap="square" anchor="t" lIns="36576" rIns="36576" tIns="18288" bIns="18288">
            <a:spAutoFit/>
          </a:bodyPr>
          <a:lstStyle/>
          <a:p>
            <a:pPr algn="ctr"/>
            <a:r>
              <a:rPr sz="2000" b="1" i="0">
                <a:solidFill>
                  <a:srgbClr val="FAF5FF"/>
                </a:solidFill>
                <a:latin typeface="Calibri"/>
              </a:rPr>
              <a:t>🛡️ Corte &lt; 15 s diseñado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DESARROLLO Y RESULTADOS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Si un panel se atora, en menos de 4 minutos se quema</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7/10</a:t>
            </a:r>
          </a:p>
        </p:txBody>
      </p:sp>
      <p:sp>
        <p:nvSpPr>
          <p:cNvPr id="6" name="Rounded Rectangle 5"/>
          <p:cNvSpPr/>
          <p:nvPr/>
        </p:nvSpPr>
        <p:spPr>
          <a:xfrm>
            <a:off x="731520" y="1645920"/>
            <a:ext cx="6858000" cy="448056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thermal_response.png"/>
          <p:cNvPicPr>
            <a:picLocks noChangeAspect="1"/>
          </p:cNvPicPr>
          <p:nvPr/>
        </p:nvPicPr>
        <p:blipFill>
          <a:blip r:embed="rId3"/>
          <a:stretch>
            <a:fillRect/>
          </a:stretch>
        </p:blipFill>
        <p:spPr>
          <a:xfrm>
            <a:off x="786384" y="2634396"/>
            <a:ext cx="6748272" cy="2503608"/>
          </a:xfrm>
          <a:prstGeom prst="rect">
            <a:avLst/>
          </a:prstGeom>
        </p:spPr>
      </p:pic>
      <p:sp>
        <p:nvSpPr>
          <p:cNvPr id="8" name="TextBox 7"/>
          <p:cNvSpPr txBox="1"/>
          <p:nvPr/>
        </p:nvSpPr>
        <p:spPr>
          <a:xfrm>
            <a:off x="731520" y="6144768"/>
            <a:ext cx="6858000" cy="256032"/>
          </a:xfrm>
          <a:prstGeom prst="rect">
            <a:avLst/>
          </a:prstGeom>
          <a:noFill/>
        </p:spPr>
        <p:txBody>
          <a:bodyPr wrap="square" anchor="t" lIns="36576" rIns="36576" tIns="18288" bIns="18288">
            <a:spAutoFit/>
          </a:bodyPr>
          <a:lstStyle/>
          <a:p>
            <a:pPr algn="ctr"/>
            <a:r>
              <a:rPr sz="1300" b="0" i="1">
                <a:solidFill>
                  <a:srgbClr val="C4B5FD"/>
                </a:solidFill>
                <a:latin typeface="Calibri"/>
              </a:rPr>
              <a:t>Medición en banco con termómetro láser y osciloscopio (el motor no tiene sensor interno)</a:t>
            </a:r>
          </a:p>
        </p:txBody>
      </p:sp>
      <p:sp>
        <p:nvSpPr>
          <p:cNvPr id="9" name="Rounded Rectangle 8"/>
          <p:cNvSpPr/>
          <p:nvPr/>
        </p:nvSpPr>
        <p:spPr>
          <a:xfrm>
            <a:off x="7863840" y="1645920"/>
            <a:ext cx="3657600" cy="1371600"/>
          </a:xfrm>
          <a:prstGeom prst="roundRect">
            <a:avLst>
              <a:gd name="adj" fmla="val 4000"/>
            </a:avLst>
          </a:prstGeom>
          <a:solidFill>
            <a:srgbClr val="181926"/>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737360"/>
            <a:ext cx="3657600" cy="685800"/>
          </a:xfrm>
          <a:prstGeom prst="rect">
            <a:avLst/>
          </a:prstGeom>
          <a:noFill/>
        </p:spPr>
        <p:txBody>
          <a:bodyPr wrap="square" anchor="t" lIns="36576" rIns="36576" tIns="18288" bIns="18288">
            <a:spAutoFit/>
          </a:bodyPr>
          <a:lstStyle/>
          <a:p>
            <a:pPr algn="ctr"/>
            <a:r>
              <a:rPr sz="6000" b="1" i="0">
                <a:solidFill>
                  <a:srgbClr val="FB7185"/>
                </a:solidFill>
                <a:latin typeface="Calibri"/>
              </a:rPr>
              <a:t>64.8 °C</a:t>
            </a:r>
          </a:p>
        </p:txBody>
      </p:sp>
      <p:sp>
        <p:nvSpPr>
          <p:cNvPr id="11" name="TextBox 10"/>
          <p:cNvSpPr txBox="1"/>
          <p:nvPr/>
        </p:nvSpPr>
        <p:spPr>
          <a:xfrm>
            <a:off x="7863840" y="2514600"/>
            <a:ext cx="3657600" cy="365760"/>
          </a:xfrm>
          <a:prstGeom prst="rect">
            <a:avLst/>
          </a:prstGeom>
          <a:noFill/>
        </p:spPr>
        <p:txBody>
          <a:bodyPr wrap="square" anchor="t" lIns="36576" rIns="36576" tIns="18288" bIns="18288">
            <a:spAutoFit/>
          </a:bodyPr>
          <a:lstStyle/>
          <a:p>
            <a:pPr algn="ctr"/>
            <a:r>
              <a:rPr sz="1600" b="0" i="0">
                <a:solidFill>
                  <a:srgbClr val="C4B5FD"/>
                </a:solidFill>
                <a:latin typeface="Calibri"/>
              </a:rPr>
              <a:t>a los 226 s (engrane forzado)</a:t>
            </a:r>
          </a:p>
        </p:txBody>
      </p:sp>
      <p:sp>
        <p:nvSpPr>
          <p:cNvPr id="12" name="Rounded Rectangle 11"/>
          <p:cNvSpPr/>
          <p:nvPr/>
        </p:nvSpPr>
        <p:spPr>
          <a:xfrm>
            <a:off x="7863840" y="3200400"/>
            <a:ext cx="3657600" cy="1371600"/>
          </a:xfrm>
          <a:prstGeom prst="roundRect">
            <a:avLst>
              <a:gd name="adj" fmla="val 4000"/>
            </a:avLst>
          </a:prstGeom>
          <a:solidFill>
            <a:srgbClr val="181926"/>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3291840"/>
            <a:ext cx="3657600" cy="685800"/>
          </a:xfrm>
          <a:prstGeom prst="rect">
            <a:avLst/>
          </a:prstGeom>
          <a:noFill/>
        </p:spPr>
        <p:txBody>
          <a:bodyPr wrap="square" anchor="t" lIns="36576" rIns="36576" tIns="18288" bIns="18288">
            <a:spAutoFit/>
          </a:bodyPr>
          <a:lstStyle/>
          <a:p>
            <a:pPr algn="ctr"/>
            <a:r>
              <a:rPr sz="5200" b="1" i="0">
                <a:solidFill>
                  <a:srgbClr val="F59E0B"/>
                </a:solidFill>
                <a:latin typeface="Calibri"/>
              </a:rPr>
              <a:t>13 °C/min</a:t>
            </a:r>
          </a:p>
        </p:txBody>
      </p:sp>
      <p:sp>
        <p:nvSpPr>
          <p:cNvPr id="14" name="TextBox 13"/>
          <p:cNvSpPr txBox="1"/>
          <p:nvPr/>
        </p:nvSpPr>
        <p:spPr>
          <a:xfrm>
            <a:off x="7863840" y="4069080"/>
            <a:ext cx="3657600" cy="365760"/>
          </a:xfrm>
          <a:prstGeom prst="rect">
            <a:avLst/>
          </a:prstGeom>
          <a:noFill/>
        </p:spPr>
        <p:txBody>
          <a:bodyPr wrap="square" anchor="t" lIns="36576" rIns="36576" tIns="18288" bIns="18288">
            <a:spAutoFit/>
          </a:bodyPr>
          <a:lstStyle/>
          <a:p>
            <a:pPr algn="ctr"/>
            <a:r>
              <a:rPr sz="1600" b="0" i="0">
                <a:solidFill>
                  <a:srgbClr val="C4B5FD"/>
                </a:solidFill>
                <a:latin typeface="Calibri"/>
              </a:rPr>
              <a:t>a 3 min: 55 °C límite seguro</a:t>
            </a:r>
          </a:p>
        </p:txBody>
      </p:sp>
      <p:sp>
        <p:nvSpPr>
          <p:cNvPr id="15" name="Rounded Rectangle 14"/>
          <p:cNvSpPr/>
          <p:nvPr/>
        </p:nvSpPr>
        <p:spPr>
          <a:xfrm>
            <a:off x="7863840" y="4754880"/>
            <a:ext cx="3657600" cy="1371600"/>
          </a:xfrm>
          <a:prstGeom prst="roundRect">
            <a:avLst>
              <a:gd name="adj" fmla="val 4000"/>
            </a:avLst>
          </a:prstGeom>
          <a:solidFill>
            <a:srgbClr val="2A1B38"/>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0" y="4937760"/>
            <a:ext cx="3291840" cy="1005840"/>
          </a:xfrm>
          <a:prstGeom prst="rect">
            <a:avLst/>
          </a:prstGeom>
          <a:noFill/>
        </p:spPr>
        <p:txBody>
          <a:bodyPr wrap="square" anchor="t" lIns="36576" rIns="36576" tIns="18288" bIns="18288">
            <a:spAutoFit/>
          </a:bodyPr>
          <a:lstStyle/>
          <a:p>
            <a:pPr algn="ctr"/>
            <a:r>
              <a:rPr sz="2400" b="1" i="0">
                <a:solidFill>
                  <a:srgbClr val="E024A5"/>
                </a:solidFill>
                <a:latin typeface="Calibri"/>
              </a:rPr>
              <a:t>Con corte a 15 s: sube solo ~3 °C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BRECHA CON EL ENTORNO REAL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El laboratorio es fácil. Un museo no</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8/10</a:t>
            </a:r>
          </a:p>
        </p:txBody>
      </p:sp>
      <p:sp>
        <p:nvSpPr>
          <p:cNvPr id="6" name="Rounded Rectangle 5"/>
          <p:cNvSpPr/>
          <p:nvPr/>
        </p:nvSpPr>
        <p:spPr>
          <a:xfrm>
            <a:off x="731520" y="1645920"/>
            <a:ext cx="5212080" cy="54864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5212080" cy="365760"/>
          </a:xfrm>
          <a:prstGeom prst="rect">
            <a:avLst/>
          </a:prstGeom>
          <a:noFill/>
        </p:spPr>
        <p:txBody>
          <a:bodyPr wrap="square" anchor="t" lIns="36576" rIns="36576" tIns="18288" bIns="18288">
            <a:spAutoFit/>
          </a:bodyPr>
          <a:lstStyle/>
          <a:p>
            <a:pPr algn="ctr"/>
            <a:r>
              <a:rPr sz="2200" b="1" i="0">
                <a:solidFill>
                  <a:srgbClr val="E024A5"/>
                </a:solidFill>
                <a:latin typeface="Calibri"/>
              </a:rPr>
              <a:t>Hoy en Laboratorio</a:t>
            </a:r>
          </a:p>
        </p:txBody>
      </p:sp>
      <p:sp>
        <p:nvSpPr>
          <p:cNvPr id="8" name="Rounded Rectangle 7"/>
          <p:cNvSpPr/>
          <p:nvPr/>
        </p:nvSpPr>
        <p:spPr>
          <a:xfrm>
            <a:off x="6217920" y="1645920"/>
            <a:ext cx="5212080" cy="54864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737360"/>
            <a:ext cx="5212080" cy="365760"/>
          </a:xfrm>
          <a:prstGeom prst="rect">
            <a:avLst/>
          </a:prstGeom>
          <a:noFill/>
        </p:spPr>
        <p:txBody>
          <a:bodyPr wrap="square" anchor="t" lIns="36576" rIns="36576" tIns="18288" bIns="18288">
            <a:spAutoFit/>
          </a:bodyPr>
          <a:lstStyle/>
          <a:p>
            <a:pPr algn="ctr"/>
            <a:r>
              <a:rPr sz="2200" b="1" i="0">
                <a:solidFill>
                  <a:srgbClr val="F59E0B"/>
                </a:solidFill>
                <a:latin typeface="Calibri"/>
              </a:rPr>
              <a:t>Exigencia de un Museo</a:t>
            </a:r>
          </a:p>
        </p:txBody>
      </p:sp>
      <p:sp>
        <p:nvSpPr>
          <p:cNvPr id="10" name="Rounded Rectangle 9"/>
          <p:cNvSpPr/>
          <p:nvPr/>
        </p:nvSpPr>
        <p:spPr>
          <a:xfrm>
            <a:off x="731520" y="237744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60604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1 persona quieta</a:t>
            </a:r>
          </a:p>
        </p:txBody>
      </p:sp>
      <p:sp>
        <p:nvSpPr>
          <p:cNvPr id="12" name="Rounded Rectangle 11"/>
          <p:cNvSpPr/>
          <p:nvPr/>
        </p:nvSpPr>
        <p:spPr>
          <a:xfrm>
            <a:off x="6217920" y="2377440"/>
            <a:ext cx="5212080" cy="822960"/>
          </a:xfrm>
          <a:prstGeom prst="roundRect">
            <a:avLst>
              <a:gd name="adj" fmla="val 4000"/>
            </a:avLst>
          </a:prstGeom>
          <a:solidFill>
            <a:srgbClr val="2A1B38"/>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60604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Multitud de visitantes cruzando manos</a:t>
            </a:r>
          </a:p>
        </p:txBody>
      </p:sp>
      <p:sp>
        <p:nvSpPr>
          <p:cNvPr id="14" name="Rounded Rectangle 13"/>
          <p:cNvSpPr/>
          <p:nvPr/>
        </p:nvSpPr>
        <p:spPr>
          <a:xfrm>
            <a:off x="731520" y="333756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56616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Luz controlada</a:t>
            </a:r>
          </a:p>
        </p:txBody>
      </p:sp>
      <p:sp>
        <p:nvSpPr>
          <p:cNvPr id="16" name="Rounded Rectangle 15"/>
          <p:cNvSpPr/>
          <p:nvPr/>
        </p:nvSpPr>
        <p:spPr>
          <a:xfrm>
            <a:off x="6217920" y="3337560"/>
            <a:ext cx="5212080" cy="822960"/>
          </a:xfrm>
          <a:prstGeom prst="roundRect">
            <a:avLst>
              <a:gd name="adj" fmla="val 4000"/>
            </a:avLst>
          </a:prstGeom>
          <a:solidFill>
            <a:srgbClr val="2A1B38"/>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56616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Sol directo, reflejos y sombras dinámicas</a:t>
            </a:r>
          </a:p>
        </p:txBody>
      </p:sp>
      <p:sp>
        <p:nvSpPr>
          <p:cNvPr id="18" name="Rounded Rectangle 17"/>
          <p:cNvSpPr/>
          <p:nvPr/>
        </p:nvSpPr>
        <p:spPr>
          <a:xfrm>
            <a:off x="731520" y="429768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52628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Distancia fija a 1 m</a:t>
            </a:r>
          </a:p>
        </p:txBody>
      </p:sp>
      <p:sp>
        <p:nvSpPr>
          <p:cNvPr id="20" name="Rounded Rectangle 19"/>
          <p:cNvSpPr/>
          <p:nvPr/>
        </p:nvSpPr>
        <p:spPr>
          <a:xfrm>
            <a:off x="6217920" y="4297680"/>
            <a:ext cx="5212080" cy="822960"/>
          </a:xfrm>
          <a:prstGeom prst="roundRect">
            <a:avLst>
              <a:gd name="adj" fmla="val 4000"/>
            </a:avLst>
          </a:prstGeom>
          <a:solidFill>
            <a:srgbClr val="2A1B38"/>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52628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Público pasando a 3 o 5 metros</a:t>
            </a:r>
          </a:p>
        </p:txBody>
      </p:sp>
      <p:sp>
        <p:nvSpPr>
          <p:cNvPr id="22" name="Rounded Rectangle 21"/>
          <p:cNvSpPr/>
          <p:nvPr/>
        </p:nvSpPr>
        <p:spPr>
          <a:xfrm>
            <a:off x="731520" y="525780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48640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Laptop con cables</a:t>
            </a:r>
          </a:p>
        </p:txBody>
      </p:sp>
      <p:sp>
        <p:nvSpPr>
          <p:cNvPr id="24" name="Rounded Rectangle 23"/>
          <p:cNvSpPr/>
          <p:nvPr/>
        </p:nvSpPr>
        <p:spPr>
          <a:xfrm>
            <a:off x="6217920" y="5257800"/>
            <a:ext cx="5212080" cy="822960"/>
          </a:xfrm>
          <a:prstGeom prst="roundRect">
            <a:avLst>
              <a:gd name="adj" fmla="val 4000"/>
            </a:avLst>
          </a:prstGeom>
          <a:solidFill>
            <a:srgbClr val="2A1B38"/>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548640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Sistema embebido oculto en el marco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BRECHA CON EL ENTORNO REAL (20%)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10 minutos vs 12 horas</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9/10</a:t>
            </a:r>
          </a:p>
        </p:txBody>
      </p:sp>
      <p:sp>
        <p:nvSpPr>
          <p:cNvPr id="6" name="Rounded Rectangle 5"/>
          <p:cNvSpPr/>
          <p:nvPr/>
        </p:nvSpPr>
        <p:spPr>
          <a:xfrm>
            <a:off x="731520" y="1645920"/>
            <a:ext cx="5212080" cy="54864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5212080" cy="365760"/>
          </a:xfrm>
          <a:prstGeom prst="rect">
            <a:avLst/>
          </a:prstGeom>
          <a:noFill/>
        </p:spPr>
        <p:txBody>
          <a:bodyPr wrap="square" anchor="t" lIns="36576" rIns="36576" tIns="18288" bIns="18288">
            <a:spAutoFit/>
          </a:bodyPr>
          <a:lstStyle/>
          <a:p>
            <a:pPr algn="ctr"/>
            <a:r>
              <a:rPr sz="2200" b="1" i="0">
                <a:solidFill>
                  <a:srgbClr val="E024A5"/>
                </a:solidFill>
                <a:latin typeface="Calibri"/>
              </a:rPr>
              <a:t>Nuestros Datos de Prueba</a:t>
            </a:r>
          </a:p>
        </p:txBody>
      </p:sp>
      <p:sp>
        <p:nvSpPr>
          <p:cNvPr id="8" name="Rounded Rectangle 7"/>
          <p:cNvSpPr/>
          <p:nvPr/>
        </p:nvSpPr>
        <p:spPr>
          <a:xfrm>
            <a:off x="6217920" y="1645920"/>
            <a:ext cx="5212080" cy="54864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737360"/>
            <a:ext cx="5212080" cy="365760"/>
          </a:xfrm>
          <a:prstGeom prst="rect">
            <a:avLst/>
          </a:prstGeom>
          <a:noFill/>
        </p:spPr>
        <p:txBody>
          <a:bodyPr wrap="square" anchor="t" lIns="36576" rIns="36576" tIns="18288" bIns="18288">
            <a:spAutoFit/>
          </a:bodyPr>
          <a:lstStyle/>
          <a:p>
            <a:pPr algn="ctr"/>
            <a:r>
              <a:rPr sz="2200" b="1" i="0">
                <a:solidFill>
                  <a:srgbClr val="FB7185"/>
                </a:solidFill>
                <a:latin typeface="Calibri"/>
              </a:rPr>
              <a:t>Exigencia de un Museo</a:t>
            </a:r>
          </a:p>
        </p:txBody>
      </p:sp>
      <p:sp>
        <p:nvSpPr>
          <p:cNvPr id="10" name="Rounded Rectangle 9"/>
          <p:cNvSpPr/>
          <p:nvPr/>
        </p:nvSpPr>
        <p:spPr>
          <a:xfrm>
            <a:off x="731520" y="237744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60604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Pruebas de 10 min</a:t>
            </a:r>
          </a:p>
        </p:txBody>
      </p:sp>
      <p:sp>
        <p:nvSpPr>
          <p:cNvPr id="12" name="Rounded Rectangle 11"/>
          <p:cNvSpPr/>
          <p:nvPr/>
        </p:nvSpPr>
        <p:spPr>
          <a:xfrm>
            <a:off x="6217920" y="2377440"/>
            <a:ext cx="5212080" cy="822960"/>
          </a:xfrm>
          <a:prstGeom prst="roundRect">
            <a:avLst>
              <a:gd name="adj" fmla="val 4000"/>
            </a:avLst>
          </a:prstGeom>
          <a:solidFill>
            <a:srgbClr val="2A1B38"/>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60604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8 a 12 horas diarias ininterrumpidas</a:t>
            </a:r>
          </a:p>
        </p:txBody>
      </p:sp>
      <p:sp>
        <p:nvSpPr>
          <p:cNvPr id="14" name="Rounded Rectangle 13"/>
          <p:cNvSpPr/>
          <p:nvPr/>
        </p:nvSpPr>
        <p:spPr>
          <a:xfrm>
            <a:off x="731520" y="333756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56616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Nadie toca la pared</a:t>
            </a:r>
          </a:p>
        </p:txBody>
      </p:sp>
      <p:sp>
        <p:nvSpPr>
          <p:cNvPr id="16" name="Rounded Rectangle 15"/>
          <p:cNvSpPr/>
          <p:nvPr/>
        </p:nvSpPr>
        <p:spPr>
          <a:xfrm>
            <a:off x="6217920" y="3337560"/>
            <a:ext cx="5212080" cy="822960"/>
          </a:xfrm>
          <a:prstGeom prst="roundRect">
            <a:avLst>
              <a:gd name="adj" fmla="val 4000"/>
            </a:avLst>
          </a:prstGeom>
          <a:solidFill>
            <a:srgbClr val="2A1B38"/>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56616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Niños jalando pétalos (atasco: 0.9 A y 4.6 W)</a:t>
            </a:r>
          </a:p>
        </p:txBody>
      </p:sp>
      <p:sp>
        <p:nvSpPr>
          <p:cNvPr id="18" name="Rounded Rectangle 17"/>
          <p:cNvSpPr/>
          <p:nvPr/>
        </p:nvSpPr>
        <p:spPr>
          <a:xfrm>
            <a:off x="731520" y="429768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52628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1 módulo probado</a:t>
            </a:r>
          </a:p>
        </p:txBody>
      </p:sp>
      <p:sp>
        <p:nvSpPr>
          <p:cNvPr id="20" name="Rounded Rectangle 19"/>
          <p:cNvSpPr/>
          <p:nvPr/>
        </p:nvSpPr>
        <p:spPr>
          <a:xfrm>
            <a:off x="6217920" y="4297680"/>
            <a:ext cx="5212080" cy="822960"/>
          </a:xfrm>
          <a:prstGeom prst="roundRect">
            <a:avLst>
              <a:gd name="adj" fmla="val 4000"/>
            </a:avLst>
          </a:prstGeom>
          <a:solidFill>
            <a:srgbClr val="2A1B38"/>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52628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32 motores: ~23 A al arrancar (fuente 25 A)</a:t>
            </a:r>
          </a:p>
        </p:txBody>
      </p:sp>
      <p:sp>
        <p:nvSpPr>
          <p:cNvPr id="22" name="Rounded Rectangle 21"/>
          <p:cNvSpPr/>
          <p:nvPr/>
        </p:nvSpPr>
        <p:spPr>
          <a:xfrm>
            <a:off x="731520" y="5257800"/>
            <a:ext cx="5212080" cy="82296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486400"/>
            <a:ext cx="4754880" cy="457200"/>
          </a:xfrm>
          <a:prstGeom prst="rect">
            <a:avLst/>
          </a:prstGeom>
          <a:noFill/>
        </p:spPr>
        <p:txBody>
          <a:bodyPr wrap="square" anchor="t" lIns="36576" rIns="36576" tIns="18288" bIns="18288">
            <a:spAutoFit/>
          </a:bodyPr>
          <a:lstStyle/>
          <a:p>
            <a:pPr algn="l"/>
            <a:r>
              <a:rPr sz="2200" b="0" i="0">
                <a:solidFill>
                  <a:srgbClr val="FAF5FF"/>
                </a:solidFill>
                <a:latin typeface="Calibri"/>
              </a:rPr>
              <a:t>🛠️ Reinicia un ingeniero</a:t>
            </a:r>
          </a:p>
        </p:txBody>
      </p:sp>
      <p:sp>
        <p:nvSpPr>
          <p:cNvPr id="24" name="Rounded Rectangle 23"/>
          <p:cNvSpPr/>
          <p:nvPr/>
        </p:nvSpPr>
        <p:spPr>
          <a:xfrm>
            <a:off x="6217920" y="5257800"/>
            <a:ext cx="5212080" cy="822960"/>
          </a:xfrm>
          <a:prstGeom prst="roundRect">
            <a:avLst>
              <a:gd name="adj" fmla="val 4000"/>
            </a:avLst>
          </a:prstGeom>
          <a:solidFill>
            <a:srgbClr val="2A1B38"/>
          </a:solidFill>
          <a:ln w="1905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5486400"/>
            <a:ext cx="4754880" cy="457200"/>
          </a:xfrm>
          <a:prstGeom prst="rect">
            <a:avLst/>
          </a:prstGeom>
          <a:noFill/>
        </p:spPr>
        <p:txBody>
          <a:bodyPr wrap="square" anchor="t" lIns="36576" rIns="36576" tIns="18288" bIns="18288">
            <a:spAutoFit/>
          </a:bodyPr>
          <a:lstStyle/>
          <a:p>
            <a:pPr algn="l"/>
            <a:r>
              <a:rPr sz="2200" b="1" i="0">
                <a:solidFill>
                  <a:srgbClr val="FAF5FF"/>
                </a:solidFill>
                <a:latin typeface="Calibri"/>
              </a:rPr>
              <a:t>🔄 Se auto-recupera sola ante fallas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01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02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772400" cy="274320"/>
          </a:xfrm>
          <a:prstGeom prst="rect">
            <a:avLst/>
          </a:prstGeom>
          <a:noFill/>
        </p:spPr>
        <p:txBody>
          <a:bodyPr wrap="square" anchor="t" lIns="36576" rIns="36576" tIns="18288" bIns="18288">
            <a:spAutoFit/>
          </a:bodyPr>
          <a:lstStyle/>
          <a:p>
            <a:pPr algn="l"/>
            <a:r>
              <a:rPr sz="1200" b="1" i="0">
                <a:solidFill>
                  <a:srgbClr val="E024A5"/>
                </a:solidFill>
                <a:latin typeface="Calibri"/>
              </a:rPr>
              <a:t>RÚBRICA: REVISIÓN Y PASOS (10%)</a:t>
            </a:r>
          </a:p>
        </p:txBody>
      </p:sp>
      <p:sp>
        <p:nvSpPr>
          <p:cNvPr id="4" name="TextBox 3"/>
          <p:cNvSpPr txBox="1"/>
          <p:nvPr/>
        </p:nvSpPr>
        <p:spPr>
          <a:xfrm>
            <a:off x="731520" y="621792"/>
            <a:ext cx="10789920" cy="777240"/>
          </a:xfrm>
          <a:prstGeom prst="rect">
            <a:avLst/>
          </a:prstGeom>
          <a:noFill/>
        </p:spPr>
        <p:txBody>
          <a:bodyPr wrap="square" anchor="t" lIns="36576" rIns="36576" tIns="18288" bIns="18288">
            <a:spAutoFit/>
          </a:bodyPr>
          <a:lstStyle/>
          <a:p>
            <a:pPr algn="l"/>
            <a:r>
              <a:rPr sz="4000" b="1" i="0">
                <a:solidFill>
                  <a:srgbClr val="FAF5FF"/>
                </a:solidFill>
                <a:latin typeface="Calibri"/>
              </a:rPr>
              <a:t>De prototipo a pared completa</a:t>
            </a:r>
          </a:p>
        </p:txBody>
      </p:sp>
      <p:sp>
        <p:nvSpPr>
          <p:cNvPr id="5" name="TextBox 4"/>
          <p:cNvSpPr txBox="1"/>
          <p:nvPr/>
        </p:nvSpPr>
        <p:spPr>
          <a:xfrm>
            <a:off x="10972800" y="6446520"/>
            <a:ext cx="914400" cy="274320"/>
          </a:xfrm>
          <a:prstGeom prst="rect">
            <a:avLst/>
          </a:prstGeom>
          <a:noFill/>
        </p:spPr>
        <p:txBody>
          <a:bodyPr wrap="square" anchor="t" lIns="36576" rIns="36576" tIns="18288" bIns="18288">
            <a:spAutoFit/>
          </a:bodyPr>
          <a:lstStyle/>
          <a:p>
            <a:pPr algn="r"/>
            <a:r>
              <a:rPr sz="1300" b="0" i="0">
                <a:solidFill>
                  <a:srgbClr val="C4B5FD"/>
                </a:solidFill>
                <a:latin typeface="Calibri"/>
              </a:rPr>
              <a:t>10/10</a:t>
            </a:r>
          </a:p>
        </p:txBody>
      </p:sp>
      <p:sp>
        <p:nvSpPr>
          <p:cNvPr id="6" name="Rounded Rectangle 5"/>
          <p:cNvSpPr/>
          <p:nvPr/>
        </p:nvSpPr>
        <p:spPr>
          <a:xfrm>
            <a:off x="731520" y="1645920"/>
            <a:ext cx="5212080" cy="3931920"/>
          </a:xfrm>
          <a:prstGeom prst="roundRect">
            <a:avLst>
              <a:gd name="adj" fmla="val 4000"/>
            </a:avLst>
          </a:prstGeom>
          <a:solidFill>
            <a:srgbClr val="181926"/>
          </a:solidFill>
          <a:ln w="19050">
            <a:solidFill>
              <a:srgbClr val="E024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4663440" cy="457200"/>
          </a:xfrm>
          <a:prstGeom prst="rect">
            <a:avLst/>
          </a:prstGeom>
          <a:noFill/>
        </p:spPr>
        <p:txBody>
          <a:bodyPr wrap="square" anchor="t" lIns="36576" rIns="36576" tIns="18288" bIns="18288">
            <a:spAutoFit/>
          </a:bodyPr>
          <a:lstStyle/>
          <a:p>
            <a:pPr algn="l"/>
            <a:r>
              <a:rPr sz="2600" b="1" i="0">
                <a:solidFill>
                  <a:srgbClr val="E024A5"/>
                </a:solidFill>
                <a:latin typeface="Calibri"/>
              </a:rPr>
              <a:t>Corregimos del Corte 1</a:t>
            </a:r>
          </a:p>
        </p:txBody>
      </p:sp>
      <p:sp>
        <p:nvSpPr>
          <p:cNvPr id="8" name="TextBox 7"/>
          <p:cNvSpPr txBox="1"/>
          <p:nvPr/>
        </p:nvSpPr>
        <p:spPr>
          <a:xfrm>
            <a:off x="1005840" y="2468880"/>
            <a:ext cx="4663440" cy="2926080"/>
          </a:xfrm>
          <a:prstGeom prst="rect">
            <a:avLst/>
          </a:prstGeom>
          <a:noFill/>
        </p:spPr>
        <p:txBody>
          <a:bodyPr wrap="square" anchor="t" lIns="36576" rIns="36576" tIns="18288" bIns="18288">
            <a:spAutoFit/>
          </a:bodyPr>
          <a:lstStyle/>
          <a:p>
            <a:pPr algn="l"/>
            <a:r>
              <a:rPr sz="2100" b="0" i="0">
                <a:solidFill>
                  <a:srgbClr val="FAF5FF"/>
                </a:solidFill>
                <a:latin typeface="Calibri"/>
              </a:rPr>
              <a:t>▸ Objetivos claros y delimitados</a:t>
            </a:r>
          </a:p>
          <a:p>
            <a:pPr algn="l"/>
            <a:r>
              <a:rPr sz="2100" b="0" i="0">
                <a:solidFill>
                  <a:srgbClr val="FAF5FF"/>
                </a:solidFill>
                <a:latin typeface="Calibri"/>
              </a:rPr>
              <a:t/>
            </a:r>
          </a:p>
          <a:p>
            <a:pPr algn="l"/>
            <a:r>
              <a:rPr sz="2100" b="0" i="0">
                <a:solidFill>
                  <a:srgbClr val="FAF5FF"/>
                </a:solidFill>
                <a:latin typeface="Calibri"/>
              </a:rPr>
              <a:t>▸ Mediciones reales: 682 lecturas, 0.9 A atorado</a:t>
            </a:r>
          </a:p>
          <a:p>
            <a:pPr algn="l"/>
            <a:r>
              <a:rPr sz="2100" b="0" i="0">
                <a:solidFill>
                  <a:srgbClr val="FAF5FF"/>
                </a:solidFill>
                <a:latin typeface="Calibri"/>
              </a:rPr>
              <a:t/>
            </a:r>
          </a:p>
          <a:p>
            <a:pPr algn="l"/>
            <a:r>
              <a:rPr sz="2100" b="0" i="0">
                <a:solidFill>
                  <a:srgbClr val="FAF5FF"/>
                </a:solidFill>
                <a:latin typeface="Calibri"/>
              </a:rPr>
              <a:t>▸ Comparativa con MIT y comercial</a:t>
            </a:r>
          </a:p>
        </p:txBody>
      </p:sp>
      <p:sp>
        <p:nvSpPr>
          <p:cNvPr id="9" name="Rounded Rectangle 8"/>
          <p:cNvSpPr/>
          <p:nvPr/>
        </p:nvSpPr>
        <p:spPr>
          <a:xfrm>
            <a:off x="6217920" y="1645920"/>
            <a:ext cx="5212080" cy="3931920"/>
          </a:xfrm>
          <a:prstGeom prst="roundRect">
            <a:avLst>
              <a:gd name="adj" fmla="val 4000"/>
            </a:avLst>
          </a:prstGeom>
          <a:solidFill>
            <a:srgbClr val="2A1B38"/>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28800"/>
            <a:ext cx="4663440" cy="457200"/>
          </a:xfrm>
          <a:prstGeom prst="rect">
            <a:avLst/>
          </a:prstGeom>
          <a:noFill/>
        </p:spPr>
        <p:txBody>
          <a:bodyPr wrap="square" anchor="t" lIns="36576" rIns="36576" tIns="18288" bIns="18288">
            <a:spAutoFit/>
          </a:bodyPr>
          <a:lstStyle/>
          <a:p>
            <a:pPr algn="l"/>
            <a:r>
              <a:rPr sz="2600" b="1" i="0">
                <a:solidFill>
                  <a:srgbClr val="F59E0B"/>
                </a:solidFill>
                <a:latin typeface="Calibri"/>
              </a:rPr>
              <a:t>Para el Corte 3</a:t>
            </a:r>
          </a:p>
        </p:txBody>
      </p:sp>
      <p:sp>
        <p:nvSpPr>
          <p:cNvPr id="11" name="TextBox 10"/>
          <p:cNvSpPr txBox="1"/>
          <p:nvPr/>
        </p:nvSpPr>
        <p:spPr>
          <a:xfrm>
            <a:off x="6492240" y="2377440"/>
            <a:ext cx="4663440" cy="1645920"/>
          </a:xfrm>
          <a:prstGeom prst="rect">
            <a:avLst/>
          </a:prstGeom>
          <a:noFill/>
        </p:spPr>
        <p:txBody>
          <a:bodyPr wrap="square" anchor="t" lIns="36576" rIns="36576" tIns="18288" bIns="18288">
            <a:spAutoFit/>
          </a:bodyPr>
          <a:lstStyle/>
          <a:p>
            <a:pPr algn="l"/>
            <a:r>
              <a:rPr sz="2000" b="1" i="0">
                <a:solidFill>
                  <a:srgbClr val="FAF5FF"/>
                </a:solidFill>
                <a:latin typeface="Calibri"/>
              </a:rPr>
              <a:t>▸ PCB de potencia definitiva (25 A)</a:t>
            </a:r>
          </a:p>
          <a:p>
            <a:pPr algn="l"/>
            <a:r>
              <a:rPr sz="2000" b="1" i="0">
                <a:solidFill>
                  <a:srgbClr val="FAF5FF"/>
                </a:solidFill>
                <a:latin typeface="Calibri"/>
              </a:rPr>
              <a:t>▸ Apagado automático por software</a:t>
            </a:r>
          </a:p>
          <a:p>
            <a:pPr algn="l"/>
            <a:r>
              <a:rPr sz="2000" b="1" i="0">
                <a:solidFill>
                  <a:srgbClr val="FAF5FF"/>
                </a:solidFill>
                <a:latin typeface="Calibri"/>
              </a:rPr>
              <a:t>▸ Colmena completa de 16 paneles</a:t>
            </a:r>
          </a:p>
        </p:txBody>
      </p:sp>
      <p:sp>
        <p:nvSpPr>
          <p:cNvPr id="12" name="Rounded Rectangle 11"/>
          <p:cNvSpPr/>
          <p:nvPr/>
        </p:nvSpPr>
        <p:spPr>
          <a:xfrm>
            <a:off x="6583680" y="4114800"/>
            <a:ext cx="4480560" cy="1371600"/>
          </a:xfrm>
          <a:prstGeom prst="roundRect">
            <a:avLst>
              <a:gd name="adj" fmla="val 3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CB1.png"/>
          <p:cNvPicPr>
            <a:picLocks noChangeAspect="1"/>
          </p:cNvPicPr>
          <p:nvPr/>
        </p:nvPicPr>
        <p:blipFill>
          <a:blip r:embed="rId3"/>
          <a:stretch>
            <a:fillRect/>
          </a:stretch>
        </p:blipFill>
        <p:spPr>
          <a:xfrm>
            <a:off x="7913318" y="4169664"/>
            <a:ext cx="1821284" cy="1261872"/>
          </a:xfrm>
          <a:prstGeom prst="rect">
            <a:avLst/>
          </a:prstGeom>
        </p:spPr>
      </p:pic>
      <p:sp>
        <p:nvSpPr>
          <p:cNvPr id="14" name="TextBox 13"/>
          <p:cNvSpPr txBox="1"/>
          <p:nvPr/>
        </p:nvSpPr>
        <p:spPr>
          <a:xfrm>
            <a:off x="6583680" y="5504688"/>
            <a:ext cx="4480560" cy="256032"/>
          </a:xfrm>
          <a:prstGeom prst="rect">
            <a:avLst/>
          </a:prstGeom>
          <a:noFill/>
        </p:spPr>
        <p:txBody>
          <a:bodyPr wrap="square" anchor="t" lIns="36576" rIns="36576" tIns="18288" bIns="18288">
            <a:spAutoFit/>
          </a:bodyPr>
          <a:lstStyle/>
          <a:p>
            <a:pPr algn="ctr"/>
            <a:r>
              <a:rPr sz="1300" b="0" i="1">
                <a:solidFill>
                  <a:srgbClr val="C4B5FD"/>
                </a:solidFill>
                <a:latin typeface="Calibri"/>
              </a:rPr>
              <a:t>Diseño PCB de potencia para 32 motores</a:t>
            </a:r>
          </a:p>
        </p:txBody>
      </p:sp>
      <p:sp>
        <p:nvSpPr>
          <p:cNvPr id="15" name="Rounded Rectangle 14"/>
          <p:cNvSpPr/>
          <p:nvPr/>
        </p:nvSpPr>
        <p:spPr>
          <a:xfrm>
            <a:off x="731520" y="5715000"/>
            <a:ext cx="10698480" cy="640080"/>
          </a:xfrm>
          <a:prstGeom prst="roundRect">
            <a:avLst>
              <a:gd name="adj" fmla="val 4000"/>
            </a:avLst>
          </a:prstGeom>
          <a:solidFill>
            <a:srgbClr val="181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833872"/>
            <a:ext cx="7772400" cy="365760"/>
          </a:xfrm>
          <a:prstGeom prst="rect">
            <a:avLst/>
          </a:prstGeom>
          <a:noFill/>
        </p:spPr>
        <p:txBody>
          <a:bodyPr wrap="square" anchor="t" lIns="36576" rIns="36576" tIns="18288" bIns="18288">
            <a:spAutoFit/>
          </a:bodyPr>
          <a:lstStyle/>
          <a:p>
            <a:pPr algn="l"/>
            <a:r>
              <a:rPr sz="1800" b="1" i="0">
                <a:solidFill>
                  <a:srgbClr val="E024A5"/>
                </a:solidFill>
                <a:latin typeface="Calibri"/>
              </a:rPr>
              <a:t>github.com/PaolaCV14/IOT-SOFIA-2026</a:t>
            </a:r>
          </a:p>
        </p:txBody>
      </p:sp>
      <p:sp>
        <p:nvSpPr>
          <p:cNvPr id="17" name="TextBox 16"/>
          <p:cNvSpPr txBox="1"/>
          <p:nvPr/>
        </p:nvSpPr>
        <p:spPr>
          <a:xfrm>
            <a:off x="8686800" y="5833872"/>
            <a:ext cx="2560320" cy="365760"/>
          </a:xfrm>
          <a:prstGeom prst="rect">
            <a:avLst/>
          </a:prstGeom>
          <a:noFill/>
        </p:spPr>
        <p:txBody>
          <a:bodyPr wrap="square" anchor="t" lIns="36576" rIns="36576" tIns="18288" bIns="18288">
            <a:spAutoFit/>
          </a:bodyPr>
          <a:lstStyle/>
          <a:p>
            <a:pPr algn="r"/>
            <a:r>
              <a:rPr sz="2200" b="1" i="0">
                <a:solidFill>
                  <a:srgbClr val="FAF5FF"/>
                </a:solidFill>
                <a:latin typeface="Calibri"/>
              </a:rPr>
              <a:t>¿Preguntas?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