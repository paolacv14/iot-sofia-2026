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19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06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s) Hola, somos el Equipo 1. Les vamos a presentar SOFIA: una pared de robots que responde a los gestos de tu mano. Y les vamos a contar un problema curioso que descubrimos: los motores pueden calentarse mucho.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s) Imaginen una pared hecha de 16 piezas hexagonales, como un panal de abejas. Cada pieza puede inclinarse y girar. Una cámara ve tu mano y las piezas se mueven para responderte: saludan, hacen un corazón, juegan piedra papel o tijera. Es arte, tecnología y robótica juntos.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 Funciona en tres pasos, como una persona. Uno: ve, una cámara mira tu mano. Dos: piensa, una computadora encuentra 21 puntos en tu mano y decide qué gesto es. Tres: se mueve, manda órdenes por Bluetooth a una placa que mueve los motores. Ojos, cerebro y músculos.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s) Por dentro: cada pieza se diseñó en 3D y se imprimió. Tiene dos motores pequeños, llamados servos, los mismos que mueven un carrito de control remoto: uno la inclina y otro la gira. Todo lo controla una placa llamada ESP32, y ya mandamos hacer una tarjeta de circuitos propia.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 ¿Cómo entiende tu mano? La computadora encuentra 21 puntos: las puntas de los dedos, los nudillos, la muñeca. Con eso sabe si tu mano está abierta o cerrada. Ya reconoce el saludo, el corazón con dos manos y piedra, papel o tijera. Esta es la pantalla de control que usamos.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 Antes de construir las 16 piezas, hicimos una simulación en la computadora con Unity, el programa de videojuegos. Ahí vemos cómo las 16 piezas se orientan hacia un punto que se mueve, como girasoles siguiendo al sol. Así probamos la idea sin gastar en piezas.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 Aquí viene el problema. Un motor de estos recibe la orden 've a este ángulo'. Pero ¿qué pasa si algo lo traba? Es como empujar una puerta que está atorada: sigues haciendo fuerza y te cansas. El motor hace lo mismo: jala corriente al máximo y se calienta, como tu celular cuando juega algo pesado. Con 32 motores pegados, eso es un riesgo. Nuestra pregunta: ¿cuánto tiempo aguanta?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s) Entonces lo medimos. Trabamos un motor a propósito y le pusimos un sensor de temperatura. La gráfica sube casi en línea recta: unos 0.2 grados cada segundo. Llegó a 70 grados. El plástico empieza a ablandarse como a los 60. A ese ritmo, en unos tres minutos y medio se pasa de lo seguro. No es mucho tiempo.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s) Nos preguntamos cómo trabaja el motor por dentro. Hay dos formas: como un interruptor, encendido o apagado, a toda potencia; o como el acelerador de un coche, que da más o menos según lo que necesita. Medimos cuánta corriente gasta en tres casos: poquito error, mucho error y atorado. Resultado: es como un acelerador. Gasta poquito normalmente y solo se pone al máximo cuando se atora.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 Y lo mejor: ya funciona. Aquí está nuestro módulo real. Se conecta por Bluetooth, sigue la mano, y cuando haces el gesto de saludo, ejecuta una rutina de saludo. Estas son tres fotos de ese movimiento. Aún nos falta medir qué tan preciso y rápido es, eso es lo siguiente.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 Con lo que medimos, ponemos un guardián: si un motor lleva 15 segundos atorado, se apaga solo ese motor, así queda libre y se enfría. Y lo que sigue: medir qué tan rápido y preciso sigue tu mano, probar la tarjeta de circuitos y construir las 16 piezas.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 Si se quedan con tres ideas: una, SOFIA es una pared que responde a gestos usando una cámara; dos, descubrimos que un motor atorado se calienta muy rápido, y por eso lo protegemos; tres, el motor es como un acelerador, no un interruptor. Y ya hay un prototipo que saluda.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Pregunta para el público: ¿qué gesto le enseñarías a SOFIA? Abrir a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7680960" y="0"/>
            <a:ext cx="4507992" cy="6858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138160" y="640080"/>
            <a:ext cx="3566160" cy="32918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ofia_solid.png"/>
          <p:cNvPicPr>
            <a:picLocks noChangeAspect="1"/>
          </p:cNvPicPr>
          <p:nvPr/>
        </p:nvPicPr>
        <p:blipFill>
          <a:blip r:embed="rId3"/>
          <a:stretch>
            <a:fillRect/>
          </a:stretch>
        </p:blipFill>
        <p:spPr>
          <a:xfrm>
            <a:off x="8300548" y="731520"/>
            <a:ext cx="3241384" cy="3108960"/>
          </a:xfrm>
          <a:prstGeom prst="rect">
            <a:avLst/>
          </a:prstGeom>
        </p:spPr>
      </p:pic>
      <p:sp>
        <p:nvSpPr>
          <p:cNvPr id="6" name="Rounded Rectangle 5"/>
          <p:cNvSpPr/>
          <p:nvPr/>
        </p:nvSpPr>
        <p:spPr>
          <a:xfrm>
            <a:off x="8138160" y="4114800"/>
            <a:ext cx="3566160" cy="1920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odulo_fisico.png"/>
          <p:cNvPicPr>
            <a:picLocks noChangeAspect="1"/>
          </p:cNvPicPr>
          <p:nvPr/>
        </p:nvPicPr>
        <p:blipFill>
          <a:blip r:embed="rId4"/>
          <a:stretch>
            <a:fillRect/>
          </a:stretch>
        </p:blipFill>
        <p:spPr>
          <a:xfrm>
            <a:off x="8229600" y="4243355"/>
            <a:ext cx="3383280" cy="1663129"/>
          </a:xfrm>
          <a:prstGeom prst="rect">
            <a:avLst/>
          </a:prstGeom>
        </p:spPr>
      </p:pic>
      <p:sp>
        <p:nvSpPr>
          <p:cNvPr id="8" name="TextBox 7"/>
          <p:cNvSpPr txBox="1"/>
          <p:nvPr/>
        </p:nvSpPr>
        <p:spPr>
          <a:xfrm>
            <a:off x="640080" y="640080"/>
            <a:ext cx="6400800" cy="365760"/>
          </a:xfrm>
          <a:prstGeom prst="rect">
            <a:avLst/>
          </a:prstGeom>
          <a:noFill/>
        </p:spPr>
        <p:txBody>
          <a:bodyPr wrap="square" lIns="45720" tIns="18288" rIns="45720" bIns="18288" anchor="t">
            <a:spAutoFit/>
          </a:bodyPr>
          <a:lstStyle/>
          <a:p>
            <a:pPr algn="l"/>
            <a:r>
              <a:rPr sz="1400" b="1" i="0">
                <a:solidFill>
                  <a:srgbClr val="2DD4BF"/>
                </a:solidFill>
                <a:latin typeface="Calibri"/>
              </a:rPr>
              <a:t>LABDST · ITESO · OTOÑO 2026</a:t>
            </a:r>
          </a:p>
        </p:txBody>
      </p:sp>
      <p:sp>
        <p:nvSpPr>
          <p:cNvPr id="9" name="TextBox 8"/>
          <p:cNvSpPr txBox="1"/>
          <p:nvPr/>
        </p:nvSpPr>
        <p:spPr>
          <a:xfrm>
            <a:off x="640080" y="1188720"/>
            <a:ext cx="6858000" cy="1188720"/>
          </a:xfrm>
          <a:prstGeom prst="rect">
            <a:avLst/>
          </a:prstGeom>
          <a:noFill/>
        </p:spPr>
        <p:txBody>
          <a:bodyPr wrap="square" lIns="45720" tIns="18288" rIns="45720" bIns="18288" anchor="t">
            <a:spAutoFit/>
          </a:bodyPr>
          <a:lstStyle/>
          <a:p>
            <a:pPr algn="l"/>
            <a:r>
              <a:rPr sz="8400" b="1" i="0">
                <a:solidFill>
                  <a:srgbClr val="F1F5F9"/>
                </a:solidFill>
                <a:latin typeface="Calibri"/>
              </a:rPr>
              <a:t>SOFIA</a:t>
            </a:r>
          </a:p>
        </p:txBody>
      </p:sp>
      <p:sp>
        <p:nvSpPr>
          <p:cNvPr id="10" name="TextBox 9"/>
          <p:cNvSpPr txBox="1"/>
          <p:nvPr/>
        </p:nvSpPr>
        <p:spPr>
          <a:xfrm>
            <a:off x="640080" y="2606040"/>
            <a:ext cx="6766560" cy="1280160"/>
          </a:xfrm>
          <a:prstGeom prst="rect">
            <a:avLst/>
          </a:prstGeom>
          <a:noFill/>
        </p:spPr>
        <p:txBody>
          <a:bodyPr wrap="square" lIns="45720" tIns="18288" rIns="45720" bIns="18288" anchor="t">
            <a:spAutoFit/>
          </a:bodyPr>
          <a:lstStyle/>
          <a:p>
            <a:pPr algn="l"/>
            <a:r>
              <a:rPr sz="2800" b="0" i="0">
                <a:solidFill>
                  <a:srgbClr val="F1F5F9"/>
                </a:solidFill>
                <a:latin typeface="Calibri"/>
              </a:rPr>
              <a:t>Una pared robótica que responde a los gestos de tu mano</a:t>
            </a:r>
          </a:p>
        </p:txBody>
      </p:sp>
      <p:sp>
        <p:nvSpPr>
          <p:cNvPr id="11" name="Rectangle 10"/>
          <p:cNvSpPr/>
          <p:nvPr/>
        </p:nvSpPr>
        <p:spPr>
          <a:xfrm>
            <a:off x="685800" y="3931920"/>
            <a:ext cx="109728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4114800"/>
            <a:ext cx="6858000" cy="365760"/>
          </a:xfrm>
          <a:prstGeom prst="rect">
            <a:avLst/>
          </a:prstGeom>
          <a:noFill/>
        </p:spPr>
        <p:txBody>
          <a:bodyPr wrap="square" lIns="45720" tIns="18288" rIns="45720" bIns="18288" anchor="t">
            <a:spAutoFit/>
          </a:bodyPr>
          <a:lstStyle/>
          <a:p>
            <a:pPr algn="l"/>
            <a:r>
              <a:rPr sz="1400" b="1" i="0">
                <a:solidFill>
                  <a:srgbClr val="F59E0B"/>
                </a:solidFill>
                <a:latin typeface="Calibri"/>
              </a:rPr>
              <a:t>EQUIPO 1</a:t>
            </a:r>
          </a:p>
        </p:txBody>
      </p:sp>
      <p:sp>
        <p:nvSpPr>
          <p:cNvPr id="13" name="TextBox 12"/>
          <p:cNvSpPr txBox="1"/>
          <p:nvPr/>
        </p:nvSpPr>
        <p:spPr>
          <a:xfrm>
            <a:off x="640080" y="4434840"/>
            <a:ext cx="6858000" cy="1463040"/>
          </a:xfrm>
          <a:prstGeom prst="rect">
            <a:avLst/>
          </a:prstGeom>
          <a:noFill/>
        </p:spPr>
        <p:txBody>
          <a:bodyPr wrap="square" lIns="45720" tIns="18288" rIns="45720" bIns="18288" anchor="t">
            <a:spAutoFit/>
          </a:bodyPr>
          <a:lstStyle/>
          <a:p>
            <a:pPr algn="l"/>
            <a:r>
              <a:rPr sz="1900" b="0" i="0">
                <a:solidFill>
                  <a:srgbClr val="F1F5F9"/>
                </a:solidFill>
                <a:latin typeface="Calibri"/>
              </a:rPr>
              <a:t>Paola Covarrubias · Lizeth Méndez</a:t>
            </a:r>
          </a:p>
          <a:p>
            <a:pPr algn="l"/>
            <a:r>
              <a:rPr sz="1900" b="0" i="0">
                <a:solidFill>
                  <a:srgbClr val="F1F5F9"/>
                </a:solidFill>
                <a:latin typeface="Calibri"/>
              </a:rPr>
              <a:t>Juan Bernardo Orozco · Karen Sánchez</a:t>
            </a:r>
          </a:p>
          <a:p>
            <a:pPr algn="l"/>
            <a:r>
              <a:rPr sz="1900" b="0" i="0">
                <a:solidFill>
                  <a:srgbClr val="F1F5F9"/>
                </a:solidFill>
                <a:latin typeface="Calibri"/>
              </a:rPr>
              <a:t>Alan Fuentes</a:t>
            </a:r>
          </a:p>
        </p:txBody>
      </p:sp>
      <p:sp>
        <p:nvSpPr>
          <p:cNvPr id="14" name="TextBox 13"/>
          <p:cNvSpPr txBox="1"/>
          <p:nvPr/>
        </p:nvSpPr>
        <p:spPr>
          <a:xfrm>
            <a:off x="640080" y="5943600"/>
            <a:ext cx="6858000" cy="457200"/>
          </a:xfrm>
          <a:prstGeom prst="rect">
            <a:avLst/>
          </a:prstGeom>
          <a:noFill/>
        </p:spPr>
        <p:txBody>
          <a:bodyPr wrap="square" lIns="45720" tIns="18288" rIns="45720" bIns="18288" anchor="t">
            <a:spAutoFit/>
          </a:bodyPr>
          <a:lstStyle/>
          <a:p>
            <a:pPr algn="l"/>
            <a:r>
              <a:rPr sz="1150" b="0" i="0">
                <a:solidFill>
                  <a:srgbClr val="94A3B8"/>
                </a:solidFill>
                <a:latin typeface="Calibri"/>
              </a:rPr>
              <a:t>Con: Jorge A. Lizarraga · Graciela Baca · Luis E. González · Luis F. Luque-Vega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IMAGINA UNA PARED QUE TE RESPONDE</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¿Qué es SOFIA?</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2</a:t>
            </a:r>
          </a:p>
        </p:txBody>
      </p:sp>
      <p:sp>
        <p:nvSpPr>
          <p:cNvPr id="7" name="Rounded Rectangle 6"/>
          <p:cNvSpPr/>
          <p:nvPr/>
        </p:nvSpPr>
        <p:spPr>
          <a:xfrm>
            <a:off x="548640" y="1554480"/>
            <a:ext cx="5669280" cy="137160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54480"/>
            <a:ext cx="5120640" cy="1371600"/>
          </a:xfrm>
          <a:prstGeom prst="rect">
            <a:avLst/>
          </a:prstGeom>
          <a:noFill/>
        </p:spPr>
        <p:txBody>
          <a:bodyPr wrap="square" lIns="45720" tIns="18288" rIns="45720" bIns="18288" anchor="ctr">
            <a:spAutoFit/>
          </a:bodyPr>
          <a:lstStyle/>
          <a:p>
            <a:pPr algn="l"/>
            <a:r>
              <a:rPr sz="2400" b="1" i="0">
                <a:solidFill>
                  <a:srgbClr val="F1F5F9"/>
                </a:solidFill>
                <a:latin typeface="Calibri"/>
              </a:rPr>
              <a:t>Una pared de 16 piezas que se mueven cuando tú mueves la mano.</a:t>
            </a:r>
          </a:p>
        </p:txBody>
      </p:sp>
      <p:sp>
        <p:nvSpPr>
          <p:cNvPr id="9" name="Rounded Rectangle 8"/>
          <p:cNvSpPr/>
          <p:nvPr/>
        </p:nvSpPr>
        <p:spPr>
          <a:xfrm>
            <a:off x="548640" y="3200400"/>
            <a:ext cx="1783080" cy="137160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291840"/>
            <a:ext cx="1783080" cy="754380"/>
          </a:xfrm>
          <a:prstGeom prst="rect">
            <a:avLst/>
          </a:prstGeom>
          <a:noFill/>
        </p:spPr>
        <p:txBody>
          <a:bodyPr wrap="square" lIns="45720" tIns="18288" rIns="45720" bIns="18288" anchor="ctr">
            <a:spAutoFit/>
          </a:bodyPr>
          <a:lstStyle/>
          <a:p>
            <a:pPr algn="ctr"/>
            <a:r>
              <a:rPr sz="3200" b="1" i="0">
                <a:solidFill>
                  <a:srgbClr val="2DD4BF"/>
                </a:solidFill>
                <a:latin typeface="Calibri"/>
              </a:rPr>
              <a:t>16</a:t>
            </a:r>
          </a:p>
        </p:txBody>
      </p:sp>
      <p:sp>
        <p:nvSpPr>
          <p:cNvPr id="11" name="TextBox 10"/>
          <p:cNvSpPr txBox="1"/>
          <p:nvPr/>
        </p:nvSpPr>
        <p:spPr>
          <a:xfrm>
            <a:off x="640080" y="3995928"/>
            <a:ext cx="1600200" cy="548640"/>
          </a:xfrm>
          <a:prstGeom prst="rect">
            <a:avLst/>
          </a:prstGeom>
          <a:noFill/>
        </p:spPr>
        <p:txBody>
          <a:bodyPr wrap="square" lIns="45720" tIns="18288" rIns="45720" bIns="18288" anchor="t">
            <a:spAutoFit/>
          </a:bodyPr>
          <a:lstStyle/>
          <a:p>
            <a:pPr algn="ctr"/>
            <a:r>
              <a:rPr sz="1250" b="0" i="0">
                <a:solidFill>
                  <a:srgbClr val="94A3B8"/>
                </a:solidFill>
                <a:latin typeface="Calibri"/>
              </a:rPr>
              <a:t>piezas en forma de panal</a:t>
            </a:r>
          </a:p>
        </p:txBody>
      </p:sp>
      <p:sp>
        <p:nvSpPr>
          <p:cNvPr id="12" name="Rounded Rectangle 11"/>
          <p:cNvSpPr/>
          <p:nvPr/>
        </p:nvSpPr>
        <p:spPr>
          <a:xfrm>
            <a:off x="2468880" y="3200400"/>
            <a:ext cx="1783080" cy="137160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68880" y="3291840"/>
            <a:ext cx="1783080" cy="754380"/>
          </a:xfrm>
          <a:prstGeom prst="rect">
            <a:avLst/>
          </a:prstGeom>
          <a:noFill/>
        </p:spPr>
        <p:txBody>
          <a:bodyPr wrap="square" lIns="45720" tIns="18288" rIns="45720" bIns="18288" anchor="ctr">
            <a:spAutoFit/>
          </a:bodyPr>
          <a:lstStyle/>
          <a:p>
            <a:pPr algn="ctr"/>
            <a:r>
              <a:rPr sz="3200" b="1" i="0">
                <a:solidFill>
                  <a:srgbClr val="F59E0B"/>
                </a:solidFill>
                <a:latin typeface="Calibri"/>
              </a:rPr>
              <a:t>2</a:t>
            </a:r>
          </a:p>
        </p:txBody>
      </p:sp>
      <p:sp>
        <p:nvSpPr>
          <p:cNvPr id="14" name="TextBox 13"/>
          <p:cNvSpPr txBox="1"/>
          <p:nvPr/>
        </p:nvSpPr>
        <p:spPr>
          <a:xfrm>
            <a:off x="2560320" y="3995928"/>
            <a:ext cx="1600200" cy="548640"/>
          </a:xfrm>
          <a:prstGeom prst="rect">
            <a:avLst/>
          </a:prstGeom>
          <a:noFill/>
        </p:spPr>
        <p:txBody>
          <a:bodyPr wrap="square" lIns="45720" tIns="18288" rIns="45720" bIns="18288" anchor="t">
            <a:spAutoFit/>
          </a:bodyPr>
          <a:lstStyle/>
          <a:p>
            <a:pPr algn="ctr"/>
            <a:r>
              <a:rPr sz="1250" b="0" i="0">
                <a:solidFill>
                  <a:srgbClr val="94A3B8"/>
                </a:solidFill>
                <a:latin typeface="Calibri"/>
              </a:rPr>
              <a:t>movimientos por pieza</a:t>
            </a:r>
          </a:p>
        </p:txBody>
      </p:sp>
      <p:sp>
        <p:nvSpPr>
          <p:cNvPr id="15" name="Rounded Rectangle 14"/>
          <p:cNvSpPr/>
          <p:nvPr/>
        </p:nvSpPr>
        <p:spPr>
          <a:xfrm>
            <a:off x="4389120" y="3200400"/>
            <a:ext cx="1828800" cy="137160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0" y="3291840"/>
            <a:ext cx="1828800" cy="754380"/>
          </a:xfrm>
          <a:prstGeom prst="rect">
            <a:avLst/>
          </a:prstGeom>
          <a:noFill/>
        </p:spPr>
        <p:txBody>
          <a:bodyPr wrap="square" lIns="45720" tIns="18288" rIns="45720" bIns="18288" anchor="ctr">
            <a:spAutoFit/>
          </a:bodyPr>
          <a:lstStyle/>
          <a:p>
            <a:pPr algn="ctr"/>
            <a:r>
              <a:rPr sz="3200" b="1" i="0">
                <a:solidFill>
                  <a:srgbClr val="2DD4BF"/>
                </a:solidFill>
                <a:latin typeface="Calibri"/>
              </a:rPr>
              <a:t>32</a:t>
            </a:r>
          </a:p>
        </p:txBody>
      </p:sp>
      <p:sp>
        <p:nvSpPr>
          <p:cNvPr id="17" name="TextBox 16"/>
          <p:cNvSpPr txBox="1"/>
          <p:nvPr/>
        </p:nvSpPr>
        <p:spPr>
          <a:xfrm>
            <a:off x="4480560" y="3995928"/>
            <a:ext cx="1645920" cy="548640"/>
          </a:xfrm>
          <a:prstGeom prst="rect">
            <a:avLst/>
          </a:prstGeom>
          <a:noFill/>
        </p:spPr>
        <p:txBody>
          <a:bodyPr wrap="square" lIns="45720" tIns="18288" rIns="45720" bIns="18288" anchor="t">
            <a:spAutoFit/>
          </a:bodyPr>
          <a:lstStyle/>
          <a:p>
            <a:pPr algn="ctr"/>
            <a:r>
              <a:rPr sz="1250" b="0" i="0">
                <a:solidFill>
                  <a:srgbClr val="94A3B8"/>
                </a:solidFill>
                <a:latin typeface="Calibri"/>
              </a:rPr>
              <a:t>motores pequeños</a:t>
            </a:r>
          </a:p>
        </p:txBody>
      </p:sp>
      <p:sp>
        <p:nvSpPr>
          <p:cNvPr id="18" name="TextBox 17"/>
          <p:cNvSpPr txBox="1"/>
          <p:nvPr/>
        </p:nvSpPr>
        <p:spPr>
          <a:xfrm>
            <a:off x="548640" y="4846320"/>
            <a:ext cx="5760720" cy="1463040"/>
          </a:xfrm>
          <a:prstGeom prst="rect">
            <a:avLst/>
          </a:prstGeom>
          <a:noFill/>
        </p:spPr>
        <p:txBody>
          <a:bodyPr wrap="square">
            <a:spAutoFit/>
          </a:bodyPr>
          <a:lstStyle/>
          <a:p>
            <a:pPr>
              <a:spcAft>
                <a:spcPts val="800"/>
              </a:spcAft>
            </a:pPr>
            <a:r>
              <a:rPr sz="1700">
                <a:solidFill>
                  <a:srgbClr val="2DD4BF"/>
                </a:solidFill>
                <a:latin typeface="Calibri"/>
              </a:rPr>
              <a:t>▸ </a:t>
            </a:r>
            <a:r>
              <a:rPr sz="1700">
                <a:solidFill>
                  <a:srgbClr val="F1F5F9"/>
                </a:solidFill>
                <a:latin typeface="Calibri"/>
              </a:rPr>
              <a:t>Ya existen paredes que se mueven (como inFORM, del MIT).</a:t>
            </a:r>
          </a:p>
          <a:p>
            <a:pPr>
              <a:spcAft>
                <a:spcPts val="800"/>
              </a:spcAft>
            </a:pPr>
            <a:r>
              <a:rPr sz="1700">
                <a:solidFill>
                  <a:srgbClr val="2DD4BF"/>
                </a:solidFill>
                <a:latin typeface="Calibri"/>
              </a:rPr>
              <a:t>▸ </a:t>
            </a:r>
            <a:r>
              <a:rPr sz="1700" b="1">
                <a:solidFill>
                  <a:srgbClr val="F1F5F9"/>
                </a:solidFill>
                <a:latin typeface="Calibri"/>
              </a:rPr>
              <a:t>Lo nuestro: </a:t>
            </a:r>
            <a:r>
              <a:rPr sz="1700">
                <a:solidFill>
                  <a:srgbClr val="94A3B8"/>
                </a:solidFill>
                <a:latin typeface="Calibri"/>
              </a:rPr>
              <a:t>que sean seguras y no se quemen.</a:t>
            </a:r>
          </a:p>
        </p:txBody>
      </p:sp>
      <p:sp>
        <p:nvSpPr>
          <p:cNvPr id="19" name="Rounded Rectangle 18"/>
          <p:cNvSpPr/>
          <p:nvPr/>
        </p:nvSpPr>
        <p:spPr>
          <a:xfrm>
            <a:off x="6583680" y="1554480"/>
            <a:ext cx="5029200" cy="26517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g_sim_3.png"/>
          <p:cNvPicPr>
            <a:picLocks noChangeAspect="1"/>
          </p:cNvPicPr>
          <p:nvPr/>
        </p:nvPicPr>
        <p:blipFill>
          <a:blip r:embed="rId3"/>
          <a:stretch>
            <a:fillRect/>
          </a:stretch>
        </p:blipFill>
        <p:spPr>
          <a:xfrm>
            <a:off x="6756535" y="1645920"/>
            <a:ext cx="4683489" cy="2468880"/>
          </a:xfrm>
          <a:prstGeom prst="rect">
            <a:avLst/>
          </a:prstGeom>
        </p:spPr>
      </p:pic>
      <p:sp>
        <p:nvSpPr>
          <p:cNvPr id="21" name="TextBox 20"/>
          <p:cNvSpPr txBox="1"/>
          <p:nvPr/>
        </p:nvSpPr>
        <p:spPr>
          <a:xfrm>
            <a:off x="6583680" y="4233672"/>
            <a:ext cx="5029200" cy="274320"/>
          </a:xfrm>
          <a:prstGeom prst="rect">
            <a:avLst/>
          </a:prstGeom>
          <a:noFill/>
        </p:spPr>
        <p:txBody>
          <a:bodyPr wrap="square" lIns="45720" tIns="18288" rIns="45720" bIns="18288" anchor="t">
            <a:spAutoFit/>
          </a:bodyPr>
          <a:lstStyle/>
          <a:p>
            <a:pPr algn="ctr"/>
            <a:r>
              <a:rPr sz="1100" b="0" i="1">
                <a:solidFill>
                  <a:srgbClr val="94A3B8"/>
                </a:solidFill>
                <a:latin typeface="Calibri"/>
              </a:rPr>
              <a:t>Simulación: las 16 piezas siguen un punto</a:t>
            </a:r>
          </a:p>
        </p:txBody>
      </p:sp>
      <p:sp>
        <p:nvSpPr>
          <p:cNvPr id="22" name="Rounded Rectangle 21"/>
          <p:cNvSpPr/>
          <p:nvPr/>
        </p:nvSpPr>
        <p:spPr>
          <a:xfrm>
            <a:off x="6583680" y="4526280"/>
            <a:ext cx="5029200" cy="17373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odulo_fisico.png"/>
          <p:cNvPicPr>
            <a:picLocks noChangeAspect="1"/>
          </p:cNvPicPr>
          <p:nvPr/>
        </p:nvPicPr>
        <p:blipFill>
          <a:blip r:embed="rId4"/>
          <a:stretch>
            <a:fillRect/>
          </a:stretch>
        </p:blipFill>
        <p:spPr>
          <a:xfrm>
            <a:off x="7517152" y="4617720"/>
            <a:ext cx="3162256" cy="1554480"/>
          </a:xfrm>
          <a:prstGeom prst="rect">
            <a:avLst/>
          </a:prstGeom>
        </p:spPr>
      </p:pic>
      <p:sp>
        <p:nvSpPr>
          <p:cNvPr id="24" name="TextBox 23"/>
          <p:cNvSpPr txBox="1"/>
          <p:nvPr/>
        </p:nvSpPr>
        <p:spPr>
          <a:xfrm>
            <a:off x="6583680" y="6291072"/>
            <a:ext cx="5029200" cy="274320"/>
          </a:xfrm>
          <a:prstGeom prst="rect">
            <a:avLst/>
          </a:prstGeom>
          <a:noFill/>
        </p:spPr>
        <p:txBody>
          <a:bodyPr wrap="square" lIns="45720" tIns="18288" rIns="45720" bIns="18288" anchor="t">
            <a:spAutoFit/>
          </a:bodyPr>
          <a:lstStyle/>
          <a:p>
            <a:pPr algn="ctr"/>
            <a:r>
              <a:rPr sz="1100" b="0" i="1">
                <a:solidFill>
                  <a:srgbClr val="94A3B8"/>
                </a:solidFill>
                <a:latin typeface="Calibri"/>
              </a:rPr>
              <a:t>Nuestro prototipo real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OJOS · CEREBRO · MÚSCULOS</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¿Cómo funciona? En 3 pasos</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3</a:t>
            </a:r>
          </a:p>
        </p:txBody>
      </p:sp>
      <p:sp>
        <p:nvSpPr>
          <p:cNvPr id="7" name="Rounded Rectangle 6"/>
          <p:cNvSpPr/>
          <p:nvPr/>
        </p:nvSpPr>
        <p:spPr>
          <a:xfrm>
            <a:off x="548640" y="1645920"/>
            <a:ext cx="3474720" cy="356616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60" y="1828800"/>
            <a:ext cx="777240" cy="77724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0B1220"/>
                </a:solidFill>
                <a:latin typeface="Calibri"/>
              </a:rPr>
              <a:t>1</a:t>
            </a:r>
          </a:p>
        </p:txBody>
      </p:sp>
      <p:sp>
        <p:nvSpPr>
          <p:cNvPr id="9" name="TextBox 8"/>
          <p:cNvSpPr txBox="1"/>
          <p:nvPr/>
        </p:nvSpPr>
        <p:spPr>
          <a:xfrm>
            <a:off x="1737360" y="1828800"/>
            <a:ext cx="2194560" cy="777240"/>
          </a:xfrm>
          <a:prstGeom prst="rect">
            <a:avLst/>
          </a:prstGeom>
          <a:noFill/>
        </p:spPr>
        <p:txBody>
          <a:bodyPr wrap="square" lIns="45720" tIns="18288" rIns="45720" bIns="18288" anchor="ctr">
            <a:spAutoFit/>
          </a:bodyPr>
          <a:lstStyle/>
          <a:p>
            <a:pPr algn="l"/>
            <a:r>
              <a:rPr sz="3000" b="1" i="0">
                <a:solidFill>
                  <a:srgbClr val="2DD4BF"/>
                </a:solidFill>
                <a:latin typeface="Calibri"/>
              </a:rPr>
              <a:t>VE</a:t>
            </a:r>
          </a:p>
        </p:txBody>
      </p:sp>
      <p:sp>
        <p:nvSpPr>
          <p:cNvPr id="10" name="TextBox 9"/>
          <p:cNvSpPr txBox="1"/>
          <p:nvPr/>
        </p:nvSpPr>
        <p:spPr>
          <a:xfrm>
            <a:off x="822960" y="2834640"/>
            <a:ext cx="3017520" cy="1371600"/>
          </a:xfrm>
          <a:prstGeom prst="rect">
            <a:avLst/>
          </a:prstGeom>
          <a:noFill/>
        </p:spPr>
        <p:txBody>
          <a:bodyPr wrap="square" lIns="45720" tIns="18288" rIns="45720" bIns="18288" anchor="t">
            <a:spAutoFit/>
          </a:bodyPr>
          <a:lstStyle/>
          <a:p>
            <a:pPr algn="l"/>
            <a:r>
              <a:rPr sz="1900" b="0" i="0">
                <a:solidFill>
                  <a:srgbClr val="F1F5F9"/>
                </a:solidFill>
                <a:latin typeface="Calibri"/>
              </a:rPr>
              <a:t>Una cámara mira tu mano en tiempo real.</a:t>
            </a:r>
          </a:p>
        </p:txBody>
      </p:sp>
      <p:sp>
        <p:nvSpPr>
          <p:cNvPr id="11" name="TextBox 10"/>
          <p:cNvSpPr txBox="1"/>
          <p:nvPr/>
        </p:nvSpPr>
        <p:spPr>
          <a:xfrm>
            <a:off x="822960" y="4480560"/>
            <a:ext cx="3017520" cy="640080"/>
          </a:xfrm>
          <a:prstGeom prst="rect">
            <a:avLst/>
          </a:prstGeom>
          <a:noFill/>
        </p:spPr>
        <p:txBody>
          <a:bodyPr wrap="square" lIns="45720" tIns="18288" rIns="45720" bIns="18288" anchor="t">
            <a:spAutoFit/>
          </a:bodyPr>
          <a:lstStyle/>
          <a:p>
            <a:pPr algn="l"/>
            <a:r>
              <a:rPr sz="1250" b="0" i="1">
                <a:solidFill>
                  <a:srgbClr val="94A3B8"/>
                </a:solidFill>
                <a:latin typeface="Calibri"/>
              </a:rPr>
              <a:t>cámara web · 30 imágenes por segundo</a:t>
            </a:r>
          </a:p>
        </p:txBody>
      </p:sp>
      <p:cxnSp>
        <p:nvCxnSpPr>
          <p:cNvPr id="12" name="Connector 11"/>
          <p:cNvCxnSpPr/>
          <p:nvPr/>
        </p:nvCxnSpPr>
        <p:spPr>
          <a:xfrm>
            <a:off x="4023360" y="3429000"/>
            <a:ext cx="320040" cy="0"/>
          </a:xfrm>
          <a:prstGeom prst="line">
            <a:avLst/>
          </a:prstGeom>
          <a:ln w="28575">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43400" y="1645920"/>
            <a:ext cx="3474720" cy="356616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617720" y="1828800"/>
            <a:ext cx="777240" cy="7772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0B1220"/>
                </a:solidFill>
                <a:latin typeface="Calibri"/>
              </a:rPr>
              <a:t>2</a:t>
            </a:r>
          </a:p>
        </p:txBody>
      </p:sp>
      <p:sp>
        <p:nvSpPr>
          <p:cNvPr id="15" name="TextBox 14"/>
          <p:cNvSpPr txBox="1"/>
          <p:nvPr/>
        </p:nvSpPr>
        <p:spPr>
          <a:xfrm>
            <a:off x="5532120" y="1828800"/>
            <a:ext cx="2194560" cy="777240"/>
          </a:xfrm>
          <a:prstGeom prst="rect">
            <a:avLst/>
          </a:prstGeom>
          <a:noFill/>
        </p:spPr>
        <p:txBody>
          <a:bodyPr wrap="square" lIns="45720" tIns="18288" rIns="45720" bIns="18288" anchor="ctr">
            <a:spAutoFit/>
          </a:bodyPr>
          <a:lstStyle/>
          <a:p>
            <a:pPr algn="l"/>
            <a:r>
              <a:rPr sz="3000" b="1" i="0">
                <a:solidFill>
                  <a:srgbClr val="F59E0B"/>
                </a:solidFill>
                <a:latin typeface="Calibri"/>
              </a:rPr>
              <a:t>PIENSA</a:t>
            </a:r>
          </a:p>
        </p:txBody>
      </p:sp>
      <p:sp>
        <p:nvSpPr>
          <p:cNvPr id="16" name="TextBox 15"/>
          <p:cNvSpPr txBox="1"/>
          <p:nvPr/>
        </p:nvSpPr>
        <p:spPr>
          <a:xfrm>
            <a:off x="4617720" y="2834640"/>
            <a:ext cx="3017520" cy="1371600"/>
          </a:xfrm>
          <a:prstGeom prst="rect">
            <a:avLst/>
          </a:prstGeom>
          <a:noFill/>
        </p:spPr>
        <p:txBody>
          <a:bodyPr wrap="square" lIns="45720" tIns="18288" rIns="45720" bIns="18288" anchor="t">
            <a:spAutoFit/>
          </a:bodyPr>
          <a:lstStyle/>
          <a:p>
            <a:pPr algn="l"/>
            <a:r>
              <a:rPr sz="1900" b="0" i="0">
                <a:solidFill>
                  <a:srgbClr val="F1F5F9"/>
                </a:solidFill>
                <a:latin typeface="Calibri"/>
              </a:rPr>
              <a:t>La computadora ubica 21 puntos de tu mano y decide qué gesto haces.</a:t>
            </a:r>
          </a:p>
        </p:txBody>
      </p:sp>
      <p:sp>
        <p:nvSpPr>
          <p:cNvPr id="17" name="TextBox 16"/>
          <p:cNvSpPr txBox="1"/>
          <p:nvPr/>
        </p:nvSpPr>
        <p:spPr>
          <a:xfrm>
            <a:off x="4617720" y="4480560"/>
            <a:ext cx="3017520" cy="640080"/>
          </a:xfrm>
          <a:prstGeom prst="rect">
            <a:avLst/>
          </a:prstGeom>
          <a:noFill/>
        </p:spPr>
        <p:txBody>
          <a:bodyPr wrap="square" lIns="45720" tIns="18288" rIns="45720" bIns="18288" anchor="t">
            <a:spAutoFit/>
          </a:bodyPr>
          <a:lstStyle/>
          <a:p>
            <a:pPr algn="l"/>
            <a:r>
              <a:rPr sz="1250" b="0" i="1">
                <a:solidFill>
                  <a:srgbClr val="94A3B8"/>
                </a:solidFill>
                <a:latin typeface="Calibri"/>
              </a:rPr>
              <a:t>Python + MediaPipe (de Google)</a:t>
            </a:r>
          </a:p>
        </p:txBody>
      </p:sp>
      <p:cxnSp>
        <p:nvCxnSpPr>
          <p:cNvPr id="18" name="Connector 17"/>
          <p:cNvCxnSpPr/>
          <p:nvPr/>
        </p:nvCxnSpPr>
        <p:spPr>
          <a:xfrm>
            <a:off x="7818120" y="3429000"/>
            <a:ext cx="320040" cy="0"/>
          </a:xfrm>
          <a:prstGeom prst="line">
            <a:avLst/>
          </a:prstGeom>
          <a:ln w="28575">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138160" y="1645920"/>
            <a:ext cx="3474720" cy="356616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1828800"/>
            <a:ext cx="777240" cy="77724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0B1220"/>
                </a:solidFill>
                <a:latin typeface="Calibri"/>
              </a:rPr>
              <a:t>3</a:t>
            </a:r>
          </a:p>
        </p:txBody>
      </p:sp>
      <p:sp>
        <p:nvSpPr>
          <p:cNvPr id="21" name="TextBox 20"/>
          <p:cNvSpPr txBox="1"/>
          <p:nvPr/>
        </p:nvSpPr>
        <p:spPr>
          <a:xfrm>
            <a:off x="9326880" y="1828800"/>
            <a:ext cx="2194560" cy="777240"/>
          </a:xfrm>
          <a:prstGeom prst="rect">
            <a:avLst/>
          </a:prstGeom>
          <a:noFill/>
        </p:spPr>
        <p:txBody>
          <a:bodyPr wrap="square" lIns="45720" tIns="18288" rIns="45720" bIns="18288" anchor="ctr">
            <a:spAutoFit/>
          </a:bodyPr>
          <a:lstStyle/>
          <a:p>
            <a:pPr algn="l"/>
            <a:r>
              <a:rPr sz="3000" b="1" i="0">
                <a:solidFill>
                  <a:srgbClr val="2DD4BF"/>
                </a:solidFill>
                <a:latin typeface="Calibri"/>
              </a:rPr>
              <a:t>SE MUEVE</a:t>
            </a:r>
          </a:p>
        </p:txBody>
      </p:sp>
      <p:sp>
        <p:nvSpPr>
          <p:cNvPr id="22" name="TextBox 21"/>
          <p:cNvSpPr txBox="1"/>
          <p:nvPr/>
        </p:nvSpPr>
        <p:spPr>
          <a:xfrm>
            <a:off x="8412480" y="2834640"/>
            <a:ext cx="3017520" cy="1371600"/>
          </a:xfrm>
          <a:prstGeom prst="rect">
            <a:avLst/>
          </a:prstGeom>
          <a:noFill/>
        </p:spPr>
        <p:txBody>
          <a:bodyPr wrap="square" lIns="45720" tIns="18288" rIns="45720" bIns="18288" anchor="t">
            <a:spAutoFit/>
          </a:bodyPr>
          <a:lstStyle/>
          <a:p>
            <a:pPr algn="l"/>
            <a:r>
              <a:rPr sz="1900" b="0" i="0">
                <a:solidFill>
                  <a:srgbClr val="F1F5F9"/>
                </a:solidFill>
                <a:latin typeface="Calibri"/>
              </a:rPr>
              <a:t>Manda órdenes por Bluetooth a una placa que mueve los motores.</a:t>
            </a:r>
          </a:p>
        </p:txBody>
      </p:sp>
      <p:sp>
        <p:nvSpPr>
          <p:cNvPr id="23" name="TextBox 22"/>
          <p:cNvSpPr txBox="1"/>
          <p:nvPr/>
        </p:nvSpPr>
        <p:spPr>
          <a:xfrm>
            <a:off x="8412480" y="4480560"/>
            <a:ext cx="3017520" cy="640080"/>
          </a:xfrm>
          <a:prstGeom prst="rect">
            <a:avLst/>
          </a:prstGeom>
          <a:noFill/>
        </p:spPr>
        <p:txBody>
          <a:bodyPr wrap="square" lIns="45720" tIns="18288" rIns="45720" bIns="18288" anchor="t">
            <a:spAutoFit/>
          </a:bodyPr>
          <a:lstStyle/>
          <a:p>
            <a:pPr algn="l"/>
            <a:r>
              <a:rPr sz="1250" b="0" i="1">
                <a:solidFill>
                  <a:srgbClr val="94A3B8"/>
                </a:solidFill>
                <a:latin typeface="Calibri"/>
              </a:rPr>
              <a:t>ESP32 + 32 servomotores</a:t>
            </a:r>
          </a:p>
        </p:txBody>
      </p:sp>
      <p:sp>
        <p:nvSpPr>
          <p:cNvPr id="24" name="TextBox 23"/>
          <p:cNvSpPr txBox="1"/>
          <p:nvPr/>
        </p:nvSpPr>
        <p:spPr>
          <a:xfrm>
            <a:off x="548640" y="5532120"/>
            <a:ext cx="11064240" cy="731520"/>
          </a:xfrm>
          <a:prstGeom prst="rect">
            <a:avLst/>
          </a:prstGeom>
          <a:noFill/>
        </p:spPr>
        <p:txBody>
          <a:bodyPr wrap="square" lIns="45720" tIns="18288" rIns="45720" bIns="18288" anchor="ctr">
            <a:spAutoFit/>
          </a:bodyPr>
          <a:lstStyle/>
          <a:p>
            <a:pPr algn="ctr"/>
            <a:r>
              <a:rPr sz="2000" b="1" i="0">
                <a:solidFill>
                  <a:srgbClr val="F59E0B"/>
                </a:solidFill>
                <a:latin typeface="Calibri"/>
              </a:rPr>
              <a:t>Es lo mismo que hace tu cuerpo cuando atrapas una pelota.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HARDWARE</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Por dentro de una pieza</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4</a:t>
            </a:r>
          </a:p>
        </p:txBody>
      </p:sp>
      <p:sp>
        <p:nvSpPr>
          <p:cNvPr id="7" name="Rounded Rectangle 6"/>
          <p:cNvSpPr/>
          <p:nvPr/>
        </p:nvSpPr>
        <p:spPr>
          <a:xfrm>
            <a:off x="548640" y="1554480"/>
            <a:ext cx="3108960" cy="31089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ofia_solid.png"/>
          <p:cNvPicPr>
            <a:picLocks noChangeAspect="1"/>
          </p:cNvPicPr>
          <p:nvPr/>
        </p:nvPicPr>
        <p:blipFill>
          <a:blip r:embed="rId3"/>
          <a:stretch>
            <a:fillRect/>
          </a:stretch>
        </p:blipFill>
        <p:spPr>
          <a:xfrm>
            <a:off x="640080" y="1705691"/>
            <a:ext cx="2926080" cy="2806537"/>
          </a:xfrm>
          <a:prstGeom prst="rect">
            <a:avLst/>
          </a:prstGeom>
        </p:spPr>
      </p:pic>
      <p:sp>
        <p:nvSpPr>
          <p:cNvPr id="9" name="TextBox 8"/>
          <p:cNvSpPr txBox="1"/>
          <p:nvPr/>
        </p:nvSpPr>
        <p:spPr>
          <a:xfrm>
            <a:off x="548640" y="4690872"/>
            <a:ext cx="3108960" cy="274320"/>
          </a:xfrm>
          <a:prstGeom prst="rect">
            <a:avLst/>
          </a:prstGeom>
          <a:noFill/>
        </p:spPr>
        <p:txBody>
          <a:bodyPr wrap="square" lIns="45720" tIns="18288" rIns="45720" bIns="18288" anchor="t">
            <a:spAutoFit/>
          </a:bodyPr>
          <a:lstStyle/>
          <a:p>
            <a:pPr algn="ctr"/>
            <a:r>
              <a:rPr sz="1100" b="0" i="1">
                <a:solidFill>
                  <a:srgbClr val="94A3B8"/>
                </a:solidFill>
                <a:latin typeface="Calibri"/>
              </a:rPr>
              <a:t>La pieza armada</a:t>
            </a:r>
          </a:p>
        </p:txBody>
      </p:sp>
      <p:sp>
        <p:nvSpPr>
          <p:cNvPr id="10" name="Rounded Rectangle 9"/>
          <p:cNvSpPr/>
          <p:nvPr/>
        </p:nvSpPr>
        <p:spPr>
          <a:xfrm>
            <a:off x="3840480" y="1554480"/>
            <a:ext cx="2377440" cy="31089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ofia_exploded.png"/>
          <p:cNvPicPr>
            <a:picLocks noChangeAspect="1"/>
          </p:cNvPicPr>
          <p:nvPr/>
        </p:nvPicPr>
        <p:blipFill>
          <a:blip r:embed="rId4"/>
          <a:stretch>
            <a:fillRect/>
          </a:stretch>
        </p:blipFill>
        <p:spPr>
          <a:xfrm>
            <a:off x="3931920" y="1672410"/>
            <a:ext cx="2194560" cy="2873100"/>
          </a:xfrm>
          <a:prstGeom prst="rect">
            <a:avLst/>
          </a:prstGeom>
        </p:spPr>
      </p:pic>
      <p:sp>
        <p:nvSpPr>
          <p:cNvPr id="12" name="TextBox 11"/>
          <p:cNvSpPr txBox="1"/>
          <p:nvPr/>
        </p:nvSpPr>
        <p:spPr>
          <a:xfrm>
            <a:off x="3840480" y="4690872"/>
            <a:ext cx="2377440" cy="274320"/>
          </a:xfrm>
          <a:prstGeom prst="rect">
            <a:avLst/>
          </a:prstGeom>
          <a:noFill/>
        </p:spPr>
        <p:txBody>
          <a:bodyPr wrap="square" lIns="45720" tIns="18288" rIns="45720" bIns="18288" anchor="t">
            <a:spAutoFit/>
          </a:bodyPr>
          <a:lstStyle/>
          <a:p>
            <a:pPr algn="ctr"/>
            <a:r>
              <a:rPr sz="1100" b="0" i="1">
                <a:solidFill>
                  <a:srgbClr val="94A3B8"/>
                </a:solidFill>
                <a:latin typeface="Calibri"/>
              </a:rPr>
              <a:t>Sus partes, separadas</a:t>
            </a:r>
          </a:p>
        </p:txBody>
      </p:sp>
      <p:sp>
        <p:nvSpPr>
          <p:cNvPr id="13" name="Rounded Rectangle 12"/>
          <p:cNvSpPr/>
          <p:nvPr/>
        </p:nvSpPr>
        <p:spPr>
          <a:xfrm>
            <a:off x="6583680" y="1554480"/>
            <a:ext cx="5029200" cy="96012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0" y="1600200"/>
            <a:ext cx="4754880" cy="365760"/>
          </a:xfrm>
          <a:prstGeom prst="rect">
            <a:avLst/>
          </a:prstGeom>
          <a:noFill/>
        </p:spPr>
        <p:txBody>
          <a:bodyPr wrap="square" lIns="45720" tIns="18288" rIns="45720" bIns="18288" anchor="t">
            <a:spAutoFit/>
          </a:bodyPr>
          <a:lstStyle/>
          <a:p>
            <a:pPr algn="l"/>
            <a:r>
              <a:rPr sz="1800" b="1" i="0">
                <a:solidFill>
                  <a:srgbClr val="2DD4BF"/>
                </a:solidFill>
                <a:latin typeface="Calibri"/>
              </a:rPr>
              <a:t>Dos motores (servos)</a:t>
            </a:r>
          </a:p>
        </p:txBody>
      </p:sp>
      <p:sp>
        <p:nvSpPr>
          <p:cNvPr id="15" name="TextBox 14"/>
          <p:cNvSpPr txBox="1"/>
          <p:nvPr/>
        </p:nvSpPr>
        <p:spPr>
          <a:xfrm>
            <a:off x="6766560" y="1993392"/>
            <a:ext cx="4754880" cy="502920"/>
          </a:xfrm>
          <a:prstGeom prst="rect">
            <a:avLst/>
          </a:prstGeom>
          <a:noFill/>
        </p:spPr>
        <p:txBody>
          <a:bodyPr wrap="square" lIns="45720" tIns="18288" rIns="45720" bIns="18288" anchor="t">
            <a:spAutoFit/>
          </a:bodyPr>
          <a:lstStyle/>
          <a:p>
            <a:pPr algn="l"/>
            <a:r>
              <a:rPr sz="1400" b="0" i="0">
                <a:solidFill>
                  <a:srgbClr val="94A3B8"/>
                </a:solidFill>
                <a:latin typeface="Calibri"/>
              </a:rPr>
              <a:t>Como los de un carrito RC: uno inclina, otro gira.</a:t>
            </a:r>
          </a:p>
        </p:txBody>
      </p:sp>
      <p:sp>
        <p:nvSpPr>
          <p:cNvPr id="16" name="Rounded Rectangle 15"/>
          <p:cNvSpPr/>
          <p:nvPr/>
        </p:nvSpPr>
        <p:spPr>
          <a:xfrm>
            <a:off x="6583680" y="2651760"/>
            <a:ext cx="5029200" cy="96012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60" y="2697480"/>
            <a:ext cx="4754880" cy="365760"/>
          </a:xfrm>
          <a:prstGeom prst="rect">
            <a:avLst/>
          </a:prstGeom>
          <a:noFill/>
        </p:spPr>
        <p:txBody>
          <a:bodyPr wrap="square" lIns="45720" tIns="18288" rIns="45720" bIns="18288" anchor="t">
            <a:spAutoFit/>
          </a:bodyPr>
          <a:lstStyle/>
          <a:p>
            <a:pPr algn="l"/>
            <a:r>
              <a:rPr sz="1800" b="1" i="0">
                <a:solidFill>
                  <a:srgbClr val="F59E0B"/>
                </a:solidFill>
                <a:latin typeface="Calibri"/>
              </a:rPr>
              <a:t>Una placa ESP32</a:t>
            </a:r>
          </a:p>
        </p:txBody>
      </p:sp>
      <p:sp>
        <p:nvSpPr>
          <p:cNvPr id="18" name="TextBox 17"/>
          <p:cNvSpPr txBox="1"/>
          <p:nvPr/>
        </p:nvSpPr>
        <p:spPr>
          <a:xfrm>
            <a:off x="6766560" y="3090672"/>
            <a:ext cx="4754880" cy="502920"/>
          </a:xfrm>
          <a:prstGeom prst="rect">
            <a:avLst/>
          </a:prstGeom>
          <a:noFill/>
        </p:spPr>
        <p:txBody>
          <a:bodyPr wrap="square" lIns="45720" tIns="18288" rIns="45720" bIns="18288" anchor="t">
            <a:spAutoFit/>
          </a:bodyPr>
          <a:lstStyle/>
          <a:p>
            <a:pPr algn="l"/>
            <a:r>
              <a:rPr sz="1400" b="0" i="0">
                <a:solidFill>
                  <a:srgbClr val="94A3B8"/>
                </a:solidFill>
                <a:latin typeface="Calibri"/>
              </a:rPr>
              <a:t>El 'cerebrito' que recibe órdenes y mueve los motores.</a:t>
            </a:r>
          </a:p>
        </p:txBody>
      </p:sp>
      <p:sp>
        <p:nvSpPr>
          <p:cNvPr id="19" name="Rounded Rectangle 18"/>
          <p:cNvSpPr/>
          <p:nvPr/>
        </p:nvSpPr>
        <p:spPr>
          <a:xfrm>
            <a:off x="6583680" y="3749039"/>
            <a:ext cx="5029200" cy="96012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0" y="3794759"/>
            <a:ext cx="4754880" cy="365760"/>
          </a:xfrm>
          <a:prstGeom prst="rect">
            <a:avLst/>
          </a:prstGeom>
          <a:noFill/>
        </p:spPr>
        <p:txBody>
          <a:bodyPr wrap="square" lIns="45720" tIns="18288" rIns="45720" bIns="18288" anchor="t">
            <a:spAutoFit/>
          </a:bodyPr>
          <a:lstStyle/>
          <a:p>
            <a:pPr algn="l"/>
            <a:r>
              <a:rPr sz="1800" b="1" i="0">
                <a:solidFill>
                  <a:srgbClr val="2DD4BF"/>
                </a:solidFill>
                <a:latin typeface="Calibri"/>
              </a:rPr>
              <a:t>Impresa en 3D</a:t>
            </a:r>
          </a:p>
        </p:txBody>
      </p:sp>
      <p:sp>
        <p:nvSpPr>
          <p:cNvPr id="21" name="TextBox 20"/>
          <p:cNvSpPr txBox="1"/>
          <p:nvPr/>
        </p:nvSpPr>
        <p:spPr>
          <a:xfrm>
            <a:off x="6766560" y="4187951"/>
            <a:ext cx="4754880" cy="502920"/>
          </a:xfrm>
          <a:prstGeom prst="rect">
            <a:avLst/>
          </a:prstGeom>
          <a:noFill/>
        </p:spPr>
        <p:txBody>
          <a:bodyPr wrap="square" lIns="45720" tIns="18288" rIns="45720" bIns="18288" anchor="t">
            <a:spAutoFit/>
          </a:bodyPr>
          <a:lstStyle/>
          <a:p>
            <a:pPr algn="l"/>
            <a:r>
              <a:rPr sz="1400" b="0" i="0">
                <a:solidFill>
                  <a:srgbClr val="94A3B8"/>
                </a:solidFill>
                <a:latin typeface="Calibri"/>
              </a:rPr>
              <a:t>Cuerpo de plástico PLA, hecho en nuestro laboratorio.</a:t>
            </a:r>
          </a:p>
        </p:txBody>
      </p:sp>
      <p:sp>
        <p:nvSpPr>
          <p:cNvPr id="22" name="Rounded Rectangle 21"/>
          <p:cNvSpPr/>
          <p:nvPr/>
        </p:nvSpPr>
        <p:spPr>
          <a:xfrm>
            <a:off x="6583680" y="4937760"/>
            <a:ext cx="2377440" cy="13716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sofia_pcb_layout.png"/>
          <p:cNvPicPr>
            <a:picLocks noChangeAspect="1"/>
          </p:cNvPicPr>
          <p:nvPr/>
        </p:nvPicPr>
        <p:blipFill>
          <a:blip r:embed="rId5"/>
          <a:stretch>
            <a:fillRect/>
          </a:stretch>
        </p:blipFill>
        <p:spPr>
          <a:xfrm>
            <a:off x="6902783" y="5029200"/>
            <a:ext cx="1739233" cy="1188720"/>
          </a:xfrm>
          <a:prstGeom prst="rect">
            <a:avLst/>
          </a:prstGeom>
        </p:spPr>
      </p:pic>
      <p:sp>
        <p:nvSpPr>
          <p:cNvPr id="24" name="TextBox 23"/>
          <p:cNvSpPr txBox="1"/>
          <p:nvPr/>
        </p:nvSpPr>
        <p:spPr>
          <a:xfrm>
            <a:off x="6583680" y="6336792"/>
            <a:ext cx="2377440" cy="274320"/>
          </a:xfrm>
          <a:prstGeom prst="rect">
            <a:avLst/>
          </a:prstGeom>
          <a:noFill/>
        </p:spPr>
        <p:txBody>
          <a:bodyPr wrap="square" lIns="45720" tIns="18288" rIns="45720" bIns="18288" anchor="t">
            <a:spAutoFit/>
          </a:bodyPr>
          <a:lstStyle/>
          <a:p>
            <a:pPr algn="ctr"/>
            <a:r>
              <a:rPr sz="1100" b="0" i="1">
                <a:solidFill>
                  <a:srgbClr val="94A3B8"/>
                </a:solidFill>
                <a:latin typeface="Calibri"/>
              </a:rPr>
              <a:t>Nuestra tarjeta de circuitos</a:t>
            </a:r>
          </a:p>
        </p:txBody>
      </p:sp>
      <p:sp>
        <p:nvSpPr>
          <p:cNvPr id="25" name="TextBox 24"/>
          <p:cNvSpPr txBox="1"/>
          <p:nvPr/>
        </p:nvSpPr>
        <p:spPr>
          <a:xfrm>
            <a:off x="9144000" y="4937760"/>
            <a:ext cx="2468880" cy="1371600"/>
          </a:xfrm>
          <a:prstGeom prst="rect">
            <a:avLst/>
          </a:prstGeom>
          <a:noFill/>
        </p:spPr>
        <p:txBody>
          <a:bodyPr wrap="square" lIns="45720" tIns="18288" rIns="45720" bIns="18288" anchor="ctr">
            <a:spAutoFit/>
          </a:bodyPr>
          <a:lstStyle/>
          <a:p>
            <a:pPr algn="l"/>
            <a:r>
              <a:rPr sz="1500" b="1" i="0">
                <a:solidFill>
                  <a:srgbClr val="F59E0B"/>
                </a:solidFill>
                <a:latin typeface="Calibri"/>
              </a:rPr>
              <a:t>Ya la mandamos a fabricar. Falta probarla.</a:t>
            </a:r>
          </a:p>
        </p:txBody>
      </p:sp>
      <p:sp>
        <p:nvSpPr>
          <p:cNvPr id="26" name="TextBox 25"/>
          <p:cNvSpPr txBox="1"/>
          <p:nvPr/>
        </p:nvSpPr>
        <p:spPr>
          <a:xfrm>
            <a:off x="548640" y="4983480"/>
            <a:ext cx="5760720" cy="1280160"/>
          </a:xfrm>
          <a:prstGeom prst="rect">
            <a:avLst/>
          </a:prstGeom>
          <a:noFill/>
        </p:spPr>
        <p:txBody>
          <a:bodyPr wrap="square" lIns="45720" tIns="18288" rIns="45720" bIns="18288" anchor="t">
            <a:spAutoFit/>
          </a:bodyPr>
          <a:lstStyle/>
          <a:p>
            <a:pPr algn="l"/>
            <a:r>
              <a:rPr sz="1700" b="0" i="0">
                <a:solidFill>
                  <a:srgbClr val="F1F5F9"/>
                </a:solidFill>
                <a:latin typeface="Calibri"/>
              </a:rPr>
              <a:t>Cada pieza = 2 motores. 16 piezas = 32 motores moviéndose coordinados.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VISIÓN POR COMPUTADORA</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¿Cómo entiende tu mano?</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5</a:t>
            </a:r>
          </a:p>
        </p:txBody>
      </p:sp>
      <p:sp>
        <p:nvSpPr>
          <p:cNvPr id="7" name="Rounded Rectangle 6"/>
          <p:cNvSpPr/>
          <p:nvPr/>
        </p:nvSpPr>
        <p:spPr>
          <a:xfrm>
            <a:off x="548640" y="1554480"/>
            <a:ext cx="6400800" cy="4206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ofia_gui.png"/>
          <p:cNvPicPr>
            <a:picLocks noChangeAspect="1"/>
          </p:cNvPicPr>
          <p:nvPr/>
        </p:nvPicPr>
        <p:blipFill>
          <a:blip r:embed="rId3"/>
          <a:stretch>
            <a:fillRect/>
          </a:stretch>
        </p:blipFill>
        <p:spPr>
          <a:xfrm>
            <a:off x="685568" y="1645920"/>
            <a:ext cx="6126944" cy="4023360"/>
          </a:xfrm>
          <a:prstGeom prst="rect">
            <a:avLst/>
          </a:prstGeom>
        </p:spPr>
      </p:pic>
      <p:sp>
        <p:nvSpPr>
          <p:cNvPr id="9" name="TextBox 8"/>
          <p:cNvSpPr txBox="1"/>
          <p:nvPr/>
        </p:nvSpPr>
        <p:spPr>
          <a:xfrm>
            <a:off x="548640" y="5788152"/>
            <a:ext cx="6400800" cy="274320"/>
          </a:xfrm>
          <a:prstGeom prst="rect">
            <a:avLst/>
          </a:prstGeom>
          <a:noFill/>
        </p:spPr>
        <p:txBody>
          <a:bodyPr wrap="square" lIns="45720" tIns="18288" rIns="45720" bIns="18288" anchor="t">
            <a:spAutoFit/>
          </a:bodyPr>
          <a:lstStyle/>
          <a:p>
            <a:pPr algn="ctr"/>
            <a:r>
              <a:rPr sz="1100" b="0" i="1">
                <a:solidFill>
                  <a:srgbClr val="94A3B8"/>
                </a:solidFill>
                <a:latin typeface="Calibri"/>
              </a:rPr>
              <a:t>Nuestra pantalla de control</a:t>
            </a:r>
          </a:p>
        </p:txBody>
      </p:sp>
      <p:sp>
        <p:nvSpPr>
          <p:cNvPr id="10" name="TextBox 9"/>
          <p:cNvSpPr txBox="1"/>
          <p:nvPr/>
        </p:nvSpPr>
        <p:spPr>
          <a:xfrm>
            <a:off x="7315200" y="1554480"/>
            <a:ext cx="4297680" cy="457200"/>
          </a:xfrm>
          <a:prstGeom prst="rect">
            <a:avLst/>
          </a:prstGeom>
          <a:noFill/>
        </p:spPr>
        <p:txBody>
          <a:bodyPr wrap="square" lIns="45720" tIns="18288" rIns="45720" bIns="18288" anchor="t">
            <a:spAutoFit/>
          </a:bodyPr>
          <a:lstStyle/>
          <a:p>
            <a:pPr algn="l"/>
            <a:r>
              <a:rPr sz="2100" b="1" i="0">
                <a:solidFill>
                  <a:srgbClr val="2DD4BF"/>
                </a:solidFill>
                <a:latin typeface="Calibri"/>
              </a:rPr>
              <a:t>Gestos que ya reconoce</a:t>
            </a:r>
          </a:p>
        </p:txBody>
      </p:sp>
      <p:sp>
        <p:nvSpPr>
          <p:cNvPr id="11" name="Rounded Rectangle 10"/>
          <p:cNvSpPr/>
          <p:nvPr/>
        </p:nvSpPr>
        <p:spPr>
          <a:xfrm>
            <a:off x="7315200" y="2148840"/>
            <a:ext cx="4297680" cy="8229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2176272"/>
            <a:ext cx="4023360" cy="365760"/>
          </a:xfrm>
          <a:prstGeom prst="rect">
            <a:avLst/>
          </a:prstGeom>
          <a:noFill/>
        </p:spPr>
        <p:txBody>
          <a:bodyPr wrap="square" lIns="45720" tIns="18288" rIns="45720" bIns="18288" anchor="t">
            <a:spAutoFit/>
          </a:bodyPr>
          <a:lstStyle/>
          <a:p>
            <a:pPr algn="l"/>
            <a:r>
              <a:rPr sz="1650" b="1" i="0">
                <a:solidFill>
                  <a:srgbClr val="F1F5F9"/>
                </a:solidFill>
                <a:latin typeface="Calibri"/>
              </a:rPr>
              <a:t>Saludo</a:t>
            </a:r>
          </a:p>
        </p:txBody>
      </p:sp>
      <p:sp>
        <p:nvSpPr>
          <p:cNvPr id="13" name="TextBox 12"/>
          <p:cNvSpPr txBox="1"/>
          <p:nvPr/>
        </p:nvSpPr>
        <p:spPr>
          <a:xfrm>
            <a:off x="7452360" y="2560320"/>
            <a:ext cx="4023360" cy="365760"/>
          </a:xfrm>
          <a:prstGeom prst="rect">
            <a:avLst/>
          </a:prstGeom>
          <a:noFill/>
        </p:spPr>
        <p:txBody>
          <a:bodyPr wrap="square" lIns="45720" tIns="18288" rIns="45720" bIns="18288" anchor="t">
            <a:spAutoFit/>
          </a:bodyPr>
          <a:lstStyle/>
          <a:p>
            <a:pPr algn="l"/>
            <a:r>
              <a:rPr sz="1350" b="0" i="0">
                <a:solidFill>
                  <a:srgbClr val="94A3B8"/>
                </a:solidFill>
                <a:latin typeface="Calibri"/>
              </a:rPr>
              <a:t>mueves la mano de lado a lado</a:t>
            </a:r>
          </a:p>
        </p:txBody>
      </p:sp>
      <p:sp>
        <p:nvSpPr>
          <p:cNvPr id="14" name="Rounded Rectangle 13"/>
          <p:cNvSpPr/>
          <p:nvPr/>
        </p:nvSpPr>
        <p:spPr>
          <a:xfrm>
            <a:off x="7315200" y="3108960"/>
            <a:ext cx="4297680" cy="8229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52360" y="3136392"/>
            <a:ext cx="4023360" cy="365760"/>
          </a:xfrm>
          <a:prstGeom prst="rect">
            <a:avLst/>
          </a:prstGeom>
          <a:noFill/>
        </p:spPr>
        <p:txBody>
          <a:bodyPr wrap="square" lIns="45720" tIns="18288" rIns="45720" bIns="18288" anchor="t">
            <a:spAutoFit/>
          </a:bodyPr>
          <a:lstStyle/>
          <a:p>
            <a:pPr algn="l"/>
            <a:r>
              <a:rPr sz="1650" b="1" i="0">
                <a:solidFill>
                  <a:srgbClr val="F1F5F9"/>
                </a:solidFill>
                <a:latin typeface="Calibri"/>
              </a:rPr>
              <a:t>Corazón</a:t>
            </a:r>
          </a:p>
        </p:txBody>
      </p:sp>
      <p:sp>
        <p:nvSpPr>
          <p:cNvPr id="16" name="TextBox 15"/>
          <p:cNvSpPr txBox="1"/>
          <p:nvPr/>
        </p:nvSpPr>
        <p:spPr>
          <a:xfrm>
            <a:off x="7452360" y="3520440"/>
            <a:ext cx="4023360" cy="365760"/>
          </a:xfrm>
          <a:prstGeom prst="rect">
            <a:avLst/>
          </a:prstGeom>
          <a:noFill/>
        </p:spPr>
        <p:txBody>
          <a:bodyPr wrap="square" lIns="45720" tIns="18288" rIns="45720" bIns="18288" anchor="t">
            <a:spAutoFit/>
          </a:bodyPr>
          <a:lstStyle/>
          <a:p>
            <a:pPr algn="l"/>
            <a:r>
              <a:rPr sz="1350" b="0" i="0">
                <a:solidFill>
                  <a:srgbClr val="94A3B8"/>
                </a:solidFill>
                <a:latin typeface="Calibri"/>
              </a:rPr>
              <a:t>juntas las dos manos</a:t>
            </a:r>
          </a:p>
        </p:txBody>
      </p:sp>
      <p:sp>
        <p:nvSpPr>
          <p:cNvPr id="17" name="Rounded Rectangle 16"/>
          <p:cNvSpPr/>
          <p:nvPr/>
        </p:nvSpPr>
        <p:spPr>
          <a:xfrm>
            <a:off x="7315200" y="4069080"/>
            <a:ext cx="4297680" cy="8229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52360" y="4096512"/>
            <a:ext cx="4023360" cy="365760"/>
          </a:xfrm>
          <a:prstGeom prst="rect">
            <a:avLst/>
          </a:prstGeom>
          <a:noFill/>
        </p:spPr>
        <p:txBody>
          <a:bodyPr wrap="square" lIns="45720" tIns="18288" rIns="45720" bIns="18288" anchor="t">
            <a:spAutoFit/>
          </a:bodyPr>
          <a:lstStyle/>
          <a:p>
            <a:pPr algn="l"/>
            <a:r>
              <a:rPr sz="1650" b="1" i="0">
                <a:solidFill>
                  <a:srgbClr val="F1F5F9"/>
                </a:solidFill>
                <a:latin typeface="Calibri"/>
              </a:rPr>
              <a:t>Piedra, papel o tijera</a:t>
            </a:r>
          </a:p>
        </p:txBody>
      </p:sp>
      <p:sp>
        <p:nvSpPr>
          <p:cNvPr id="19" name="TextBox 18"/>
          <p:cNvSpPr txBox="1"/>
          <p:nvPr/>
        </p:nvSpPr>
        <p:spPr>
          <a:xfrm>
            <a:off x="7452360" y="4480560"/>
            <a:ext cx="4023360" cy="365760"/>
          </a:xfrm>
          <a:prstGeom prst="rect">
            <a:avLst/>
          </a:prstGeom>
          <a:noFill/>
        </p:spPr>
        <p:txBody>
          <a:bodyPr wrap="square" lIns="45720" tIns="18288" rIns="45720" bIns="18288" anchor="t">
            <a:spAutoFit/>
          </a:bodyPr>
          <a:lstStyle/>
          <a:p>
            <a:pPr algn="l"/>
            <a:r>
              <a:rPr sz="1350" b="0" i="0">
                <a:solidFill>
                  <a:srgbClr val="94A3B8"/>
                </a:solidFill>
                <a:latin typeface="Calibri"/>
              </a:rPr>
              <a:t>juegas con las dos manos</a:t>
            </a:r>
          </a:p>
        </p:txBody>
      </p:sp>
      <p:sp>
        <p:nvSpPr>
          <p:cNvPr id="20" name="Rounded Rectangle 19"/>
          <p:cNvSpPr/>
          <p:nvPr/>
        </p:nvSpPr>
        <p:spPr>
          <a:xfrm>
            <a:off x="7315200" y="5029200"/>
            <a:ext cx="4297680" cy="8229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52360" y="5056632"/>
            <a:ext cx="4023360" cy="365760"/>
          </a:xfrm>
          <a:prstGeom prst="rect">
            <a:avLst/>
          </a:prstGeom>
          <a:noFill/>
        </p:spPr>
        <p:txBody>
          <a:bodyPr wrap="square" lIns="45720" tIns="18288" rIns="45720" bIns="18288" anchor="t">
            <a:spAutoFit/>
          </a:bodyPr>
          <a:lstStyle/>
          <a:p>
            <a:pPr algn="l"/>
            <a:r>
              <a:rPr sz="1650" b="1" i="0">
                <a:solidFill>
                  <a:srgbClr val="F1F5F9"/>
                </a:solidFill>
                <a:latin typeface="Calibri"/>
              </a:rPr>
              <a:t>Palma abierta · puño · victoria</a:t>
            </a:r>
          </a:p>
        </p:txBody>
      </p:sp>
      <p:sp>
        <p:nvSpPr>
          <p:cNvPr id="22" name="TextBox 21"/>
          <p:cNvSpPr txBox="1"/>
          <p:nvPr/>
        </p:nvSpPr>
        <p:spPr>
          <a:xfrm>
            <a:off x="7452360" y="5440680"/>
            <a:ext cx="4023360" cy="365760"/>
          </a:xfrm>
          <a:prstGeom prst="rect">
            <a:avLst/>
          </a:prstGeom>
          <a:noFill/>
        </p:spPr>
        <p:txBody>
          <a:bodyPr wrap="square" lIns="45720" tIns="18288" rIns="45720" bIns="18288" anchor="t">
            <a:spAutoFit/>
          </a:bodyPr>
          <a:lstStyle/>
          <a:p>
            <a:pPr algn="l"/>
            <a:r>
              <a:rPr sz="1350" b="0" i="0">
                <a:solidFill>
                  <a:srgbClr val="94A3B8"/>
                </a:solidFill>
                <a:latin typeface="Calibri"/>
              </a:rPr>
              <a:t>poses simples</a:t>
            </a:r>
          </a:p>
        </p:txBody>
      </p:sp>
      <p:sp>
        <p:nvSpPr>
          <p:cNvPr id="23" name="TextBox 22"/>
          <p:cNvSpPr txBox="1"/>
          <p:nvPr/>
        </p:nvSpPr>
        <p:spPr>
          <a:xfrm>
            <a:off x="548640" y="5852160"/>
            <a:ext cx="11064240" cy="457200"/>
          </a:xfrm>
          <a:prstGeom prst="rect">
            <a:avLst/>
          </a:prstGeom>
          <a:noFill/>
        </p:spPr>
        <p:txBody>
          <a:bodyPr wrap="square" lIns="45720" tIns="18288" rIns="45720" bIns="18288" anchor="t">
            <a:spAutoFit/>
          </a:bodyPr>
          <a:lstStyle/>
          <a:p>
            <a:pPr algn="l"/>
            <a:r>
              <a:rPr sz="1600" b="0" i="1">
                <a:solidFill>
                  <a:srgbClr val="F59E0B"/>
                </a:solidFill>
                <a:latin typeface="Calibri"/>
              </a:rPr>
              <a:t>Detecta 21 puntos en cada mano, sin necesitar una computadora especial.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SIMULACIÓN</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Primero lo probamos en la compu</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6</a:t>
            </a:r>
          </a:p>
        </p:txBody>
      </p:sp>
      <p:sp>
        <p:nvSpPr>
          <p:cNvPr id="7" name="Rounded Rectangle 6"/>
          <p:cNvSpPr/>
          <p:nvPr/>
        </p:nvSpPr>
        <p:spPr>
          <a:xfrm>
            <a:off x="548640" y="1554480"/>
            <a:ext cx="3611880" cy="19659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fig_sim_1.png"/>
          <p:cNvPicPr>
            <a:picLocks noChangeAspect="1"/>
          </p:cNvPicPr>
          <p:nvPr/>
        </p:nvPicPr>
        <p:blipFill>
          <a:blip r:embed="rId3"/>
          <a:stretch>
            <a:fillRect/>
          </a:stretch>
        </p:blipFill>
        <p:spPr>
          <a:xfrm>
            <a:off x="668920" y="1645920"/>
            <a:ext cx="3371320" cy="1783080"/>
          </a:xfrm>
          <a:prstGeom prst="rect">
            <a:avLst/>
          </a:prstGeom>
        </p:spPr>
      </p:pic>
      <p:sp>
        <p:nvSpPr>
          <p:cNvPr id="9" name="Rounded Rectangle 8"/>
          <p:cNvSpPr/>
          <p:nvPr/>
        </p:nvSpPr>
        <p:spPr>
          <a:xfrm>
            <a:off x="4343400" y="1554480"/>
            <a:ext cx="3611880" cy="19659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g_sim_2.png"/>
          <p:cNvPicPr>
            <a:picLocks noChangeAspect="1"/>
          </p:cNvPicPr>
          <p:nvPr/>
        </p:nvPicPr>
        <p:blipFill>
          <a:blip r:embed="rId4"/>
          <a:stretch>
            <a:fillRect/>
          </a:stretch>
        </p:blipFill>
        <p:spPr>
          <a:xfrm>
            <a:off x="4457776" y="1645920"/>
            <a:ext cx="3383128" cy="1783080"/>
          </a:xfrm>
          <a:prstGeom prst="rect">
            <a:avLst/>
          </a:prstGeom>
        </p:spPr>
      </p:pic>
      <p:sp>
        <p:nvSpPr>
          <p:cNvPr id="11" name="Rounded Rectangle 10"/>
          <p:cNvSpPr/>
          <p:nvPr/>
        </p:nvSpPr>
        <p:spPr>
          <a:xfrm>
            <a:off x="8138160" y="1554480"/>
            <a:ext cx="3611880" cy="19659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ig_sim_3.png"/>
          <p:cNvPicPr>
            <a:picLocks noChangeAspect="1"/>
          </p:cNvPicPr>
          <p:nvPr/>
        </p:nvPicPr>
        <p:blipFill>
          <a:blip r:embed="rId5"/>
          <a:stretch>
            <a:fillRect/>
          </a:stretch>
        </p:blipFill>
        <p:spPr>
          <a:xfrm>
            <a:off x="8252840" y="1645920"/>
            <a:ext cx="3382520" cy="1783080"/>
          </a:xfrm>
          <a:prstGeom prst="rect">
            <a:avLst/>
          </a:prstGeom>
        </p:spPr>
      </p:pic>
      <p:sp>
        <p:nvSpPr>
          <p:cNvPr id="13" name="Rounded Rectangle 12"/>
          <p:cNvSpPr/>
          <p:nvPr/>
        </p:nvSpPr>
        <p:spPr>
          <a:xfrm>
            <a:off x="548640" y="3657600"/>
            <a:ext cx="3611880" cy="19659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fig_sim_4.png"/>
          <p:cNvPicPr>
            <a:picLocks noChangeAspect="1"/>
          </p:cNvPicPr>
          <p:nvPr/>
        </p:nvPicPr>
        <p:blipFill>
          <a:blip r:embed="rId6"/>
          <a:stretch>
            <a:fillRect/>
          </a:stretch>
        </p:blipFill>
        <p:spPr>
          <a:xfrm>
            <a:off x="640080" y="3806950"/>
            <a:ext cx="3429000" cy="1667260"/>
          </a:xfrm>
          <a:prstGeom prst="rect">
            <a:avLst/>
          </a:prstGeom>
        </p:spPr>
      </p:pic>
      <p:sp>
        <p:nvSpPr>
          <p:cNvPr id="15" name="Rounded Rectangle 14"/>
          <p:cNvSpPr/>
          <p:nvPr/>
        </p:nvSpPr>
        <p:spPr>
          <a:xfrm>
            <a:off x="4343400" y="3657600"/>
            <a:ext cx="3611880" cy="19659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_sim_5.png"/>
          <p:cNvPicPr>
            <a:picLocks noChangeAspect="1"/>
          </p:cNvPicPr>
          <p:nvPr/>
        </p:nvPicPr>
        <p:blipFill>
          <a:blip r:embed="rId7"/>
          <a:stretch>
            <a:fillRect/>
          </a:stretch>
        </p:blipFill>
        <p:spPr>
          <a:xfrm>
            <a:off x="4434840" y="3811163"/>
            <a:ext cx="3429000" cy="1658834"/>
          </a:xfrm>
          <a:prstGeom prst="rect">
            <a:avLst/>
          </a:prstGeom>
        </p:spPr>
      </p:pic>
      <p:sp>
        <p:nvSpPr>
          <p:cNvPr id="17" name="Rounded Rectangle 16"/>
          <p:cNvSpPr/>
          <p:nvPr/>
        </p:nvSpPr>
        <p:spPr>
          <a:xfrm>
            <a:off x="8138160" y="3657600"/>
            <a:ext cx="3611880" cy="19659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fig_sim_6.png"/>
          <p:cNvPicPr>
            <a:picLocks noChangeAspect="1"/>
          </p:cNvPicPr>
          <p:nvPr/>
        </p:nvPicPr>
        <p:blipFill>
          <a:blip r:embed="rId8"/>
          <a:stretch>
            <a:fillRect/>
          </a:stretch>
        </p:blipFill>
        <p:spPr>
          <a:xfrm>
            <a:off x="8229600" y="3811253"/>
            <a:ext cx="3428999" cy="1658653"/>
          </a:xfrm>
          <a:prstGeom prst="rect">
            <a:avLst/>
          </a:prstGeom>
        </p:spPr>
      </p:pic>
      <p:sp>
        <p:nvSpPr>
          <p:cNvPr id="19" name="Rounded Rectangle 18"/>
          <p:cNvSpPr/>
          <p:nvPr/>
        </p:nvSpPr>
        <p:spPr>
          <a:xfrm>
            <a:off x="548640" y="5806440"/>
            <a:ext cx="11064240" cy="54864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5806440"/>
            <a:ext cx="10515600" cy="548640"/>
          </a:xfrm>
          <a:prstGeom prst="rect">
            <a:avLst/>
          </a:prstGeom>
          <a:noFill/>
        </p:spPr>
        <p:txBody>
          <a:bodyPr wrap="square" lIns="45720" tIns="18288" rIns="45720" bIns="18288" anchor="ctr">
            <a:spAutoFit/>
          </a:bodyPr>
          <a:lstStyle/>
          <a:p>
            <a:pPr algn="l"/>
            <a:r>
              <a:rPr sz="1900" b="1" i="0">
                <a:solidFill>
                  <a:srgbClr val="F1F5F9"/>
                </a:solidFill>
                <a:latin typeface="Calibri"/>
              </a:rPr>
              <a:t>Como girasoles: las 16 piezas siguen un punto que se mueve.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¿QUÉ PASA SI UN MOTOR SE ATORA?</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El problema escondido</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7</a:t>
            </a:r>
          </a:p>
        </p:txBody>
      </p:sp>
      <p:sp>
        <p:nvSpPr>
          <p:cNvPr id="7" name="Rounded Rectangle 6"/>
          <p:cNvSpPr/>
          <p:nvPr/>
        </p:nvSpPr>
        <p:spPr>
          <a:xfrm>
            <a:off x="548640" y="1600200"/>
            <a:ext cx="5394960" cy="228600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91640"/>
            <a:ext cx="4937760" cy="457200"/>
          </a:xfrm>
          <a:prstGeom prst="rect">
            <a:avLst/>
          </a:prstGeom>
          <a:noFill/>
        </p:spPr>
        <p:txBody>
          <a:bodyPr wrap="square" lIns="45720" tIns="18288" rIns="45720" bIns="18288" anchor="t">
            <a:spAutoFit/>
          </a:bodyPr>
          <a:lstStyle/>
          <a:p>
            <a:pPr algn="l"/>
            <a:r>
              <a:rPr sz="2100" b="1" i="0">
                <a:solidFill>
                  <a:srgbClr val="F59E0B"/>
                </a:solidFill>
                <a:latin typeface="Calibri"/>
              </a:rPr>
              <a:t>Es como empujar una puerta atorada</a:t>
            </a:r>
          </a:p>
        </p:txBody>
      </p:sp>
      <p:sp>
        <p:nvSpPr>
          <p:cNvPr id="9" name="TextBox 8"/>
          <p:cNvSpPr txBox="1"/>
          <p:nvPr/>
        </p:nvSpPr>
        <p:spPr>
          <a:xfrm>
            <a:off x="777240" y="2240280"/>
            <a:ext cx="4937760" cy="1554480"/>
          </a:xfrm>
          <a:prstGeom prst="rect">
            <a:avLst/>
          </a:prstGeom>
          <a:noFill/>
        </p:spPr>
        <p:txBody>
          <a:bodyPr wrap="square" lIns="45720" tIns="18288" rIns="45720" bIns="18288" anchor="t">
            <a:spAutoFit/>
          </a:bodyPr>
          <a:lstStyle/>
          <a:p>
            <a:pPr algn="l"/>
            <a:r>
              <a:rPr sz="1750" b="0" i="0">
                <a:solidFill>
                  <a:srgbClr val="F1F5F9"/>
                </a:solidFill>
                <a:latin typeface="Calibri"/>
              </a:rPr>
              <a:t>Sigues haciendo fuerza… y te cansas. El motor hace lo mismo: no llega a su posición, sigue empujando y se calienta.</a:t>
            </a:r>
          </a:p>
        </p:txBody>
      </p:sp>
      <p:sp>
        <p:nvSpPr>
          <p:cNvPr id="10" name="Rounded Rectangle 9"/>
          <p:cNvSpPr/>
          <p:nvPr/>
        </p:nvSpPr>
        <p:spPr>
          <a:xfrm>
            <a:off x="6217920" y="1600200"/>
            <a:ext cx="5394960" cy="2286000"/>
          </a:xfrm>
          <a:prstGeom prst="roundRect">
            <a:avLst>
              <a:gd name="adj" fmla="val 6000"/>
            </a:avLst>
          </a:prstGeom>
          <a:solidFill>
            <a:srgbClr val="141E33"/>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691640"/>
            <a:ext cx="4937760" cy="457200"/>
          </a:xfrm>
          <a:prstGeom prst="rect">
            <a:avLst/>
          </a:prstGeom>
          <a:noFill/>
        </p:spPr>
        <p:txBody>
          <a:bodyPr wrap="square" lIns="45720" tIns="18288" rIns="45720" bIns="18288" anchor="t">
            <a:spAutoFit/>
          </a:bodyPr>
          <a:lstStyle/>
          <a:p>
            <a:pPr algn="l"/>
            <a:r>
              <a:rPr sz="2100" b="1" i="0">
                <a:solidFill>
                  <a:srgbClr val="F87171"/>
                </a:solidFill>
                <a:latin typeface="Calibri"/>
              </a:rPr>
              <a:t>Como un celular jugando algo pesado</a:t>
            </a:r>
          </a:p>
        </p:txBody>
      </p:sp>
      <p:sp>
        <p:nvSpPr>
          <p:cNvPr id="12" name="TextBox 11"/>
          <p:cNvSpPr txBox="1"/>
          <p:nvPr/>
        </p:nvSpPr>
        <p:spPr>
          <a:xfrm>
            <a:off x="6446520" y="2240280"/>
            <a:ext cx="4937760" cy="1554480"/>
          </a:xfrm>
          <a:prstGeom prst="rect">
            <a:avLst/>
          </a:prstGeom>
          <a:noFill/>
        </p:spPr>
        <p:txBody>
          <a:bodyPr wrap="square" lIns="45720" tIns="18288" rIns="45720" bIns="18288" anchor="t">
            <a:spAutoFit/>
          </a:bodyPr>
          <a:lstStyle/>
          <a:p>
            <a:pPr algn="l"/>
            <a:r>
              <a:rPr sz="1750" b="0" i="0">
                <a:solidFill>
                  <a:srgbClr val="F1F5F9"/>
                </a:solidFill>
                <a:latin typeface="Calibri"/>
              </a:rPr>
              <a:t>Con 32 motores pegados en una pared, el calor se acumula y puede derretir el plástico.</a:t>
            </a:r>
          </a:p>
        </p:txBody>
      </p:sp>
      <p:sp>
        <p:nvSpPr>
          <p:cNvPr id="13" name="Rounded Rectangle 12"/>
          <p:cNvSpPr/>
          <p:nvPr/>
        </p:nvSpPr>
        <p:spPr>
          <a:xfrm>
            <a:off x="548640" y="4251960"/>
            <a:ext cx="11064240" cy="137160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251960"/>
            <a:ext cx="10515600" cy="1371600"/>
          </a:xfrm>
          <a:prstGeom prst="rect">
            <a:avLst/>
          </a:prstGeom>
          <a:noFill/>
        </p:spPr>
        <p:txBody>
          <a:bodyPr wrap="square" lIns="45720" tIns="18288" rIns="45720" bIns="18288" anchor="ctr">
            <a:spAutoFit/>
          </a:bodyPr>
          <a:lstStyle/>
          <a:p>
            <a:pPr algn="l"/>
            <a:r>
              <a:rPr sz="2400" b="1" i="0">
                <a:solidFill>
                  <a:srgbClr val="F1F5F9"/>
                </a:solidFill>
                <a:latin typeface="Calibri"/>
              </a:rPr>
              <a:t>Nuestra pregunta: si un motor se atora, ¿cuánto tiempo puede aguantar antes de calentarse demasiado?</a:t>
            </a:r>
          </a:p>
        </p:txBody>
      </p:sp>
      <p:sp>
        <p:nvSpPr>
          <p:cNvPr id="15" name="TextBox 14"/>
          <p:cNvSpPr txBox="1"/>
          <p:nvPr/>
        </p:nvSpPr>
        <p:spPr>
          <a:xfrm>
            <a:off x="548640" y="5806440"/>
            <a:ext cx="11064240" cy="457200"/>
          </a:xfrm>
          <a:prstGeom prst="rect">
            <a:avLst/>
          </a:prstGeom>
          <a:noFill/>
        </p:spPr>
        <p:txBody>
          <a:bodyPr wrap="square" lIns="45720" tIns="18288" rIns="45720" bIns="18288" anchor="t">
            <a:spAutoFit/>
          </a:bodyPr>
          <a:lstStyle/>
          <a:p>
            <a:pPr algn="ctr"/>
            <a:r>
              <a:rPr sz="1600" b="0" i="1">
                <a:solidFill>
                  <a:srgbClr val="94A3B8"/>
                </a:solidFill>
                <a:latin typeface="Calibri"/>
              </a:rPr>
              <a:t>Por eso, además de mover la pared, medimos qué pasa con los motores.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EXPERIMENTO</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Lo que medimos: el calor sube rápido</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8</a:t>
            </a:r>
          </a:p>
        </p:txBody>
      </p:sp>
      <p:sp>
        <p:nvSpPr>
          <p:cNvPr id="7" name="Rounded Rectangle 6"/>
          <p:cNvSpPr/>
          <p:nvPr/>
        </p:nvSpPr>
        <p:spPr>
          <a:xfrm>
            <a:off x="548640" y="1554480"/>
            <a:ext cx="7498079" cy="4206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fig_characterization_6panels.png"/>
          <p:cNvPicPr>
            <a:picLocks noChangeAspect="1"/>
          </p:cNvPicPr>
          <p:nvPr/>
        </p:nvPicPr>
        <p:blipFill>
          <a:blip r:embed="rId3"/>
          <a:stretch>
            <a:fillRect/>
          </a:stretch>
        </p:blipFill>
        <p:spPr>
          <a:xfrm>
            <a:off x="640080" y="1755648"/>
            <a:ext cx="7315199" cy="3803903"/>
          </a:xfrm>
          <a:prstGeom prst="rect">
            <a:avLst/>
          </a:prstGeom>
        </p:spPr>
      </p:pic>
      <p:sp>
        <p:nvSpPr>
          <p:cNvPr id="9" name="TextBox 8"/>
          <p:cNvSpPr txBox="1"/>
          <p:nvPr/>
        </p:nvSpPr>
        <p:spPr>
          <a:xfrm>
            <a:off x="548640" y="5788152"/>
            <a:ext cx="7498079" cy="274320"/>
          </a:xfrm>
          <a:prstGeom prst="rect">
            <a:avLst/>
          </a:prstGeom>
          <a:noFill/>
        </p:spPr>
        <p:txBody>
          <a:bodyPr wrap="square" lIns="45720" tIns="18288" rIns="45720" bIns="18288" anchor="t">
            <a:spAutoFit/>
          </a:bodyPr>
          <a:lstStyle/>
          <a:p>
            <a:pPr algn="ctr"/>
            <a:r>
              <a:rPr sz="1100" b="0" i="1">
                <a:solidFill>
                  <a:srgbClr val="94A3B8"/>
                </a:solidFill>
                <a:latin typeface="Calibri"/>
              </a:rPr>
              <a:t>Trabamos un motor a propósito y medimos todo</a:t>
            </a:r>
          </a:p>
        </p:txBody>
      </p:sp>
      <p:sp>
        <p:nvSpPr>
          <p:cNvPr id="10" name="Rounded Rectangle 9"/>
          <p:cNvSpPr/>
          <p:nvPr/>
        </p:nvSpPr>
        <p:spPr>
          <a:xfrm>
            <a:off x="8321040" y="1554480"/>
            <a:ext cx="3291840" cy="137160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645920"/>
            <a:ext cx="3291840" cy="754380"/>
          </a:xfrm>
          <a:prstGeom prst="rect">
            <a:avLst/>
          </a:prstGeom>
          <a:noFill/>
        </p:spPr>
        <p:txBody>
          <a:bodyPr wrap="square" lIns="45720" tIns="18288" rIns="45720" bIns="18288" anchor="ctr">
            <a:spAutoFit/>
          </a:bodyPr>
          <a:lstStyle/>
          <a:p>
            <a:pPr algn="ctr"/>
            <a:r>
              <a:rPr sz="3200" b="1" i="0">
                <a:solidFill>
                  <a:srgbClr val="F59E0B"/>
                </a:solidFill>
                <a:latin typeface="Calibri"/>
              </a:rPr>
              <a:t>0.2 °C</a:t>
            </a:r>
          </a:p>
        </p:txBody>
      </p:sp>
      <p:sp>
        <p:nvSpPr>
          <p:cNvPr id="12" name="TextBox 11"/>
          <p:cNvSpPr txBox="1"/>
          <p:nvPr/>
        </p:nvSpPr>
        <p:spPr>
          <a:xfrm>
            <a:off x="8412480" y="2350008"/>
            <a:ext cx="3108960" cy="548640"/>
          </a:xfrm>
          <a:prstGeom prst="rect">
            <a:avLst/>
          </a:prstGeom>
          <a:noFill/>
        </p:spPr>
        <p:txBody>
          <a:bodyPr wrap="square" lIns="45720" tIns="18288" rIns="45720" bIns="18288" anchor="t">
            <a:spAutoFit/>
          </a:bodyPr>
          <a:lstStyle/>
          <a:p>
            <a:pPr algn="ctr"/>
            <a:r>
              <a:rPr sz="1250" b="0" i="0">
                <a:solidFill>
                  <a:srgbClr val="94A3B8"/>
                </a:solidFill>
                <a:latin typeface="Calibri"/>
              </a:rPr>
              <a:t>sube cada segundo</a:t>
            </a:r>
          </a:p>
        </p:txBody>
      </p:sp>
      <p:sp>
        <p:nvSpPr>
          <p:cNvPr id="13" name="Rounded Rectangle 12"/>
          <p:cNvSpPr/>
          <p:nvPr/>
        </p:nvSpPr>
        <p:spPr>
          <a:xfrm>
            <a:off x="8321040" y="3108960"/>
            <a:ext cx="3291840" cy="1371600"/>
          </a:xfrm>
          <a:prstGeom prst="roundRect">
            <a:avLst>
              <a:gd name="adj" fmla="val 6000"/>
            </a:avLst>
          </a:prstGeom>
          <a:solidFill>
            <a:srgbClr val="141E33"/>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3200400"/>
            <a:ext cx="3291840" cy="754380"/>
          </a:xfrm>
          <a:prstGeom prst="rect">
            <a:avLst/>
          </a:prstGeom>
          <a:noFill/>
        </p:spPr>
        <p:txBody>
          <a:bodyPr wrap="square" lIns="45720" tIns="18288" rIns="45720" bIns="18288" anchor="ctr">
            <a:spAutoFit/>
          </a:bodyPr>
          <a:lstStyle/>
          <a:p>
            <a:pPr algn="ctr"/>
            <a:r>
              <a:rPr sz="3200" b="1" i="0">
                <a:solidFill>
                  <a:srgbClr val="F87171"/>
                </a:solidFill>
                <a:latin typeface="Calibri"/>
              </a:rPr>
              <a:t>70 °C</a:t>
            </a:r>
          </a:p>
        </p:txBody>
      </p:sp>
      <p:sp>
        <p:nvSpPr>
          <p:cNvPr id="15" name="TextBox 14"/>
          <p:cNvSpPr txBox="1"/>
          <p:nvPr/>
        </p:nvSpPr>
        <p:spPr>
          <a:xfrm>
            <a:off x="8412480" y="3904488"/>
            <a:ext cx="3108960" cy="548640"/>
          </a:xfrm>
          <a:prstGeom prst="rect">
            <a:avLst/>
          </a:prstGeom>
          <a:noFill/>
        </p:spPr>
        <p:txBody>
          <a:bodyPr wrap="square" lIns="45720" tIns="18288" rIns="45720" bIns="18288" anchor="t">
            <a:spAutoFit/>
          </a:bodyPr>
          <a:lstStyle/>
          <a:p>
            <a:pPr algn="ctr"/>
            <a:r>
              <a:rPr sz="1250" b="0" i="0">
                <a:solidFill>
                  <a:srgbClr val="94A3B8"/>
                </a:solidFill>
                <a:latin typeface="Calibri"/>
              </a:rPr>
              <a:t>temperatura máxima alcanzada</a:t>
            </a:r>
          </a:p>
        </p:txBody>
      </p:sp>
      <p:sp>
        <p:nvSpPr>
          <p:cNvPr id="16" name="Rounded Rectangle 15"/>
          <p:cNvSpPr/>
          <p:nvPr/>
        </p:nvSpPr>
        <p:spPr>
          <a:xfrm>
            <a:off x="8321040" y="4663440"/>
            <a:ext cx="3291840" cy="137160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4754880"/>
            <a:ext cx="3291840" cy="754380"/>
          </a:xfrm>
          <a:prstGeom prst="rect">
            <a:avLst/>
          </a:prstGeom>
          <a:noFill/>
        </p:spPr>
        <p:txBody>
          <a:bodyPr wrap="square" lIns="45720" tIns="18288" rIns="45720" bIns="18288" anchor="ctr">
            <a:spAutoFit/>
          </a:bodyPr>
          <a:lstStyle/>
          <a:p>
            <a:pPr algn="ctr"/>
            <a:r>
              <a:rPr sz="3200" b="1" i="0">
                <a:solidFill>
                  <a:srgbClr val="F59E0B"/>
                </a:solidFill>
                <a:latin typeface="Calibri"/>
              </a:rPr>
              <a:t>≈ 3.5 min</a:t>
            </a:r>
          </a:p>
        </p:txBody>
      </p:sp>
      <p:sp>
        <p:nvSpPr>
          <p:cNvPr id="18" name="TextBox 17"/>
          <p:cNvSpPr txBox="1"/>
          <p:nvPr/>
        </p:nvSpPr>
        <p:spPr>
          <a:xfrm>
            <a:off x="8412480" y="5458968"/>
            <a:ext cx="3108960" cy="548640"/>
          </a:xfrm>
          <a:prstGeom prst="rect">
            <a:avLst/>
          </a:prstGeom>
          <a:noFill/>
        </p:spPr>
        <p:txBody>
          <a:bodyPr wrap="square" lIns="45720" tIns="18288" rIns="45720" bIns="18288" anchor="t">
            <a:spAutoFit/>
          </a:bodyPr>
          <a:lstStyle/>
          <a:p>
            <a:pPr algn="ctr"/>
            <a:r>
              <a:rPr sz="1250" b="0" i="0">
                <a:solidFill>
                  <a:srgbClr val="94A3B8"/>
                </a:solidFill>
                <a:latin typeface="Calibri"/>
              </a:rPr>
              <a:t>para llegar a zona de peligro (65 °C)</a:t>
            </a:r>
          </a:p>
        </p:txBody>
      </p:sp>
      <p:sp>
        <p:nvSpPr>
          <p:cNvPr id="19" name="TextBox 18"/>
          <p:cNvSpPr txBox="1"/>
          <p:nvPr/>
        </p:nvSpPr>
        <p:spPr>
          <a:xfrm>
            <a:off x="548640" y="5897880"/>
            <a:ext cx="7498079" cy="457200"/>
          </a:xfrm>
          <a:prstGeom prst="rect">
            <a:avLst/>
          </a:prstGeom>
          <a:noFill/>
        </p:spPr>
        <p:txBody>
          <a:bodyPr wrap="square" lIns="45720" tIns="18288" rIns="45720" bIns="18288" anchor="t">
            <a:spAutoFit/>
          </a:bodyPr>
          <a:lstStyle/>
          <a:p>
            <a:pPr algn="l"/>
            <a:r>
              <a:rPr sz="1450" b="0" i="1">
                <a:solidFill>
                  <a:srgbClr val="94A3B8"/>
                </a:solidFill>
                <a:latin typeface="Calibri"/>
              </a:rPr>
              <a:t>El plástico de las piezas empieza a ablandarse alrededor de los 60 °C.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CÓMO PIENSA EL MOTOR POR DENTRO</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¿Interruptor o acelerador?</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9</a:t>
            </a:r>
          </a:p>
        </p:txBody>
      </p:sp>
      <p:sp>
        <p:nvSpPr>
          <p:cNvPr id="7" name="Rounded Rectangle 6"/>
          <p:cNvSpPr/>
          <p:nvPr/>
        </p:nvSpPr>
        <p:spPr>
          <a:xfrm>
            <a:off x="548640" y="1554480"/>
            <a:ext cx="5440680" cy="914400"/>
          </a:xfrm>
          <a:prstGeom prst="roundRect">
            <a:avLst>
              <a:gd name="adj" fmla="val 6000"/>
            </a:avLst>
          </a:prstGeom>
          <a:solidFill>
            <a:srgbClr val="141E33"/>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72768"/>
            <a:ext cx="5120640" cy="411480"/>
          </a:xfrm>
          <a:prstGeom prst="rect">
            <a:avLst/>
          </a:prstGeom>
          <a:noFill/>
        </p:spPr>
        <p:txBody>
          <a:bodyPr wrap="square" lIns="45720" tIns="18288" rIns="45720" bIns="18288" anchor="t">
            <a:spAutoFit/>
          </a:bodyPr>
          <a:lstStyle/>
          <a:p>
            <a:pPr algn="l"/>
            <a:r>
              <a:rPr sz="2000" b="1" i="0">
                <a:solidFill>
                  <a:srgbClr val="F87171"/>
                </a:solidFill>
                <a:latin typeface="Calibri"/>
              </a:rPr>
              <a:t>Interruptor</a:t>
            </a:r>
          </a:p>
        </p:txBody>
      </p:sp>
      <p:sp>
        <p:nvSpPr>
          <p:cNvPr id="9" name="TextBox 8"/>
          <p:cNvSpPr txBox="1"/>
          <p:nvPr/>
        </p:nvSpPr>
        <p:spPr>
          <a:xfrm>
            <a:off x="731520" y="1984248"/>
            <a:ext cx="5120640" cy="457200"/>
          </a:xfrm>
          <a:prstGeom prst="rect">
            <a:avLst/>
          </a:prstGeom>
          <a:noFill/>
        </p:spPr>
        <p:txBody>
          <a:bodyPr wrap="square" lIns="45720" tIns="18288" rIns="45720" bIns="18288" anchor="t">
            <a:spAutoFit/>
          </a:bodyPr>
          <a:lstStyle/>
          <a:p>
            <a:pPr algn="l"/>
            <a:r>
              <a:rPr sz="1450" b="0" i="0">
                <a:solidFill>
                  <a:srgbClr val="94A3B8"/>
                </a:solidFill>
                <a:latin typeface="Calibri"/>
              </a:rPr>
              <a:t>Todo o nada: a toda potencia o apagado.</a:t>
            </a:r>
          </a:p>
        </p:txBody>
      </p:sp>
      <p:sp>
        <p:nvSpPr>
          <p:cNvPr id="10" name="Rounded Rectangle 9"/>
          <p:cNvSpPr/>
          <p:nvPr/>
        </p:nvSpPr>
        <p:spPr>
          <a:xfrm>
            <a:off x="6172200" y="1554480"/>
            <a:ext cx="5440680" cy="91440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572768"/>
            <a:ext cx="5120640" cy="411480"/>
          </a:xfrm>
          <a:prstGeom prst="rect">
            <a:avLst/>
          </a:prstGeom>
          <a:noFill/>
        </p:spPr>
        <p:txBody>
          <a:bodyPr wrap="square" lIns="45720" tIns="18288" rIns="45720" bIns="18288" anchor="t">
            <a:spAutoFit/>
          </a:bodyPr>
          <a:lstStyle/>
          <a:p>
            <a:pPr algn="l"/>
            <a:r>
              <a:rPr sz="2000" b="1" i="0">
                <a:solidFill>
                  <a:srgbClr val="2DD4BF"/>
                </a:solidFill>
                <a:latin typeface="Calibri"/>
              </a:rPr>
              <a:t>Acelerador</a:t>
            </a:r>
          </a:p>
        </p:txBody>
      </p:sp>
      <p:sp>
        <p:nvSpPr>
          <p:cNvPr id="12" name="TextBox 11"/>
          <p:cNvSpPr txBox="1"/>
          <p:nvPr/>
        </p:nvSpPr>
        <p:spPr>
          <a:xfrm>
            <a:off x="6355080" y="1984248"/>
            <a:ext cx="5120640" cy="457200"/>
          </a:xfrm>
          <a:prstGeom prst="rect">
            <a:avLst/>
          </a:prstGeom>
          <a:noFill/>
        </p:spPr>
        <p:txBody>
          <a:bodyPr wrap="square" lIns="45720" tIns="18288" rIns="45720" bIns="18288" anchor="t">
            <a:spAutoFit/>
          </a:bodyPr>
          <a:lstStyle/>
          <a:p>
            <a:pPr algn="l"/>
            <a:r>
              <a:rPr sz="1450" b="0" i="0">
                <a:solidFill>
                  <a:srgbClr val="94A3B8"/>
                </a:solidFill>
                <a:latin typeface="Calibri"/>
              </a:rPr>
              <a:t>Da más o menos según lo que necesita.</a:t>
            </a:r>
          </a:p>
        </p:txBody>
      </p:sp>
      <p:sp>
        <p:nvSpPr>
          <p:cNvPr id="13" name="Rounded Rectangle 12"/>
          <p:cNvSpPr/>
          <p:nvPr/>
        </p:nvSpPr>
        <p:spPr>
          <a:xfrm>
            <a:off x="548640" y="2697480"/>
            <a:ext cx="11064240" cy="26517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fig_current_characterization.png"/>
          <p:cNvPicPr>
            <a:picLocks noChangeAspect="1"/>
          </p:cNvPicPr>
          <p:nvPr/>
        </p:nvPicPr>
        <p:blipFill>
          <a:blip r:embed="rId3"/>
          <a:stretch>
            <a:fillRect/>
          </a:stretch>
        </p:blipFill>
        <p:spPr>
          <a:xfrm>
            <a:off x="1756289" y="2788920"/>
            <a:ext cx="8648942" cy="2468880"/>
          </a:xfrm>
          <a:prstGeom prst="rect">
            <a:avLst/>
          </a:prstGeom>
        </p:spPr>
      </p:pic>
      <p:sp>
        <p:nvSpPr>
          <p:cNvPr id="15" name="TextBox 14"/>
          <p:cNvSpPr txBox="1"/>
          <p:nvPr/>
        </p:nvSpPr>
        <p:spPr>
          <a:xfrm>
            <a:off x="548640" y="5376672"/>
            <a:ext cx="11064240" cy="274320"/>
          </a:xfrm>
          <a:prstGeom prst="rect">
            <a:avLst/>
          </a:prstGeom>
          <a:noFill/>
        </p:spPr>
        <p:txBody>
          <a:bodyPr wrap="square" lIns="45720" tIns="18288" rIns="45720" bIns="18288" anchor="t">
            <a:spAutoFit/>
          </a:bodyPr>
          <a:lstStyle/>
          <a:p>
            <a:pPr algn="ctr"/>
            <a:r>
              <a:rPr sz="1100" b="0" i="1">
                <a:solidFill>
                  <a:srgbClr val="94A3B8"/>
                </a:solidFill>
                <a:latin typeface="Calibri"/>
              </a:rPr>
              <a:t>Corriente del motor: (a) error pequeño · (b) error grande · (c) atorado</a:t>
            </a:r>
          </a:p>
        </p:txBody>
      </p:sp>
      <p:sp>
        <p:nvSpPr>
          <p:cNvPr id="16" name="Rounded Rectangle 15"/>
          <p:cNvSpPr/>
          <p:nvPr/>
        </p:nvSpPr>
        <p:spPr>
          <a:xfrm>
            <a:off x="548640" y="5669280"/>
            <a:ext cx="11064240" cy="68580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5669280"/>
            <a:ext cx="10515600" cy="685800"/>
          </a:xfrm>
          <a:prstGeom prst="rect">
            <a:avLst/>
          </a:prstGeom>
          <a:noFill/>
        </p:spPr>
        <p:txBody>
          <a:bodyPr wrap="square" lIns="45720" tIns="18288" rIns="45720" bIns="18288" anchor="ctr">
            <a:spAutoFit/>
          </a:bodyPr>
          <a:lstStyle/>
          <a:p>
            <a:pPr algn="l"/>
            <a:r>
              <a:rPr sz="2100" b="1" i="0">
                <a:solidFill>
                  <a:srgbClr val="F1F5F9"/>
                </a:solidFill>
                <a:latin typeface="Calibri"/>
              </a:rPr>
              <a:t>Resultado: es un ACELERADOR. Solo se pone al máximo cuando se atora.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PROTOTIPO REAL</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¡Ya funciona! El prototipo saluda</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10</a:t>
            </a:r>
          </a:p>
        </p:txBody>
      </p:sp>
      <p:sp>
        <p:nvSpPr>
          <p:cNvPr id="7" name="Rounded Rectangle 6"/>
          <p:cNvSpPr/>
          <p:nvPr/>
        </p:nvSpPr>
        <p:spPr>
          <a:xfrm>
            <a:off x="548640" y="1554480"/>
            <a:ext cx="4206240" cy="21945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odulo_fisico.png"/>
          <p:cNvPicPr>
            <a:picLocks noChangeAspect="1"/>
          </p:cNvPicPr>
          <p:nvPr/>
        </p:nvPicPr>
        <p:blipFill>
          <a:blip r:embed="rId3"/>
          <a:stretch>
            <a:fillRect/>
          </a:stretch>
        </p:blipFill>
        <p:spPr>
          <a:xfrm>
            <a:off x="640080" y="1662872"/>
            <a:ext cx="4023360" cy="1977775"/>
          </a:xfrm>
          <a:prstGeom prst="rect">
            <a:avLst/>
          </a:prstGeom>
        </p:spPr>
      </p:pic>
      <p:sp>
        <p:nvSpPr>
          <p:cNvPr id="9" name="TextBox 8"/>
          <p:cNvSpPr txBox="1"/>
          <p:nvPr/>
        </p:nvSpPr>
        <p:spPr>
          <a:xfrm>
            <a:off x="548640" y="3776472"/>
            <a:ext cx="4206240" cy="274320"/>
          </a:xfrm>
          <a:prstGeom prst="rect">
            <a:avLst/>
          </a:prstGeom>
          <a:noFill/>
        </p:spPr>
        <p:txBody>
          <a:bodyPr wrap="square" lIns="45720" tIns="18288" rIns="45720" bIns="18288" anchor="t">
            <a:spAutoFit/>
          </a:bodyPr>
          <a:lstStyle/>
          <a:p>
            <a:pPr algn="ctr"/>
            <a:r>
              <a:rPr sz="1100" b="0" i="1">
                <a:solidFill>
                  <a:srgbClr val="94A3B8"/>
                </a:solidFill>
                <a:latin typeface="Calibri"/>
              </a:rPr>
              <a:t>Nuestro módulo real</a:t>
            </a:r>
          </a:p>
        </p:txBody>
      </p:sp>
      <p:sp>
        <p:nvSpPr>
          <p:cNvPr id="10" name="Rounded Rectangle 9"/>
          <p:cNvSpPr/>
          <p:nvPr/>
        </p:nvSpPr>
        <p:spPr>
          <a:xfrm>
            <a:off x="5029200" y="1554480"/>
            <a:ext cx="2148840" cy="13716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ofia_saludo1.png"/>
          <p:cNvPicPr>
            <a:picLocks noChangeAspect="1"/>
          </p:cNvPicPr>
          <p:nvPr/>
        </p:nvPicPr>
        <p:blipFill>
          <a:blip r:embed="rId4"/>
          <a:stretch>
            <a:fillRect/>
          </a:stretch>
        </p:blipFill>
        <p:spPr>
          <a:xfrm>
            <a:off x="5120640" y="1686800"/>
            <a:ext cx="1965960" cy="1106959"/>
          </a:xfrm>
          <a:prstGeom prst="rect">
            <a:avLst/>
          </a:prstGeom>
        </p:spPr>
      </p:pic>
      <p:sp>
        <p:nvSpPr>
          <p:cNvPr id="12" name="TextBox 11"/>
          <p:cNvSpPr txBox="1"/>
          <p:nvPr/>
        </p:nvSpPr>
        <p:spPr>
          <a:xfrm>
            <a:off x="5029200" y="2953512"/>
            <a:ext cx="2148840" cy="274320"/>
          </a:xfrm>
          <a:prstGeom prst="rect">
            <a:avLst/>
          </a:prstGeom>
          <a:noFill/>
        </p:spPr>
        <p:txBody>
          <a:bodyPr wrap="square" lIns="45720" tIns="18288" rIns="45720" bIns="18288" anchor="t">
            <a:spAutoFit/>
          </a:bodyPr>
          <a:lstStyle/>
          <a:p>
            <a:pPr algn="ctr"/>
            <a:r>
              <a:rPr sz="1100" b="0" i="1">
                <a:solidFill>
                  <a:srgbClr val="94A3B8"/>
                </a:solidFill>
                <a:latin typeface="Calibri"/>
              </a:rPr>
              <a:t>Saludo · Inicio</a:t>
            </a:r>
          </a:p>
        </p:txBody>
      </p:sp>
      <p:sp>
        <p:nvSpPr>
          <p:cNvPr id="13" name="Rounded Rectangle 12"/>
          <p:cNvSpPr/>
          <p:nvPr/>
        </p:nvSpPr>
        <p:spPr>
          <a:xfrm>
            <a:off x="7269480" y="1554480"/>
            <a:ext cx="2148840" cy="13716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ofia_saludo2.png"/>
          <p:cNvPicPr>
            <a:picLocks noChangeAspect="1"/>
          </p:cNvPicPr>
          <p:nvPr/>
        </p:nvPicPr>
        <p:blipFill>
          <a:blip r:embed="rId5"/>
          <a:stretch>
            <a:fillRect/>
          </a:stretch>
        </p:blipFill>
        <p:spPr>
          <a:xfrm>
            <a:off x="7360920" y="1682813"/>
            <a:ext cx="1965960" cy="1114933"/>
          </a:xfrm>
          <a:prstGeom prst="rect">
            <a:avLst/>
          </a:prstGeom>
        </p:spPr>
      </p:pic>
      <p:sp>
        <p:nvSpPr>
          <p:cNvPr id="15" name="TextBox 14"/>
          <p:cNvSpPr txBox="1"/>
          <p:nvPr/>
        </p:nvSpPr>
        <p:spPr>
          <a:xfrm>
            <a:off x="7269480" y="2953512"/>
            <a:ext cx="2148840" cy="274320"/>
          </a:xfrm>
          <a:prstGeom prst="rect">
            <a:avLst/>
          </a:prstGeom>
          <a:noFill/>
        </p:spPr>
        <p:txBody>
          <a:bodyPr wrap="square" lIns="45720" tIns="18288" rIns="45720" bIns="18288" anchor="t">
            <a:spAutoFit/>
          </a:bodyPr>
          <a:lstStyle/>
          <a:p>
            <a:pPr algn="ctr"/>
            <a:r>
              <a:rPr sz="1100" b="0" i="1">
                <a:solidFill>
                  <a:srgbClr val="94A3B8"/>
                </a:solidFill>
                <a:latin typeface="Calibri"/>
              </a:rPr>
              <a:t>Saludo · A la mitad</a:t>
            </a:r>
          </a:p>
        </p:txBody>
      </p:sp>
      <p:sp>
        <p:nvSpPr>
          <p:cNvPr id="16" name="Rounded Rectangle 15"/>
          <p:cNvSpPr/>
          <p:nvPr/>
        </p:nvSpPr>
        <p:spPr>
          <a:xfrm>
            <a:off x="9509760" y="1554480"/>
            <a:ext cx="2148840" cy="13716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ofia_saludo3.png"/>
          <p:cNvPicPr>
            <a:picLocks noChangeAspect="1"/>
          </p:cNvPicPr>
          <p:nvPr/>
        </p:nvPicPr>
        <p:blipFill>
          <a:blip r:embed="rId6"/>
          <a:stretch>
            <a:fillRect/>
          </a:stretch>
        </p:blipFill>
        <p:spPr>
          <a:xfrm>
            <a:off x="9601200" y="1686800"/>
            <a:ext cx="1965960" cy="1106959"/>
          </a:xfrm>
          <a:prstGeom prst="rect">
            <a:avLst/>
          </a:prstGeom>
        </p:spPr>
      </p:pic>
      <p:sp>
        <p:nvSpPr>
          <p:cNvPr id="18" name="TextBox 17"/>
          <p:cNvSpPr txBox="1"/>
          <p:nvPr/>
        </p:nvSpPr>
        <p:spPr>
          <a:xfrm>
            <a:off x="9509760" y="2953512"/>
            <a:ext cx="2148840" cy="274320"/>
          </a:xfrm>
          <a:prstGeom prst="rect">
            <a:avLst/>
          </a:prstGeom>
          <a:noFill/>
        </p:spPr>
        <p:txBody>
          <a:bodyPr wrap="square" lIns="45720" tIns="18288" rIns="45720" bIns="18288" anchor="t">
            <a:spAutoFit/>
          </a:bodyPr>
          <a:lstStyle/>
          <a:p>
            <a:pPr algn="ctr"/>
            <a:r>
              <a:rPr sz="1100" b="0" i="1">
                <a:solidFill>
                  <a:srgbClr val="94A3B8"/>
                </a:solidFill>
                <a:latin typeface="Calibri"/>
              </a:rPr>
              <a:t>Saludo · Final</a:t>
            </a:r>
          </a:p>
        </p:txBody>
      </p:sp>
      <p:sp>
        <p:nvSpPr>
          <p:cNvPr id="19" name="Rounded Rectangle 18"/>
          <p:cNvSpPr/>
          <p:nvPr/>
        </p:nvSpPr>
        <p:spPr>
          <a:xfrm>
            <a:off x="548640" y="4114800"/>
            <a:ext cx="5440680" cy="5943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114800"/>
            <a:ext cx="457200" cy="594360"/>
          </a:xfrm>
          <a:prstGeom prst="rect">
            <a:avLst/>
          </a:prstGeom>
          <a:noFill/>
        </p:spPr>
        <p:txBody>
          <a:bodyPr wrap="square" lIns="45720" tIns="18288" rIns="45720" bIns="18288" anchor="ctr">
            <a:spAutoFit/>
          </a:bodyPr>
          <a:lstStyle/>
          <a:p>
            <a:pPr algn="l"/>
            <a:r>
              <a:rPr sz="2200" b="1" i="0">
                <a:solidFill>
                  <a:srgbClr val="2DD4BF"/>
                </a:solidFill>
                <a:latin typeface="Calibri"/>
              </a:rPr>
              <a:t>✓</a:t>
            </a:r>
          </a:p>
        </p:txBody>
      </p:sp>
      <p:sp>
        <p:nvSpPr>
          <p:cNvPr id="21" name="TextBox 20"/>
          <p:cNvSpPr txBox="1"/>
          <p:nvPr/>
        </p:nvSpPr>
        <p:spPr>
          <a:xfrm>
            <a:off x="1097280" y="4114800"/>
            <a:ext cx="4846320" cy="594360"/>
          </a:xfrm>
          <a:prstGeom prst="rect">
            <a:avLst/>
          </a:prstGeom>
          <a:noFill/>
        </p:spPr>
        <p:txBody>
          <a:bodyPr wrap="square" lIns="45720" tIns="18288" rIns="45720" bIns="18288" anchor="ctr">
            <a:spAutoFit/>
          </a:bodyPr>
          <a:lstStyle/>
          <a:p>
            <a:pPr algn="l"/>
            <a:r>
              <a:rPr sz="1700" b="0" i="0">
                <a:solidFill>
                  <a:srgbClr val="F1F5F9"/>
                </a:solidFill>
                <a:latin typeface="Calibri"/>
              </a:rPr>
              <a:t>Se conecta por Bluetooth</a:t>
            </a:r>
          </a:p>
        </p:txBody>
      </p:sp>
      <p:sp>
        <p:nvSpPr>
          <p:cNvPr id="22" name="Rounded Rectangle 21"/>
          <p:cNvSpPr/>
          <p:nvPr/>
        </p:nvSpPr>
        <p:spPr>
          <a:xfrm>
            <a:off x="548640" y="4800600"/>
            <a:ext cx="5440680" cy="5943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4800600"/>
            <a:ext cx="457200" cy="594360"/>
          </a:xfrm>
          <a:prstGeom prst="rect">
            <a:avLst/>
          </a:prstGeom>
          <a:noFill/>
        </p:spPr>
        <p:txBody>
          <a:bodyPr wrap="square" lIns="45720" tIns="18288" rIns="45720" bIns="18288" anchor="ctr">
            <a:spAutoFit/>
          </a:bodyPr>
          <a:lstStyle/>
          <a:p>
            <a:pPr algn="l"/>
            <a:r>
              <a:rPr sz="2200" b="1" i="0">
                <a:solidFill>
                  <a:srgbClr val="2DD4BF"/>
                </a:solidFill>
                <a:latin typeface="Calibri"/>
              </a:rPr>
              <a:t>✓</a:t>
            </a:r>
          </a:p>
        </p:txBody>
      </p:sp>
      <p:sp>
        <p:nvSpPr>
          <p:cNvPr id="24" name="TextBox 23"/>
          <p:cNvSpPr txBox="1"/>
          <p:nvPr/>
        </p:nvSpPr>
        <p:spPr>
          <a:xfrm>
            <a:off x="1097280" y="4800600"/>
            <a:ext cx="4846320" cy="594360"/>
          </a:xfrm>
          <a:prstGeom prst="rect">
            <a:avLst/>
          </a:prstGeom>
          <a:noFill/>
        </p:spPr>
        <p:txBody>
          <a:bodyPr wrap="square" lIns="45720" tIns="18288" rIns="45720" bIns="18288" anchor="ctr">
            <a:spAutoFit/>
          </a:bodyPr>
          <a:lstStyle/>
          <a:p>
            <a:pPr algn="l"/>
            <a:r>
              <a:rPr sz="1700" b="0" i="0">
                <a:solidFill>
                  <a:srgbClr val="F1F5F9"/>
                </a:solidFill>
                <a:latin typeface="Calibri"/>
              </a:rPr>
              <a:t>Sigue el movimiento de tu mano</a:t>
            </a:r>
          </a:p>
        </p:txBody>
      </p:sp>
      <p:sp>
        <p:nvSpPr>
          <p:cNvPr id="25" name="Rounded Rectangle 24"/>
          <p:cNvSpPr/>
          <p:nvPr/>
        </p:nvSpPr>
        <p:spPr>
          <a:xfrm>
            <a:off x="548640" y="5486400"/>
            <a:ext cx="5440680" cy="5943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5486400"/>
            <a:ext cx="457200" cy="594360"/>
          </a:xfrm>
          <a:prstGeom prst="rect">
            <a:avLst/>
          </a:prstGeom>
          <a:noFill/>
        </p:spPr>
        <p:txBody>
          <a:bodyPr wrap="square" lIns="45720" tIns="18288" rIns="45720" bIns="18288" anchor="ctr">
            <a:spAutoFit/>
          </a:bodyPr>
          <a:lstStyle/>
          <a:p>
            <a:pPr algn="l"/>
            <a:r>
              <a:rPr sz="2200" b="1" i="0">
                <a:solidFill>
                  <a:srgbClr val="2DD4BF"/>
                </a:solidFill>
                <a:latin typeface="Calibri"/>
              </a:rPr>
              <a:t>✓</a:t>
            </a:r>
          </a:p>
        </p:txBody>
      </p:sp>
      <p:sp>
        <p:nvSpPr>
          <p:cNvPr id="27" name="TextBox 26"/>
          <p:cNvSpPr txBox="1"/>
          <p:nvPr/>
        </p:nvSpPr>
        <p:spPr>
          <a:xfrm>
            <a:off x="1097280" y="5634308"/>
            <a:ext cx="4846320" cy="298543"/>
          </a:xfrm>
          <a:prstGeom prst="rect">
            <a:avLst/>
          </a:prstGeom>
          <a:noFill/>
        </p:spPr>
        <p:txBody>
          <a:bodyPr wrap="square" lIns="45720" tIns="18288" rIns="45720" bIns="18288" anchor="ctr">
            <a:spAutoFit/>
          </a:bodyPr>
          <a:lstStyle/>
          <a:p>
            <a:pPr algn="l"/>
            <a:r>
              <a:rPr sz="1700" b="0" i="0" dirty="0" err="1">
                <a:solidFill>
                  <a:srgbClr val="F1F5F9"/>
                </a:solidFill>
                <a:latin typeface="Calibri"/>
              </a:rPr>
              <a:t>Hace</a:t>
            </a:r>
            <a:r>
              <a:rPr sz="1700" b="0" i="0" dirty="0">
                <a:solidFill>
                  <a:srgbClr val="F1F5F9"/>
                </a:solidFill>
                <a:latin typeface="Calibri"/>
              </a:rPr>
              <a:t> el </a:t>
            </a:r>
            <a:r>
              <a:rPr sz="1700" b="0" i="0" dirty="0" err="1">
                <a:solidFill>
                  <a:srgbClr val="F1F5F9"/>
                </a:solidFill>
                <a:latin typeface="Calibri"/>
              </a:rPr>
              <a:t>saludo</a:t>
            </a:r>
            <a:r>
              <a:rPr sz="1700" b="0" i="0" dirty="0">
                <a:solidFill>
                  <a:srgbClr val="F1F5F9"/>
                </a:solidFill>
                <a:latin typeface="Calibri"/>
              </a:rPr>
              <a:t> y el </a:t>
            </a:r>
            <a:r>
              <a:rPr lang="en-US" sz="1700" b="0" i="0" dirty="0" err="1">
                <a:solidFill>
                  <a:srgbClr val="F1F5F9"/>
                </a:solidFill>
                <a:latin typeface="Calibri"/>
              </a:rPr>
              <a:t>seguimiento</a:t>
            </a:r>
            <a:r>
              <a:rPr lang="en-US" sz="1700" b="0" i="0" dirty="0">
                <a:solidFill>
                  <a:srgbClr val="F1F5F9"/>
                </a:solidFill>
                <a:latin typeface="Calibri"/>
              </a:rPr>
              <a:t> de la mano</a:t>
            </a:r>
            <a:endParaRPr sz="1700" b="0" i="0" dirty="0">
              <a:solidFill>
                <a:srgbClr val="F1F5F9"/>
              </a:solidFill>
              <a:latin typeface="Calibri"/>
            </a:endParaRPr>
          </a:p>
        </p:txBody>
      </p:sp>
      <p:sp>
        <p:nvSpPr>
          <p:cNvPr id="28" name="Rounded Rectangle 27"/>
          <p:cNvSpPr/>
          <p:nvPr/>
        </p:nvSpPr>
        <p:spPr>
          <a:xfrm>
            <a:off x="6172200" y="4114800"/>
            <a:ext cx="5440680" cy="5943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63640" y="4114800"/>
            <a:ext cx="457200" cy="594360"/>
          </a:xfrm>
          <a:prstGeom prst="rect">
            <a:avLst/>
          </a:prstGeom>
          <a:noFill/>
        </p:spPr>
        <p:txBody>
          <a:bodyPr wrap="square" lIns="45720" tIns="18288" rIns="45720" bIns="18288" anchor="ctr">
            <a:spAutoFit/>
          </a:bodyPr>
          <a:lstStyle/>
          <a:p>
            <a:pPr algn="l"/>
            <a:r>
              <a:rPr sz="2200" b="1" i="0">
                <a:solidFill>
                  <a:srgbClr val="2DD4BF"/>
                </a:solidFill>
                <a:latin typeface="Calibri"/>
              </a:rPr>
              <a:t>✓</a:t>
            </a:r>
          </a:p>
        </p:txBody>
      </p:sp>
      <p:sp>
        <p:nvSpPr>
          <p:cNvPr id="30" name="TextBox 29"/>
          <p:cNvSpPr txBox="1"/>
          <p:nvPr/>
        </p:nvSpPr>
        <p:spPr>
          <a:xfrm>
            <a:off x="6720840" y="4114800"/>
            <a:ext cx="4846320" cy="594360"/>
          </a:xfrm>
          <a:prstGeom prst="rect">
            <a:avLst/>
          </a:prstGeom>
          <a:noFill/>
        </p:spPr>
        <p:txBody>
          <a:bodyPr wrap="square" lIns="45720" tIns="18288" rIns="45720" bIns="18288" anchor="ctr">
            <a:spAutoFit/>
          </a:bodyPr>
          <a:lstStyle/>
          <a:p>
            <a:pPr algn="l"/>
            <a:r>
              <a:rPr sz="1700" b="0" i="0">
                <a:solidFill>
                  <a:srgbClr val="F1F5F9"/>
                </a:solidFill>
                <a:latin typeface="Calibri"/>
              </a:rPr>
              <a:t>Se detiene y se reanuda sin enredarse</a:t>
            </a:r>
          </a:p>
        </p:txBody>
      </p:sp>
      <p:sp>
        <p:nvSpPr>
          <p:cNvPr id="31" name="Rounded Rectangle 30"/>
          <p:cNvSpPr/>
          <p:nvPr/>
        </p:nvSpPr>
        <p:spPr>
          <a:xfrm>
            <a:off x="6172200" y="4800600"/>
            <a:ext cx="5440680" cy="594360"/>
          </a:xfrm>
          <a:prstGeom prst="roundRect">
            <a:avLst>
              <a:gd name="adj" fmla="val 6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63640" y="4800600"/>
            <a:ext cx="457200" cy="594360"/>
          </a:xfrm>
          <a:prstGeom prst="rect">
            <a:avLst/>
          </a:prstGeom>
          <a:noFill/>
        </p:spPr>
        <p:txBody>
          <a:bodyPr wrap="square" lIns="45720" tIns="18288" rIns="45720" bIns="18288" anchor="ctr">
            <a:spAutoFit/>
          </a:bodyPr>
          <a:lstStyle/>
          <a:p>
            <a:pPr algn="l"/>
            <a:r>
              <a:rPr sz="2200" b="1" i="0">
                <a:solidFill>
                  <a:srgbClr val="2DD4BF"/>
                </a:solidFill>
                <a:latin typeface="Calibri"/>
              </a:rPr>
              <a:t>✓</a:t>
            </a:r>
          </a:p>
        </p:txBody>
      </p:sp>
      <p:sp>
        <p:nvSpPr>
          <p:cNvPr id="33" name="TextBox 32"/>
          <p:cNvSpPr txBox="1"/>
          <p:nvPr/>
        </p:nvSpPr>
        <p:spPr>
          <a:xfrm>
            <a:off x="6720840" y="4800600"/>
            <a:ext cx="4846320" cy="594360"/>
          </a:xfrm>
          <a:prstGeom prst="rect">
            <a:avLst/>
          </a:prstGeom>
          <a:noFill/>
        </p:spPr>
        <p:txBody>
          <a:bodyPr wrap="square" lIns="45720" tIns="18288" rIns="45720" bIns="18288" anchor="ctr">
            <a:spAutoFit/>
          </a:bodyPr>
          <a:lstStyle/>
          <a:p>
            <a:pPr algn="l"/>
            <a:r>
              <a:rPr sz="1700" b="0" i="0">
                <a:solidFill>
                  <a:srgbClr val="F1F5F9"/>
                </a:solidFill>
                <a:latin typeface="Calibri"/>
              </a:rPr>
              <a:t>Se apaga y desconecta bien</a:t>
            </a:r>
          </a:p>
        </p:txBody>
      </p:sp>
      <p:sp>
        <p:nvSpPr>
          <p:cNvPr id="34" name="TextBox 33"/>
          <p:cNvSpPr txBox="1"/>
          <p:nvPr/>
        </p:nvSpPr>
        <p:spPr>
          <a:xfrm>
            <a:off x="5029200" y="3429000"/>
            <a:ext cx="6583680" cy="548640"/>
          </a:xfrm>
          <a:prstGeom prst="rect">
            <a:avLst/>
          </a:prstGeom>
          <a:noFill/>
        </p:spPr>
        <p:txBody>
          <a:bodyPr wrap="square" lIns="45720" tIns="18288" rIns="45720" bIns="18288" anchor="t">
            <a:spAutoFit/>
          </a:bodyPr>
          <a:lstStyle/>
          <a:p>
            <a:pPr algn="l"/>
            <a:r>
              <a:rPr sz="1450" b="0" i="1">
                <a:solidFill>
                  <a:srgbClr val="F59E0B"/>
                </a:solidFill>
                <a:latin typeface="Calibri"/>
              </a:rPr>
              <a:t>Falta medir qué tan preciso y rápido 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PROTECCIÓN Y FUTURO</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Un guardián y lo que sigue</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11</a:t>
            </a:r>
          </a:p>
        </p:txBody>
      </p:sp>
      <p:sp>
        <p:nvSpPr>
          <p:cNvPr id="7" name="Rounded Rectangle 6"/>
          <p:cNvSpPr/>
          <p:nvPr/>
        </p:nvSpPr>
        <p:spPr>
          <a:xfrm>
            <a:off x="548640" y="1600200"/>
            <a:ext cx="5440680" cy="4572000"/>
          </a:xfrm>
          <a:prstGeom prst="roundRect">
            <a:avLst>
              <a:gd name="adj" fmla="val 6000"/>
            </a:avLst>
          </a:prstGeom>
          <a:solidFill>
            <a:srgbClr val="141E33"/>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37360"/>
            <a:ext cx="4937760" cy="457200"/>
          </a:xfrm>
          <a:prstGeom prst="rect">
            <a:avLst/>
          </a:prstGeom>
          <a:noFill/>
        </p:spPr>
        <p:txBody>
          <a:bodyPr wrap="square" lIns="45720" tIns="18288" rIns="45720" bIns="18288" anchor="t">
            <a:spAutoFit/>
          </a:bodyPr>
          <a:lstStyle/>
          <a:p>
            <a:pPr algn="l"/>
            <a:r>
              <a:rPr sz="2400" b="1" i="0">
                <a:solidFill>
                  <a:srgbClr val="F87171"/>
                </a:solidFill>
                <a:latin typeface="Calibri"/>
              </a:rPr>
              <a:t>El guardián del motor</a:t>
            </a:r>
          </a:p>
        </p:txBody>
      </p:sp>
      <p:sp>
        <p:nvSpPr>
          <p:cNvPr id="9" name="TextBox 8"/>
          <p:cNvSpPr txBox="1"/>
          <p:nvPr/>
        </p:nvSpPr>
        <p:spPr>
          <a:xfrm>
            <a:off x="822960" y="2377440"/>
            <a:ext cx="4937760" cy="3657600"/>
          </a:xfrm>
          <a:prstGeom prst="rect">
            <a:avLst/>
          </a:prstGeom>
          <a:noFill/>
        </p:spPr>
        <p:txBody>
          <a:bodyPr wrap="square">
            <a:spAutoFit/>
          </a:bodyPr>
          <a:lstStyle/>
          <a:p>
            <a:pPr>
              <a:spcAft>
                <a:spcPts val="1400"/>
              </a:spcAft>
            </a:pPr>
            <a:r>
              <a:rPr sz="1800">
                <a:solidFill>
                  <a:srgbClr val="F87171"/>
                </a:solidFill>
                <a:latin typeface="Calibri"/>
              </a:rPr>
              <a:t>▸ </a:t>
            </a:r>
            <a:r>
              <a:rPr sz="1800">
                <a:solidFill>
                  <a:srgbClr val="F1F5F9"/>
                </a:solidFill>
                <a:latin typeface="Calibri"/>
              </a:rPr>
              <a:t>Vigila cuánto tiempo lleva atorado cada motor.</a:t>
            </a:r>
          </a:p>
          <a:p>
            <a:pPr>
              <a:spcAft>
                <a:spcPts val="1400"/>
              </a:spcAft>
            </a:pPr>
            <a:r>
              <a:rPr sz="1800">
                <a:solidFill>
                  <a:srgbClr val="F87171"/>
                </a:solidFill>
                <a:latin typeface="Calibri"/>
              </a:rPr>
              <a:t>▸ </a:t>
            </a:r>
            <a:r>
              <a:rPr sz="1800">
                <a:solidFill>
                  <a:srgbClr val="F1F5F9"/>
                </a:solidFill>
                <a:latin typeface="Calibri"/>
              </a:rPr>
              <a:t>Si pasan 15 segundos, apaga solo ese motor.</a:t>
            </a:r>
          </a:p>
          <a:p>
            <a:pPr>
              <a:spcAft>
                <a:spcPts val="1400"/>
              </a:spcAft>
            </a:pPr>
            <a:r>
              <a:rPr sz="1800">
                <a:solidFill>
                  <a:srgbClr val="F87171"/>
                </a:solidFill>
                <a:latin typeface="Calibri"/>
              </a:rPr>
              <a:t>▸ </a:t>
            </a:r>
            <a:r>
              <a:rPr sz="1800">
                <a:solidFill>
                  <a:srgbClr val="F1F5F9"/>
                </a:solidFill>
                <a:latin typeface="Calibri"/>
              </a:rPr>
              <a:t>El motor queda libre y se enfría.</a:t>
            </a:r>
          </a:p>
          <a:p>
            <a:pPr>
              <a:spcAft>
                <a:spcPts val="1400"/>
              </a:spcAft>
            </a:pPr>
            <a:r>
              <a:rPr sz="1800">
                <a:solidFill>
                  <a:srgbClr val="F87171"/>
                </a:solidFill>
                <a:latin typeface="Calibri"/>
              </a:rPr>
              <a:t>▸ </a:t>
            </a:r>
            <a:r>
              <a:rPr sz="1800">
                <a:solidFill>
                  <a:srgbClr val="F1F5F9"/>
                </a:solidFill>
                <a:latin typeface="Calibri"/>
              </a:rPr>
              <a:t>Nunca llega a la zona de peligro.</a:t>
            </a:r>
          </a:p>
        </p:txBody>
      </p:sp>
      <p:sp>
        <p:nvSpPr>
          <p:cNvPr id="10" name="Rounded Rectangle 9"/>
          <p:cNvSpPr/>
          <p:nvPr/>
        </p:nvSpPr>
        <p:spPr>
          <a:xfrm>
            <a:off x="6172200" y="1600200"/>
            <a:ext cx="5440680" cy="457200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737360"/>
            <a:ext cx="4937760" cy="457200"/>
          </a:xfrm>
          <a:prstGeom prst="rect">
            <a:avLst/>
          </a:prstGeom>
          <a:noFill/>
        </p:spPr>
        <p:txBody>
          <a:bodyPr wrap="square" lIns="45720" tIns="18288" rIns="45720" bIns="18288" anchor="t">
            <a:spAutoFit/>
          </a:bodyPr>
          <a:lstStyle/>
          <a:p>
            <a:pPr algn="l"/>
            <a:r>
              <a:rPr sz="2400" b="1" i="0">
                <a:solidFill>
                  <a:srgbClr val="2DD4BF"/>
                </a:solidFill>
                <a:latin typeface="Calibri"/>
              </a:rPr>
              <a:t>Lo que sigue</a:t>
            </a:r>
          </a:p>
        </p:txBody>
      </p:sp>
      <p:sp>
        <p:nvSpPr>
          <p:cNvPr id="12" name="TextBox 11"/>
          <p:cNvSpPr txBox="1"/>
          <p:nvPr/>
        </p:nvSpPr>
        <p:spPr>
          <a:xfrm>
            <a:off x="6446520" y="2377440"/>
            <a:ext cx="4937760" cy="3657600"/>
          </a:xfrm>
          <a:prstGeom prst="rect">
            <a:avLst/>
          </a:prstGeom>
          <a:noFill/>
        </p:spPr>
        <p:txBody>
          <a:bodyPr wrap="square">
            <a:spAutoFit/>
          </a:bodyPr>
          <a:lstStyle/>
          <a:p>
            <a:pPr>
              <a:spcAft>
                <a:spcPts val="1400"/>
              </a:spcAft>
            </a:pPr>
            <a:r>
              <a:rPr sz="1800">
                <a:solidFill>
                  <a:srgbClr val="2DD4BF"/>
                </a:solidFill>
                <a:latin typeface="Calibri"/>
              </a:rPr>
              <a:t>▸ </a:t>
            </a:r>
            <a:r>
              <a:rPr sz="1800">
                <a:solidFill>
                  <a:srgbClr val="F1F5F9"/>
                </a:solidFill>
                <a:latin typeface="Calibri"/>
              </a:rPr>
              <a:t>Medir qué tan rápido y preciso sigue tu mano.</a:t>
            </a:r>
          </a:p>
          <a:p>
            <a:pPr>
              <a:spcAft>
                <a:spcPts val="1400"/>
              </a:spcAft>
            </a:pPr>
            <a:r>
              <a:rPr sz="1800">
                <a:solidFill>
                  <a:srgbClr val="2DD4BF"/>
                </a:solidFill>
                <a:latin typeface="Calibri"/>
              </a:rPr>
              <a:t>▸ </a:t>
            </a:r>
            <a:r>
              <a:rPr sz="1800">
                <a:solidFill>
                  <a:srgbClr val="F1F5F9"/>
                </a:solidFill>
                <a:latin typeface="Calibri"/>
              </a:rPr>
              <a:t>Probar nuestra tarjeta de circuitos.</a:t>
            </a:r>
          </a:p>
          <a:p>
            <a:pPr>
              <a:spcAft>
                <a:spcPts val="1400"/>
              </a:spcAft>
            </a:pPr>
            <a:r>
              <a:rPr sz="1800">
                <a:solidFill>
                  <a:srgbClr val="2DD4BF"/>
                </a:solidFill>
                <a:latin typeface="Calibri"/>
              </a:rPr>
              <a:t>▸ </a:t>
            </a:r>
            <a:r>
              <a:rPr sz="1800">
                <a:solidFill>
                  <a:srgbClr val="F1F5F9"/>
                </a:solidFill>
                <a:latin typeface="Calibri"/>
              </a:rPr>
              <a:t>Construir las 16 piezas completas.</a:t>
            </a:r>
          </a:p>
          <a:p>
            <a:pPr>
              <a:spcAft>
                <a:spcPts val="1400"/>
              </a:spcAft>
            </a:pPr>
            <a:r>
              <a:rPr sz="1800">
                <a:solidFill>
                  <a:srgbClr val="2DD4BF"/>
                </a:solidFill>
                <a:latin typeface="Calibri"/>
              </a:rPr>
              <a:t>▸ </a:t>
            </a:r>
            <a:r>
              <a:rPr sz="1800">
                <a:solidFill>
                  <a:srgbClr val="F1F5F9"/>
                </a:solidFill>
                <a:latin typeface="Calibri"/>
              </a:rPr>
              <a:t>Que el movimiento sea aún más suave.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8229600" cy="320040"/>
          </a:xfrm>
          <a:prstGeom prst="rect">
            <a:avLst/>
          </a:prstGeom>
          <a:noFill/>
        </p:spPr>
        <p:txBody>
          <a:bodyPr wrap="square" lIns="45720" tIns="18288" rIns="45720" bIns="18288" anchor="t">
            <a:spAutoFit/>
          </a:bodyPr>
          <a:lstStyle/>
          <a:p>
            <a:pPr algn="l"/>
            <a:r>
              <a:rPr sz="1300" b="1" i="0">
                <a:solidFill>
                  <a:srgbClr val="2DD4BF"/>
                </a:solidFill>
                <a:latin typeface="Calibri"/>
              </a:rPr>
              <a:t>RESUMEN</a:t>
            </a:r>
          </a:p>
        </p:txBody>
      </p:sp>
      <p:sp>
        <p:nvSpPr>
          <p:cNvPr id="4" name="TextBox 3"/>
          <p:cNvSpPr txBox="1"/>
          <p:nvPr/>
        </p:nvSpPr>
        <p:spPr>
          <a:xfrm>
            <a:off x="548640" y="594360"/>
            <a:ext cx="10972800" cy="822960"/>
          </a:xfrm>
          <a:prstGeom prst="rect">
            <a:avLst/>
          </a:prstGeom>
          <a:noFill/>
        </p:spPr>
        <p:txBody>
          <a:bodyPr wrap="square" lIns="45720" tIns="18288" rIns="45720" bIns="18288" anchor="t">
            <a:spAutoFit/>
          </a:bodyPr>
          <a:lstStyle/>
          <a:p>
            <a:pPr algn="l"/>
            <a:r>
              <a:rPr sz="3400" b="1" i="0">
                <a:solidFill>
                  <a:srgbClr val="F1F5F9"/>
                </a:solidFill>
                <a:latin typeface="Calibri"/>
              </a:rPr>
              <a:t>3 ideas para llevarte</a:t>
            </a:r>
          </a:p>
        </p:txBody>
      </p:sp>
      <p:sp>
        <p:nvSpPr>
          <p:cNvPr id="5" name="TextBox 4"/>
          <p:cNvSpPr txBox="1"/>
          <p:nvPr/>
        </p:nvSpPr>
        <p:spPr>
          <a:xfrm>
            <a:off x="548640" y="6446520"/>
            <a:ext cx="7315200" cy="274320"/>
          </a:xfrm>
          <a:prstGeom prst="rect">
            <a:avLst/>
          </a:prstGeom>
          <a:noFill/>
        </p:spPr>
        <p:txBody>
          <a:bodyPr wrap="square" lIns="45720" tIns="18288" rIns="45720" bIns="18288" anchor="t">
            <a:spAutoFit/>
          </a:bodyPr>
          <a:lstStyle/>
          <a:p>
            <a:pPr algn="l"/>
            <a:r>
              <a:rPr sz="1100" b="0" i="0">
                <a:solidFill>
                  <a:srgbClr val="94A3B8"/>
                </a:solidFill>
                <a:latin typeface="Calibri"/>
              </a:rPr>
              <a:t>SOFIA · LabDST · ITESO · Otoño 2026</a:t>
            </a:r>
          </a:p>
        </p:txBody>
      </p:sp>
      <p:sp>
        <p:nvSpPr>
          <p:cNvPr id="6" name="TextBox 5"/>
          <p:cNvSpPr txBox="1"/>
          <p:nvPr/>
        </p:nvSpPr>
        <p:spPr>
          <a:xfrm>
            <a:off x="11155680" y="6446520"/>
            <a:ext cx="822960" cy="274320"/>
          </a:xfrm>
          <a:prstGeom prst="rect">
            <a:avLst/>
          </a:prstGeom>
          <a:noFill/>
        </p:spPr>
        <p:txBody>
          <a:bodyPr wrap="square" lIns="45720" tIns="18288" rIns="45720" bIns="18288" anchor="t">
            <a:spAutoFit/>
          </a:bodyPr>
          <a:lstStyle/>
          <a:p>
            <a:pPr algn="r"/>
            <a:r>
              <a:rPr sz="1100" b="0" i="0">
                <a:solidFill>
                  <a:srgbClr val="94A3B8"/>
                </a:solidFill>
                <a:latin typeface="Calibri"/>
              </a:rPr>
              <a:t>12</a:t>
            </a:r>
          </a:p>
        </p:txBody>
      </p:sp>
      <p:sp>
        <p:nvSpPr>
          <p:cNvPr id="7" name="Rounded Rectangle 6"/>
          <p:cNvSpPr/>
          <p:nvPr/>
        </p:nvSpPr>
        <p:spPr>
          <a:xfrm>
            <a:off x="548640" y="1600200"/>
            <a:ext cx="11064240" cy="137160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60" y="1874520"/>
            <a:ext cx="822960" cy="82296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0B1220"/>
                </a:solidFill>
                <a:latin typeface="Calibri"/>
              </a:rPr>
              <a:t>1</a:t>
            </a:r>
          </a:p>
        </p:txBody>
      </p:sp>
      <p:sp>
        <p:nvSpPr>
          <p:cNvPr id="9" name="TextBox 8"/>
          <p:cNvSpPr txBox="1"/>
          <p:nvPr/>
        </p:nvSpPr>
        <p:spPr>
          <a:xfrm>
            <a:off x="1920240" y="1709928"/>
            <a:ext cx="9509760" cy="502920"/>
          </a:xfrm>
          <a:prstGeom prst="rect">
            <a:avLst/>
          </a:prstGeom>
          <a:noFill/>
        </p:spPr>
        <p:txBody>
          <a:bodyPr wrap="square" lIns="45720" tIns="18288" rIns="45720" bIns="18288" anchor="t">
            <a:spAutoFit/>
          </a:bodyPr>
          <a:lstStyle/>
          <a:p>
            <a:pPr algn="l"/>
            <a:r>
              <a:rPr sz="2400" b="1" i="0">
                <a:solidFill>
                  <a:srgbClr val="2DD4BF"/>
                </a:solidFill>
                <a:latin typeface="Calibri"/>
              </a:rPr>
              <a:t>Una pared que responde</a:t>
            </a:r>
          </a:p>
        </p:txBody>
      </p:sp>
      <p:sp>
        <p:nvSpPr>
          <p:cNvPr id="10" name="TextBox 9"/>
          <p:cNvSpPr txBox="1"/>
          <p:nvPr/>
        </p:nvSpPr>
        <p:spPr>
          <a:xfrm>
            <a:off x="1920240" y="2286000"/>
            <a:ext cx="9509760" cy="640080"/>
          </a:xfrm>
          <a:prstGeom prst="rect">
            <a:avLst/>
          </a:prstGeom>
          <a:noFill/>
        </p:spPr>
        <p:txBody>
          <a:bodyPr wrap="square" lIns="45720" tIns="18288" rIns="45720" bIns="18288" anchor="t">
            <a:spAutoFit/>
          </a:bodyPr>
          <a:lstStyle/>
          <a:p>
            <a:pPr algn="l"/>
            <a:r>
              <a:rPr sz="1750" b="0" i="0">
                <a:solidFill>
                  <a:srgbClr val="F1F5F9"/>
                </a:solidFill>
                <a:latin typeface="Calibri"/>
              </a:rPr>
              <a:t>SOFIA ve tu mano con una cámara y mueve sus 16 piezas.</a:t>
            </a:r>
          </a:p>
        </p:txBody>
      </p:sp>
      <p:sp>
        <p:nvSpPr>
          <p:cNvPr id="11" name="Rounded Rectangle 10"/>
          <p:cNvSpPr/>
          <p:nvPr/>
        </p:nvSpPr>
        <p:spPr>
          <a:xfrm>
            <a:off x="548640" y="3154680"/>
            <a:ext cx="11064240" cy="1371600"/>
          </a:xfrm>
          <a:prstGeom prst="roundRect">
            <a:avLst>
              <a:gd name="adj" fmla="val 6000"/>
            </a:avLst>
          </a:prstGeom>
          <a:solidFill>
            <a:srgbClr val="141E33"/>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2960" y="3429000"/>
            <a:ext cx="822960" cy="8229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0B1220"/>
                </a:solidFill>
                <a:latin typeface="Calibri"/>
              </a:rPr>
              <a:t>2</a:t>
            </a:r>
          </a:p>
        </p:txBody>
      </p:sp>
      <p:sp>
        <p:nvSpPr>
          <p:cNvPr id="13" name="TextBox 12"/>
          <p:cNvSpPr txBox="1"/>
          <p:nvPr/>
        </p:nvSpPr>
        <p:spPr>
          <a:xfrm>
            <a:off x="1920240" y="3264408"/>
            <a:ext cx="9509760" cy="502920"/>
          </a:xfrm>
          <a:prstGeom prst="rect">
            <a:avLst/>
          </a:prstGeom>
          <a:noFill/>
        </p:spPr>
        <p:txBody>
          <a:bodyPr wrap="square" lIns="45720" tIns="18288" rIns="45720" bIns="18288" anchor="t">
            <a:spAutoFit/>
          </a:bodyPr>
          <a:lstStyle/>
          <a:p>
            <a:pPr algn="l"/>
            <a:r>
              <a:rPr sz="2400" b="1" i="0">
                <a:solidFill>
                  <a:srgbClr val="F59E0B"/>
                </a:solidFill>
                <a:latin typeface="Calibri"/>
              </a:rPr>
              <a:t>Un motor atorado se calienta rápido</a:t>
            </a:r>
          </a:p>
        </p:txBody>
      </p:sp>
      <p:sp>
        <p:nvSpPr>
          <p:cNvPr id="14" name="TextBox 13"/>
          <p:cNvSpPr txBox="1"/>
          <p:nvPr/>
        </p:nvSpPr>
        <p:spPr>
          <a:xfrm>
            <a:off x="1920240" y="3840480"/>
            <a:ext cx="9509760" cy="640080"/>
          </a:xfrm>
          <a:prstGeom prst="rect">
            <a:avLst/>
          </a:prstGeom>
          <a:noFill/>
        </p:spPr>
        <p:txBody>
          <a:bodyPr wrap="square" lIns="45720" tIns="18288" rIns="45720" bIns="18288" anchor="t">
            <a:spAutoFit/>
          </a:bodyPr>
          <a:lstStyle/>
          <a:p>
            <a:pPr algn="l"/>
            <a:r>
              <a:rPr sz="1750" b="0" i="0">
                <a:solidFill>
                  <a:srgbClr val="F1F5F9"/>
                </a:solidFill>
                <a:latin typeface="Calibri"/>
              </a:rPr>
              <a:t>Subió 0.2 °C por segundo. Por eso lo protegemos con un guardián.</a:t>
            </a:r>
          </a:p>
        </p:txBody>
      </p:sp>
      <p:sp>
        <p:nvSpPr>
          <p:cNvPr id="15" name="Rounded Rectangle 14"/>
          <p:cNvSpPr/>
          <p:nvPr/>
        </p:nvSpPr>
        <p:spPr>
          <a:xfrm>
            <a:off x="548640" y="4709160"/>
            <a:ext cx="11064240" cy="1371600"/>
          </a:xfrm>
          <a:prstGeom prst="roundRect">
            <a:avLst>
              <a:gd name="adj" fmla="val 6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60" y="4983480"/>
            <a:ext cx="822960" cy="82296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0B1220"/>
                </a:solidFill>
                <a:latin typeface="Calibri"/>
              </a:rPr>
              <a:t>3</a:t>
            </a:r>
          </a:p>
        </p:txBody>
      </p:sp>
      <p:sp>
        <p:nvSpPr>
          <p:cNvPr id="17" name="TextBox 16"/>
          <p:cNvSpPr txBox="1"/>
          <p:nvPr/>
        </p:nvSpPr>
        <p:spPr>
          <a:xfrm>
            <a:off x="1920240" y="4818888"/>
            <a:ext cx="9509760" cy="502920"/>
          </a:xfrm>
          <a:prstGeom prst="rect">
            <a:avLst/>
          </a:prstGeom>
          <a:noFill/>
        </p:spPr>
        <p:txBody>
          <a:bodyPr wrap="square" lIns="45720" tIns="18288" rIns="45720" bIns="18288" anchor="t">
            <a:spAutoFit/>
          </a:bodyPr>
          <a:lstStyle/>
          <a:p>
            <a:pPr algn="l"/>
            <a:r>
              <a:rPr sz="2400" b="1" i="0">
                <a:solidFill>
                  <a:srgbClr val="2DD4BF"/>
                </a:solidFill>
                <a:latin typeface="Calibri"/>
              </a:rPr>
              <a:t>El motor es como un acelerador</a:t>
            </a:r>
          </a:p>
        </p:txBody>
      </p:sp>
      <p:sp>
        <p:nvSpPr>
          <p:cNvPr id="18" name="TextBox 17"/>
          <p:cNvSpPr txBox="1"/>
          <p:nvPr/>
        </p:nvSpPr>
        <p:spPr>
          <a:xfrm>
            <a:off x="1920240" y="5394960"/>
            <a:ext cx="9509760" cy="640080"/>
          </a:xfrm>
          <a:prstGeom prst="rect">
            <a:avLst/>
          </a:prstGeom>
          <a:noFill/>
        </p:spPr>
        <p:txBody>
          <a:bodyPr wrap="square" lIns="45720" tIns="18288" rIns="45720" bIns="18288" anchor="t">
            <a:spAutoFit/>
          </a:bodyPr>
          <a:lstStyle/>
          <a:p>
            <a:pPr algn="l"/>
            <a:r>
              <a:rPr sz="1750" b="0" i="0">
                <a:solidFill>
                  <a:srgbClr val="F1F5F9"/>
                </a:solidFill>
                <a:latin typeface="Calibri"/>
              </a:rPr>
              <a:t>Solo se pone al máximo cuando se atora.</a:t>
            </a:r>
          </a:p>
        </p:txBody>
      </p:sp>
      <p:sp>
        <p:nvSpPr>
          <p:cNvPr id="19" name="TextBox 18"/>
          <p:cNvSpPr txBox="1"/>
          <p:nvPr/>
        </p:nvSpPr>
        <p:spPr>
          <a:xfrm>
            <a:off x="548640" y="6263640"/>
            <a:ext cx="11064240" cy="365760"/>
          </a:xfrm>
          <a:prstGeom prst="rect">
            <a:avLst/>
          </a:prstGeom>
          <a:noFill/>
        </p:spPr>
        <p:txBody>
          <a:bodyPr wrap="square" lIns="45720" tIns="18288" rIns="45720" bIns="18288" anchor="t">
            <a:spAutoFit/>
          </a:bodyPr>
          <a:lstStyle/>
          <a:p>
            <a:pPr algn="ctr"/>
            <a:r>
              <a:rPr sz="1600" b="1" i="0">
                <a:solidFill>
                  <a:srgbClr val="F59E0B"/>
                </a:solidFill>
                <a:latin typeface="Calibri"/>
              </a:rPr>
              <a:t>Y ya tenemos un prototipo físico que saluda.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589520" y="1280160"/>
            <a:ext cx="4114800" cy="23774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ofia_saludo2.png"/>
          <p:cNvPicPr>
            <a:picLocks noChangeAspect="1"/>
          </p:cNvPicPr>
          <p:nvPr/>
        </p:nvPicPr>
        <p:blipFill>
          <a:blip r:embed="rId3"/>
          <a:stretch>
            <a:fillRect/>
          </a:stretch>
        </p:blipFill>
        <p:spPr>
          <a:xfrm>
            <a:off x="7712089" y="1371600"/>
            <a:ext cx="3869662" cy="2194560"/>
          </a:xfrm>
          <a:prstGeom prst="rect">
            <a:avLst/>
          </a:prstGeom>
        </p:spPr>
      </p:pic>
      <p:sp>
        <p:nvSpPr>
          <p:cNvPr id="5" name="Rounded Rectangle 4"/>
          <p:cNvSpPr/>
          <p:nvPr/>
        </p:nvSpPr>
        <p:spPr>
          <a:xfrm>
            <a:off x="7589520" y="3840480"/>
            <a:ext cx="4114800" cy="21945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sim_3.png"/>
          <p:cNvPicPr>
            <a:picLocks noChangeAspect="1"/>
          </p:cNvPicPr>
          <p:nvPr/>
        </p:nvPicPr>
        <p:blipFill>
          <a:blip r:embed="rId4"/>
          <a:stretch>
            <a:fillRect/>
          </a:stretch>
        </p:blipFill>
        <p:spPr>
          <a:xfrm>
            <a:off x="7738831" y="3931920"/>
            <a:ext cx="3816177" cy="2011680"/>
          </a:xfrm>
          <a:prstGeom prst="rect">
            <a:avLst/>
          </a:prstGeom>
        </p:spPr>
      </p:pic>
      <p:sp>
        <p:nvSpPr>
          <p:cNvPr id="7" name="TextBox 6"/>
          <p:cNvSpPr txBox="1"/>
          <p:nvPr/>
        </p:nvSpPr>
        <p:spPr>
          <a:xfrm>
            <a:off x="731520" y="1371600"/>
            <a:ext cx="6400800" cy="1280160"/>
          </a:xfrm>
          <a:prstGeom prst="rect">
            <a:avLst/>
          </a:prstGeom>
          <a:noFill/>
        </p:spPr>
        <p:txBody>
          <a:bodyPr wrap="square" lIns="45720" tIns="18288" rIns="45720" bIns="18288" anchor="t">
            <a:spAutoFit/>
          </a:bodyPr>
          <a:lstStyle/>
          <a:p>
            <a:pPr algn="l"/>
            <a:r>
              <a:rPr sz="7600" b="1" i="0">
                <a:solidFill>
                  <a:srgbClr val="F1F5F9"/>
                </a:solidFill>
                <a:latin typeface="Calibri"/>
              </a:rPr>
              <a:t>¡Gracias!</a:t>
            </a:r>
          </a:p>
        </p:txBody>
      </p:sp>
      <p:sp>
        <p:nvSpPr>
          <p:cNvPr id="8" name="TextBox 7"/>
          <p:cNvSpPr txBox="1"/>
          <p:nvPr/>
        </p:nvSpPr>
        <p:spPr>
          <a:xfrm>
            <a:off x="731520" y="2743200"/>
            <a:ext cx="6583680" cy="1280160"/>
          </a:xfrm>
          <a:prstGeom prst="rect">
            <a:avLst/>
          </a:prstGeom>
          <a:noFill/>
        </p:spPr>
        <p:txBody>
          <a:bodyPr wrap="square" lIns="45720" tIns="18288" rIns="45720" bIns="18288" anchor="t">
            <a:spAutoFit/>
          </a:bodyPr>
          <a:lstStyle/>
          <a:p>
            <a:pPr algn="l"/>
            <a:r>
              <a:rPr sz="3400" b="1" i="0">
                <a:solidFill>
                  <a:srgbClr val="2DD4BF"/>
                </a:solidFill>
                <a:latin typeface="Calibri"/>
              </a:rPr>
              <a:t>¿Qué gesto le enseñarías a SOFIA?</a:t>
            </a:r>
          </a:p>
        </p:txBody>
      </p:sp>
      <p:sp>
        <p:nvSpPr>
          <p:cNvPr id="9" name="Rectangle 8"/>
          <p:cNvSpPr/>
          <p:nvPr/>
        </p:nvSpPr>
        <p:spPr>
          <a:xfrm>
            <a:off x="777240" y="4297680"/>
            <a:ext cx="109728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4526280"/>
            <a:ext cx="6400800" cy="1463040"/>
          </a:xfrm>
          <a:prstGeom prst="rect">
            <a:avLst/>
          </a:prstGeom>
          <a:noFill/>
        </p:spPr>
        <p:txBody>
          <a:bodyPr wrap="square" lIns="45720" tIns="18288" rIns="45720" bIns="18288" anchor="t">
            <a:spAutoFit/>
          </a:bodyPr>
          <a:lstStyle/>
          <a:p>
            <a:pPr algn="l"/>
            <a:r>
              <a:rPr sz="1700" b="0" i="0">
                <a:solidFill>
                  <a:srgbClr val="94A3B8"/>
                </a:solidFill>
                <a:latin typeface="Calibri"/>
              </a:rPr>
              <a:t>SOFIA · Equipo 1 · LabDST · ITESO</a:t>
            </a:r>
          </a:p>
          <a:p>
            <a:pPr algn="l"/>
            <a:r>
              <a:rPr sz="1700" b="0" i="0">
                <a:solidFill>
                  <a:srgbClr val="94A3B8"/>
                </a:solidFill>
                <a:latin typeface="Calibri"/>
              </a:rPr>
              <a:t>github.com/PaolaCV14/IOT-SOFIA-2026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1754</Words>
  <Application>Microsoft Macintosh PowerPoint</Application>
  <PresentationFormat>Panorámica</PresentationFormat>
  <Paragraphs>171</Paragraphs>
  <Slides>13</Slides>
  <Notes>13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OROZCO QUIRARTE, JUAN BERNARDO</cp:lastModifiedBy>
  <cp:revision>2</cp:revision>
  <dcterms:created xsi:type="dcterms:W3CDTF">2013-01-27T09:14:16Z</dcterms:created>
  <dcterms:modified xsi:type="dcterms:W3CDTF">2026-10-15T07:51:12Z</dcterms:modified>
  <cp:category/>
</cp:coreProperties>
</file>